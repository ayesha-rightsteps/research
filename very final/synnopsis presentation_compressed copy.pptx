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9144000"/>
  <p:defaultTextStyle>
    <a:defPPr>
      <a:defRPr lang="en-PK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2029"/>
    <p:restoredTop sz="94651"/>
  </p:normalViewPr>
  <p:slideViewPr>
    <p:cSldViewPr snapToGrid="0">
      <p:cViewPr>
        <p:scale>
          <a:sx n="86" d="100"/>
          <a:sy n="86" d="100"/>
        </p:scale>
        <p:origin x="1320" y="8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PK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86CB12D-185D-5344-9B71-AEDA2526EDBC}" type="datetimeFigureOut">
              <a:rPr lang="en-PK" smtClean="0"/>
              <a:t>18/06/2026</a:t>
            </a:fld>
            <a:endParaRPr lang="en-PK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PK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P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P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C6ED561-9D6B-9B49-9281-818B0567734D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15959648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K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C6ED561-9D6B-9B49-9281-818B0567734D}" type="slidenum">
              <a:rPr lang="en-PK" smtClean="0"/>
              <a:t>7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313257663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719342-CB32-1C41-53DE-FB109FAF025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PK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DB8B053-9343-827D-2DEA-FED0289BA7C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P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0142F0-1846-83DD-F7FD-B2004147D1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96C5A0-3693-C54B-9FAC-A877358BA437}" type="datetime1">
              <a:rPr lang="en-US" smtClean="0"/>
              <a:t>6/18/26</a:t>
            </a:fld>
            <a:endParaRPr lang="en-P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481369-C8FE-95AF-641B-4AECF63B00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3BDF77-FE29-1FCD-E8A4-C1AF2117EE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774DBC-A55C-C145-83F3-9DE204FF4A46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30534950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F0F1D1-D396-A99F-34A2-4BCAFC602D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P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2AED5B-D445-9B5D-7E72-099058D25E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P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643C33-5F78-BB90-63FF-14F18A7CEB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2E1B91-89B6-8D4C-8490-D5F6B5F56052}" type="datetime1">
              <a:rPr lang="en-US" smtClean="0"/>
              <a:t>6/18/26</a:t>
            </a:fld>
            <a:endParaRPr lang="en-P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EFCD9C4-8F88-548F-46DC-E7836363DD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E72886-D30E-6CC1-B3DF-3EC0C5C1A5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774DBC-A55C-C145-83F3-9DE204FF4A46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32242046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8445A1-B8A2-5055-7F03-9FCC52AA35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P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A345D9-6A43-7BBD-FA65-476492FAB58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E2899B-B108-BD21-2CE0-7254D9A482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09591E-95C0-A548-88C3-33F1D35DC4DE}" type="datetime1">
              <a:rPr lang="en-US" smtClean="0"/>
              <a:t>6/18/26</a:t>
            </a:fld>
            <a:endParaRPr lang="en-P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892B65-9FD6-DFEF-AF6D-4AB8F188D0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630DDD0-B231-16D7-61B7-436952EE01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774DBC-A55C-C145-83F3-9DE204FF4A46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18807812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26583B-1218-84F1-5732-E5E8FBFB10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P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CB27AF-11BF-335A-C3D5-E121CE90030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PK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F67422D-DBFF-1C1A-E0EC-9A87ED1340F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PK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A8BBF57-B156-E527-27F5-C391D84B7A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60EC26-9751-0843-88EF-4A199F3F43C2}" type="datetime1">
              <a:rPr lang="en-US" smtClean="0"/>
              <a:t>6/18/26</a:t>
            </a:fld>
            <a:endParaRPr lang="en-P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2497E72-F9B0-4530-C0AB-247E41517F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16459EB-3F51-D0CC-EEBD-E1E3951F6B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774DBC-A55C-C145-83F3-9DE204FF4A46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28321475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3E22C3-FE1A-514B-C20A-4A5CCAA906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P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239F501-6DEB-FD9D-01A8-BA6BC484D19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7A5264F-AE8C-81FD-D3D3-D02BAE5557B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PK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7F6EB07-0E5B-DF11-DE38-5B250E71A09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426B87D-FEB2-9D32-F95E-D51EDFA4356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PK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BA9E8FA-4DA3-EC0B-06FE-23A929FC55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EA8CAA-D49E-664D-8113-1C26468E158F}" type="datetime1">
              <a:rPr lang="en-US" smtClean="0"/>
              <a:t>6/18/26</a:t>
            </a:fld>
            <a:endParaRPr lang="en-PK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BC9C562-C8BC-C387-265A-24D86B53B5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3FC9178-70D0-8630-6D7F-A43E7AF0BD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774DBC-A55C-C145-83F3-9DE204FF4A46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4087549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876799-9EC1-6A57-624F-F604FBB01B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PK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A178A77-72A0-B7E1-92C0-FFFEA2E361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B522DD-6FBD-9F44-BF01-AF5E3F5DF70A}" type="datetime1">
              <a:rPr lang="en-US" smtClean="0"/>
              <a:t>6/18/26</a:t>
            </a:fld>
            <a:endParaRPr lang="en-PK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FC65BBA-02AC-C010-4714-5799484238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1F8D9AB-CBAC-ED02-3FD0-79998EF359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774DBC-A55C-C145-83F3-9DE204FF4A46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3601399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E57B96E-1C43-6044-2967-DD941C112A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6D7600-D54A-5D40-8383-4DB9ED3679AA}" type="datetime1">
              <a:rPr lang="en-US" smtClean="0"/>
              <a:t>6/18/26</a:t>
            </a:fld>
            <a:endParaRPr lang="en-PK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F14F0A3-B804-DD0B-DB18-9E8AEB64C9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828B1B4-6BF4-A280-EADA-D4BF44BE06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774DBC-A55C-C145-83F3-9DE204FF4A46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22019787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164176-4ADA-100F-51CB-9D1345BE9F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P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40565D-9ACF-A073-AF07-4F11298E41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PK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3C8B628-3E19-A6AD-8D00-2B8DD64D178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06BAFE3-4583-85AD-18F2-05261663C3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698FA4-DB08-6840-855C-D25334769C49}" type="datetime1">
              <a:rPr lang="en-US" smtClean="0"/>
              <a:t>6/18/26</a:t>
            </a:fld>
            <a:endParaRPr lang="en-P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D50FCE0-23F1-4526-F61B-32F936C666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8818B9A-8B61-6F2B-9F5B-D2D4840114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774DBC-A55C-C145-83F3-9DE204FF4A46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37060315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2E360F-16B1-A056-B36E-D7361784E6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PK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8A0AE8E-B2F9-5654-6C70-6030BB4233A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PK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F7FB390-DBDC-E97C-512E-BBA5C4535F4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4EC8650-724B-99C9-A9F8-D0D3DD492E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63DD5D-47CC-2E49-A08F-FA2872C7F117}" type="datetime1">
              <a:rPr lang="en-US" smtClean="0"/>
              <a:t>6/18/26</a:t>
            </a:fld>
            <a:endParaRPr lang="en-P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DBC19F0-F192-893F-C985-ED850F5D83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C7EE72A-9FBC-29ED-40E2-83B19D24C4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774DBC-A55C-C145-83F3-9DE204FF4A46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28861299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65352E-5072-DEB5-13D2-D7034432A2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PK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8160522-ECC9-96C4-E255-4BEB0F27DF8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P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14297C-806F-3597-ABEA-1345CEFB58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F55842-D269-714D-94B0-3287DD99D394}" type="datetime1">
              <a:rPr lang="en-US" smtClean="0"/>
              <a:t>6/18/26</a:t>
            </a:fld>
            <a:endParaRPr lang="en-P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54B8BD-458F-3AD8-7A19-7D04CA9A02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6DF1660-1E09-D7E0-0EAF-E48456A768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774DBC-A55C-C145-83F3-9DE204FF4A46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29384689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2C68548-0AE1-5D21-F12A-A14B7C3BDCE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PK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B828600-D791-1772-6F82-151217EBCE2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P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9B7C38-F5F5-CBDD-51C7-8BAE84CD93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3801EB-1118-094B-A9D1-22DE93F558A6}" type="datetime1">
              <a:rPr lang="en-US" smtClean="0"/>
              <a:t>6/18/26</a:t>
            </a:fld>
            <a:endParaRPr lang="en-P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116DDD-33F1-91C0-4F7F-F7C4FF7DB9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42F4DC-7AEE-99B8-88C5-6D8B5A249D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774DBC-A55C-C145-83F3-9DE204FF4A46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32954772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BD3570F-BE1C-241F-20EB-2FC83365C6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P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CA22F1E-A722-197E-87F9-3DA540DED60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P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75CC02-0F83-6B99-EC01-84B915AA3A4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15E3F53-39FE-C944-BD4C-26F22CEFD5D3}" type="datetime1">
              <a:rPr lang="en-US" smtClean="0"/>
              <a:t>6/18/26</a:t>
            </a:fld>
            <a:endParaRPr lang="en-P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23390B-8200-B1AA-45F6-1C38B27D222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P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192171-8034-485A-0DB2-0F7C37CCC2B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9774DBC-A55C-C145-83F3-9DE204FF4A46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25334041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PK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2">
            <a:alphaModFix amt="7842"/>
            <a:lum/>
          </a:blip>
          <a:srcRect/>
          <a:stretch>
            <a:fillRect l="-2000" r="-2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BFBB98-8CE3-A478-4339-9AA8AACD660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53928" y="939800"/>
            <a:ext cx="10484143" cy="2349500"/>
          </a:xfrm>
          <a:blipFill dpi="0" rotWithShape="1">
            <a:blip r:embed="rId3">
              <a:alphaModFix amt="0"/>
            </a:blip>
            <a:srcRect/>
            <a:tile tx="0" ty="0" sx="100000" sy="100000" flip="none" algn="tl"/>
          </a:blipFill>
        </p:spPr>
        <p:txBody>
          <a:bodyPr>
            <a:normAutofit/>
          </a:bodyPr>
          <a:lstStyle/>
          <a:p>
            <a:r>
              <a:rPr lang="en-PK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Dynamic Target Assignment and Collision Avoidance for Multi-UAV Coordination in 3D using MARL</a:t>
            </a:r>
            <a:endParaRPr lang="en-PK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6F65ED9-1AD6-19E3-27B1-6EAF9EA8637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3999" y="3733801"/>
            <a:ext cx="9144000" cy="1346200"/>
          </a:xfrm>
        </p:spPr>
        <p:txBody>
          <a:bodyPr>
            <a:normAutofit/>
          </a:bodyPr>
          <a:lstStyle/>
          <a:p>
            <a:r>
              <a:rPr lang="en-PK" dirty="0">
                <a:latin typeface="Times New Roman" panose="02020603050405020304" pitchFamily="18" charset="0"/>
                <a:cs typeface="Times New Roman" panose="02020603050405020304" pitchFamily="18" charset="0"/>
              </a:rPr>
              <a:t>Ayesha Khalil, CIIT/SP25-RCS-009/ATD</a:t>
            </a:r>
            <a:endParaRPr lang="en-PK" b="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PK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Supervisor: Dr. Faisal Rehman</a:t>
            </a:r>
            <a:br>
              <a:rPr lang="en-PK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PK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Co-supervisor: Dr. Ehzaz Mustafa</a:t>
            </a:r>
            <a:endParaRPr lang="en-PK" b="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PK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5E59AE5-26C3-FFE3-DF46-6D73BD7D74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774DBC-A55C-C145-83F3-9DE204FF4A46}" type="slidenum">
              <a:rPr lang="en-PK" smtClean="0"/>
              <a:t>1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87644193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86CC0D-F80E-A57D-6E1C-B5B86EC634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039929"/>
          </a:xfrm>
        </p:spPr>
        <p:txBody>
          <a:bodyPr>
            <a:noAutofit/>
          </a:bodyPr>
          <a:lstStyle/>
          <a:p>
            <a:r>
              <a:rPr lang="en-PK" dirty="0">
                <a:latin typeface="+mn-lt"/>
                <a:cs typeface="Times New Roman" panose="02020603050405020304" pitchFamily="18" charset="0"/>
              </a:rPr>
              <a:t>Introduction:</a:t>
            </a:r>
            <a:r>
              <a:rPr lang="en-PK" sz="2800" dirty="0">
                <a:latin typeface="+mn-lt"/>
                <a:cs typeface="Times New Roman" panose="02020603050405020304" pitchFamily="18" charset="0"/>
              </a:rPr>
              <a:t> </a:t>
            </a:r>
            <a:r>
              <a:rPr lang="en-PK" sz="4000" b="1" dirty="0"/>
              <a:t>Why UAVs?</a:t>
            </a:r>
            <a:endParaRPr lang="en-PK" sz="2800" b="1" dirty="0">
              <a:solidFill>
                <a:schemeClr val="tx2">
                  <a:lumMod val="75000"/>
                  <a:lumOff val="25000"/>
                </a:schemeClr>
              </a:solidFill>
              <a:latin typeface="+mn-lt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5ACC6A-91B0-E69F-EF5C-D30231B950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76322"/>
            <a:ext cx="5462116" cy="3396540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PK" sz="2200" dirty="0"/>
              <a:t>UAVs now used in disaster response, agriculture, inspection</a:t>
            </a:r>
          </a:p>
          <a:p>
            <a:pPr>
              <a:lnSpc>
                <a:spcPct val="100000"/>
              </a:lnSpc>
            </a:pPr>
            <a:r>
              <a:rPr lang="en-PK" sz="2200" dirty="0"/>
              <a:t>Single drone cannot cover complex, large-scale missions</a:t>
            </a:r>
          </a:p>
          <a:p>
            <a:pPr>
              <a:lnSpc>
                <a:spcPct val="100000"/>
              </a:lnSpc>
            </a:pPr>
            <a:r>
              <a:rPr lang="en-PK" sz="2200" dirty="0"/>
              <a:t>Teams of drones are faster, redundant, and more effective</a:t>
            </a:r>
          </a:p>
          <a:p>
            <a:pPr>
              <a:lnSpc>
                <a:spcPct val="100000"/>
              </a:lnSpc>
            </a:pPr>
            <a:r>
              <a:rPr lang="en-PK" sz="2200" dirty="0"/>
              <a:t>Hardware is ready coordination is the unsolved problem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CB3E76F-D6AA-9491-F863-499085562B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0316" y="1976322"/>
            <a:ext cx="5257800" cy="3128936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8FDFE5CA-289B-CA95-C787-4C7032F3B8DF}"/>
              </a:ext>
            </a:extLst>
          </p:cNvPr>
          <p:cNvSpPr txBox="1"/>
          <p:nvPr/>
        </p:nvSpPr>
        <p:spPr>
          <a:xfrm>
            <a:off x="838200" y="1277246"/>
            <a:ext cx="885407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K" sz="2800" b="1" dirty="0">
                <a:solidFill>
                  <a:schemeClr val="tx2">
                    <a:lumMod val="75000"/>
                    <a:lumOff val="25000"/>
                  </a:schemeClr>
                </a:solidFill>
              </a:rPr>
              <a:t>From military tools to critical civilian infrastructure</a:t>
            </a:r>
            <a:endParaRPr lang="en-PK" sz="280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FAAABB3-CD6E-5FF8-1F70-7E7DD6AC51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774DBC-A55C-C145-83F3-9DE204FF4A46}" type="slidenum">
              <a:rPr lang="en-PK" smtClean="0"/>
              <a:t>2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29096081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B7A03C-B6A3-9936-1B48-D661B48A67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90575"/>
          </a:xfrm>
        </p:spPr>
        <p:txBody>
          <a:bodyPr/>
          <a:lstStyle/>
          <a:p>
            <a:r>
              <a:rPr lang="en-PK" dirty="0"/>
              <a:t>Introduction: Multi-UAV Coordination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E57823-C230-C001-40EE-B52215BCF3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22539" y="2219093"/>
            <a:ext cx="5273460" cy="3256156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PK" sz="2200" dirty="0"/>
              <a:t>Classical planners compute one global solution too slow</a:t>
            </a:r>
          </a:p>
          <a:p>
            <a:pPr>
              <a:lnSpc>
                <a:spcPct val="100000"/>
              </a:lnSpc>
            </a:pPr>
            <a:r>
              <a:rPr lang="en-PK" sz="2200" dirty="0"/>
              <a:t>Dynamic environments break pre-planned paths instantly</a:t>
            </a:r>
          </a:p>
          <a:p>
            <a:pPr>
              <a:lnSpc>
                <a:spcPct val="100000"/>
              </a:lnSpc>
            </a:pPr>
            <a:r>
              <a:rPr lang="en-PK" sz="2200" dirty="0"/>
              <a:t>Drones need to adapt in real-time, independently</a:t>
            </a:r>
          </a:p>
          <a:p>
            <a:pPr>
              <a:lnSpc>
                <a:spcPct val="100000"/>
              </a:lnSpc>
            </a:pPr>
            <a:r>
              <a:rPr lang="en-PK" sz="2200" dirty="0"/>
              <a:t>Solution: let drones learn coordination through experience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DE97005-90EB-7547-52BA-4683F2A9EE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5999" y="2219093"/>
            <a:ext cx="5515627" cy="3008525"/>
          </a:xfrm>
          <a:prstGeom prst="rect">
            <a:avLst/>
          </a:prstGeom>
          <a:effectLst>
            <a:outerShdw sx="1000" sy="1000" algn="ctr" rotWithShape="0">
              <a:srgbClr val="000000"/>
            </a:outerShdw>
          </a:effec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A98AA677-A621-32A9-6588-1E2CE9128476}"/>
              </a:ext>
            </a:extLst>
          </p:cNvPr>
          <p:cNvSpPr txBox="1"/>
          <p:nvPr/>
        </p:nvSpPr>
        <p:spPr>
          <a:xfrm>
            <a:off x="838200" y="1268411"/>
            <a:ext cx="105156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K" sz="2800" b="1" dirty="0">
                <a:solidFill>
                  <a:schemeClr val="tx2">
                    <a:lumMod val="75000"/>
                    <a:lumOff val="25000"/>
                  </a:schemeClr>
                </a:solidFill>
              </a:rPr>
              <a:t>Multiple drones, shared airspace, conflicting decisions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CCC6E5-687B-B690-68BC-5BFF30F29C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774DBC-A55C-C145-83F3-9DE204FF4A46}" type="slidenum">
              <a:rPr lang="en-PK" smtClean="0"/>
              <a:t>3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37733596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C6C0AB-636A-9C98-F14D-BF44C31CF0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917575"/>
          </a:xfrm>
        </p:spPr>
        <p:txBody>
          <a:bodyPr/>
          <a:lstStyle/>
          <a:p>
            <a:r>
              <a:rPr lang="en-PK" dirty="0"/>
              <a:t>Introduction: DRL &amp; MARL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178360-8404-27FC-9704-5AC0DCC71C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18263"/>
            <a:ext cx="4686300" cy="3889664"/>
          </a:xfrm>
        </p:spPr>
        <p:txBody>
          <a:bodyPr>
            <a:normAutofit fontScale="77500" lnSpcReduction="20000"/>
          </a:bodyPr>
          <a:lstStyle/>
          <a:p>
            <a:pPr>
              <a:lnSpc>
                <a:spcPct val="120000"/>
              </a:lnSpc>
            </a:pPr>
            <a:r>
              <a:rPr lang="en-PK" b="1" dirty="0"/>
              <a:t>DRL:</a:t>
            </a:r>
            <a:r>
              <a:rPr lang="en-PK" dirty="0"/>
              <a:t> agent receives reward, learns optimal policy</a:t>
            </a:r>
          </a:p>
          <a:p>
            <a:pPr>
              <a:lnSpc>
                <a:spcPct val="120000"/>
              </a:lnSpc>
            </a:pPr>
            <a:r>
              <a:rPr lang="en-PK" b="1" dirty="0"/>
              <a:t>MARL: </a:t>
            </a:r>
            <a:r>
              <a:rPr lang="en-PK" dirty="0"/>
              <a:t>extends DRL to teams of cooperating agents</a:t>
            </a:r>
          </a:p>
          <a:p>
            <a:pPr>
              <a:lnSpc>
                <a:spcPct val="120000"/>
              </a:lnSpc>
            </a:pPr>
            <a:r>
              <a:rPr lang="en-PK" b="1" dirty="0"/>
              <a:t>CTDE Architecture: </a:t>
            </a:r>
            <a:r>
              <a:rPr lang="en-PK" dirty="0"/>
              <a:t>train with shared info, execute independently</a:t>
            </a:r>
          </a:p>
          <a:p>
            <a:pPr>
              <a:lnSpc>
                <a:spcPct val="120000"/>
              </a:lnSpc>
            </a:pPr>
            <a:r>
              <a:rPr lang="en-PK" b="1" dirty="0"/>
              <a:t>MAPPO (Multi-Agent PPO): </a:t>
            </a:r>
            <a:r>
              <a:rPr lang="en-PK" dirty="0"/>
              <a:t>best-performing cooperative MARL algorithm</a:t>
            </a:r>
            <a:br>
              <a:rPr lang="en-PK" dirty="0"/>
            </a:br>
            <a:endParaRPr lang="en-PK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A7F61E2-4A35-BA45-A26D-8E45BA272E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24500" y="1873911"/>
            <a:ext cx="6438900" cy="3512127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6821EB7D-EF8A-91B0-2E53-2461486D3EBB}"/>
              </a:ext>
            </a:extLst>
          </p:cNvPr>
          <p:cNvSpPr txBox="1"/>
          <p:nvPr/>
        </p:nvSpPr>
        <p:spPr>
          <a:xfrm>
            <a:off x="838200" y="1149716"/>
            <a:ext cx="707379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PK" sz="2800" b="1" dirty="0">
                <a:solidFill>
                  <a:schemeClr val="tx2">
                    <a:lumMod val="75000"/>
                    <a:lumOff val="25000"/>
                  </a:schemeClr>
                </a:solidFill>
              </a:rPr>
              <a:t>Learning-based coordination how it works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7210FB7-5317-52AF-3266-985B76FA51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774DBC-A55C-C145-83F3-9DE204FF4A46}" type="slidenum">
              <a:rPr lang="en-PK" smtClean="0"/>
              <a:t>4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11704021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835D18-D43C-B17C-31E3-67B988E823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52475"/>
          </a:xfrm>
        </p:spPr>
        <p:txBody>
          <a:bodyPr/>
          <a:lstStyle/>
          <a:p>
            <a:r>
              <a:rPr lang="en-PK" dirty="0"/>
              <a:t>Motivation: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CD0034-DEBA-419C-D81D-F44F2E6B1A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1839" y="1500554"/>
            <a:ext cx="5676900" cy="4769582"/>
          </a:xfrm>
        </p:spPr>
        <p:txBody>
          <a:bodyPr>
            <a:noAutofit/>
          </a:bodyPr>
          <a:lstStyle/>
          <a:p>
            <a:pPr>
              <a:lnSpc>
                <a:spcPct val="120000"/>
              </a:lnSpc>
            </a:pPr>
            <a:r>
              <a:rPr lang="en-PK" sz="2200" dirty="0"/>
              <a:t>DA-MAPPO achieves </a:t>
            </a:r>
            <a:r>
              <a:rPr lang="en-PK" sz="2200" b="1" dirty="0"/>
              <a:t>90–99% mission success</a:t>
            </a:r>
            <a:r>
              <a:rPr lang="en-PK" sz="2200" dirty="0"/>
              <a:t>, zero collision avoidance</a:t>
            </a:r>
          </a:p>
          <a:p>
            <a:pPr>
              <a:lnSpc>
                <a:spcPct val="120000"/>
              </a:lnSpc>
            </a:pPr>
            <a:r>
              <a:rPr lang="en-PK" sz="2200" dirty="0"/>
              <a:t>IGAT-MARL reduces interaction edges by </a:t>
            </a:r>
            <a:r>
              <a:rPr lang="en-PK" sz="2200" b="1" dirty="0"/>
              <a:t>44%</a:t>
            </a:r>
            <a:r>
              <a:rPr lang="en-PK" sz="2200" dirty="0"/>
              <a:t>, zero target assignment</a:t>
            </a:r>
          </a:p>
          <a:p>
            <a:pPr>
              <a:lnSpc>
                <a:spcPct val="120000"/>
              </a:lnSpc>
            </a:pPr>
            <a:r>
              <a:rPr lang="en-PK" sz="2200" dirty="0"/>
              <a:t>DA-MAPPO ablation: removing assignment information causes success to drop from </a:t>
            </a:r>
            <a:r>
              <a:rPr lang="en-PK" sz="2200" b="1" dirty="0"/>
              <a:t>90% → 0%</a:t>
            </a:r>
            <a:endParaRPr lang="en-PK" sz="2200" dirty="0"/>
          </a:p>
          <a:p>
            <a:r>
              <a:rPr lang="en-PK" sz="2200" dirty="0"/>
              <a:t>Both use fixed, hand-tuned reward weights never adapt</a:t>
            </a:r>
          </a:p>
          <a:p>
            <a:r>
              <a:rPr lang="en-PK" sz="2200" dirty="0"/>
              <a:t>No framework learns when to prioritize which objective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8330DD8-0111-A7CF-63CE-36183F171A95}"/>
              </a:ext>
            </a:extLst>
          </p:cNvPr>
          <p:cNvSpPr txBox="1"/>
          <p:nvPr/>
        </p:nvSpPr>
        <p:spPr>
          <a:xfrm>
            <a:off x="924763" y="1038889"/>
            <a:ext cx="466557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solidFill>
                  <a:schemeClr val="tx2">
                    <a:lumMod val="75000"/>
                    <a:lumOff val="25000"/>
                  </a:schemeClr>
                </a:solidFill>
              </a:rPr>
              <a:t>T</a:t>
            </a:r>
            <a:r>
              <a:rPr lang="en-PK" sz="2400" b="1" dirty="0">
                <a:solidFill>
                  <a:schemeClr val="tx2">
                    <a:lumMod val="75000"/>
                    <a:lumOff val="25000"/>
                  </a:schemeClr>
                </a:solidFill>
              </a:rPr>
              <a:t>wo halves of the same problem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61DCB21-B257-56EE-B99E-DB3668FED29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260" t="3616" r="3692" b="27343"/>
          <a:stretch>
            <a:fillRect/>
          </a:stretch>
        </p:blipFill>
        <p:spPr>
          <a:xfrm>
            <a:off x="6218216" y="1797208"/>
            <a:ext cx="5554036" cy="3263584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29EB5BE-12FC-7F65-D11F-E712B1984E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774DBC-A55C-C145-83F3-9DE204FF4A46}" type="slidenum">
              <a:rPr lang="en-PK" smtClean="0"/>
              <a:t>5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377432581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B895BB-A565-9090-9397-8FA16C7A64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2898" y="254001"/>
            <a:ext cx="11480802" cy="647699"/>
          </a:xfrm>
        </p:spPr>
        <p:txBody>
          <a:bodyPr>
            <a:normAutofit/>
          </a:bodyPr>
          <a:lstStyle/>
          <a:p>
            <a:r>
              <a:rPr lang="en-PK" sz="3600" dirty="0"/>
              <a:t>Related Work: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A16B8485-FED3-C57C-6341-68CCE87E679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020269268"/>
              </p:ext>
            </p:extLst>
          </p:nvPr>
        </p:nvGraphicFramePr>
        <p:xfrm>
          <a:off x="368301" y="1079500"/>
          <a:ext cx="11480802" cy="552450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1752600">
                  <a:extLst>
                    <a:ext uri="{9D8B030D-6E8A-4147-A177-3AD203B41FA5}">
                      <a16:colId xmlns:a16="http://schemas.microsoft.com/office/drawing/2014/main" val="2368097235"/>
                    </a:ext>
                  </a:extLst>
                </a:gridCol>
                <a:gridCol w="2074334">
                  <a:extLst>
                    <a:ext uri="{9D8B030D-6E8A-4147-A177-3AD203B41FA5}">
                      <a16:colId xmlns:a16="http://schemas.microsoft.com/office/drawing/2014/main" val="293452194"/>
                    </a:ext>
                  </a:extLst>
                </a:gridCol>
                <a:gridCol w="1913467">
                  <a:extLst>
                    <a:ext uri="{9D8B030D-6E8A-4147-A177-3AD203B41FA5}">
                      <a16:colId xmlns:a16="http://schemas.microsoft.com/office/drawing/2014/main" val="3981340899"/>
                    </a:ext>
                  </a:extLst>
                </a:gridCol>
                <a:gridCol w="1913467">
                  <a:extLst>
                    <a:ext uri="{9D8B030D-6E8A-4147-A177-3AD203B41FA5}">
                      <a16:colId xmlns:a16="http://schemas.microsoft.com/office/drawing/2014/main" val="3517942913"/>
                    </a:ext>
                  </a:extLst>
                </a:gridCol>
                <a:gridCol w="1913467">
                  <a:extLst>
                    <a:ext uri="{9D8B030D-6E8A-4147-A177-3AD203B41FA5}">
                      <a16:colId xmlns:a16="http://schemas.microsoft.com/office/drawing/2014/main" val="2473821062"/>
                    </a:ext>
                  </a:extLst>
                </a:gridCol>
                <a:gridCol w="1913467">
                  <a:extLst>
                    <a:ext uri="{9D8B030D-6E8A-4147-A177-3AD203B41FA5}">
                      <a16:colId xmlns:a16="http://schemas.microsoft.com/office/drawing/2014/main" val="1093910524"/>
                    </a:ext>
                  </a:extLst>
                </a:gridCol>
              </a:tblGrid>
              <a:tr h="370014">
                <a:tc>
                  <a:txBody>
                    <a:bodyPr/>
                    <a:lstStyle/>
                    <a:p>
                      <a:pPr algn="ctr"/>
                      <a:r>
                        <a:rPr lang="en-PK" sz="1600" dirty="0"/>
                        <a:t>Authors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K" sz="1600" dirty="0"/>
                        <a:t>Contribution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K" sz="1600" dirty="0"/>
                        <a:t>Methodology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K" sz="1600" dirty="0"/>
                        <a:t>Dataset/Sample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K" sz="1600" dirty="0"/>
                        <a:t>Strength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K" sz="1600" dirty="0"/>
                        <a:t>Limitation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66208904"/>
                  </a:ext>
                </a:extLst>
              </a:tr>
              <a:tr h="1202547">
                <a:tc>
                  <a:txBody>
                    <a:bodyPr/>
                    <a:lstStyle/>
                    <a:p>
                      <a:r>
                        <a:rPr lang="en-PK" sz="16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Govinda, Brik &amp; Harous (2025)</a:t>
                      </a:r>
                      <a:endParaRPr lang="en-PK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PK" sz="16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Systematic review of DRL for UAV, robotics, transportation</a:t>
                      </a:r>
                      <a:endParaRPr lang="en-PK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PK" sz="16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Literature survey across published DRL studies</a:t>
                      </a:r>
                      <a:endParaRPr lang="en-PK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PK" sz="16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Published papers (no primary data)</a:t>
                      </a:r>
                      <a:endParaRPr lang="en-PK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PK" sz="16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Identifies lack of unified frameworks as the key open gap</a:t>
                      </a:r>
                      <a:endParaRPr lang="en-PK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PK" sz="16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Survey only — no new algorithm proposed</a:t>
                      </a:r>
                      <a:endParaRPr lang="en-PK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55598424"/>
                  </a:ext>
                </a:extLst>
              </a:tr>
              <a:tr h="1470304">
                <a:tc>
                  <a:txBody>
                    <a:bodyPr/>
                    <a:lstStyle/>
                    <a:p>
                      <a:r>
                        <a:rPr lang="en-PK" sz="16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Tang, Liang &amp; Li (2024)</a:t>
                      </a:r>
                      <a:endParaRPr lang="en-PK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PK" sz="16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Single UAV navigation in dynamic obstacle environments</a:t>
                      </a:r>
                      <a:endParaRPr lang="en-PK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PK" sz="16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Improved D3QN + Prioritized Experience Replay + heuristic action bias</a:t>
                      </a:r>
                      <a:endParaRPr lang="en-PK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PK" sz="16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Custom 2D sim, single UAV, moving obstacles</a:t>
                      </a:r>
                      <a:endParaRPr lang="en-PK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PK" sz="1600" b="1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95% success rate</a:t>
                      </a:r>
                      <a:r>
                        <a:rPr lang="en-PK" sz="16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outperforms A* and RRT</a:t>
                      </a:r>
                      <a:endParaRPr lang="en-PK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PK" sz="16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Single drone only, 2D, discrete actions</a:t>
                      </a:r>
                      <a:endParaRPr lang="en-PK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31270011"/>
                  </a:ext>
                </a:extLst>
              </a:tr>
              <a:tr h="1313907">
                <a:tc>
                  <a:txBody>
                    <a:bodyPr/>
                    <a:lstStyle/>
                    <a:p>
                      <a:r>
                        <a:rPr lang="en-PK" sz="16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Kong, Zhou, Li &amp; Wang (2024)</a:t>
                      </a:r>
                      <a:endParaRPr lang="en-PK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PK" sz="16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Joint target assignment + path planning for multi-UAV</a:t>
                      </a:r>
                      <a:endParaRPr lang="en-PK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PK" sz="16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TANet-TD3 + Hungarian algorithm supervision + POMDP</a:t>
                      </a:r>
                      <a:endParaRPr lang="en-PK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PK" sz="16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Custom 2D sim, 5 UAVs, moving targets</a:t>
                      </a:r>
                      <a:endParaRPr lang="en-PK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PK" sz="16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First paper combining assignment + path planning</a:t>
                      </a:r>
                      <a:endParaRPr lang="en-PK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PK" sz="1600" b="1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2D only, no inter-drone collision avoidance</a:t>
                      </a:r>
                      <a:endParaRPr lang="en-PK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13995536"/>
                  </a:ext>
                </a:extLst>
              </a:tr>
              <a:tr h="1167728">
                <a:tc>
                  <a:txBody>
                    <a:bodyPr/>
                    <a:lstStyle/>
                    <a:p>
                      <a:r>
                        <a:rPr lang="en-PK" sz="16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Jarray, Zaghbani &amp; Bouallègue (2025)</a:t>
                      </a:r>
                      <a:endParaRPr lang="en-PK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PK" sz="16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UAV path planning in large-scale 3D environments</a:t>
                      </a:r>
                      <a:endParaRPr lang="en-PK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PK" sz="16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DQN + 3D CNN + dynamic reward formula</a:t>
                      </a:r>
                      <a:endParaRPr lang="en-PK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PK" sz="16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Custom 3D sim, 25 km² area, 4 obstacle densities</a:t>
                      </a:r>
                      <a:endParaRPr lang="en-PK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PK" sz="1600" b="1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98% success in 3D</a:t>
                      </a:r>
                      <a:r>
                        <a:rPr lang="en-PK" sz="16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beats PSO and GWO</a:t>
                      </a:r>
                      <a:endParaRPr lang="en-PK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PK" sz="16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Single drone, static obstacles only</a:t>
                      </a:r>
                      <a:endParaRPr lang="en-PK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3168533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651BACD1-B299-E590-BF12-BE91F992A98F}"/>
              </a:ext>
            </a:extLst>
          </p:cNvPr>
          <p:cNvSpPr txBox="1"/>
          <p:nvPr/>
        </p:nvSpPr>
        <p:spPr>
          <a:xfrm>
            <a:off x="101600" y="1346200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PK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58EA342-E329-33AA-B4D9-607A3D37CA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774DBC-A55C-C145-83F3-9DE204FF4A46}" type="slidenum">
              <a:rPr lang="en-PK" smtClean="0"/>
              <a:t>6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408676685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D9FFFE-7A80-7C4B-769A-DDBC8D5ECE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7996" y="203200"/>
            <a:ext cx="11506204" cy="495300"/>
          </a:xfrm>
        </p:spPr>
        <p:txBody>
          <a:bodyPr>
            <a:noAutofit/>
          </a:bodyPr>
          <a:lstStyle/>
          <a:p>
            <a:r>
              <a:rPr lang="en-PK" sz="3600" dirty="0"/>
              <a:t>Related Work Cont…</a:t>
            </a:r>
          </a:p>
        </p:txBody>
      </p:sp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9E10DE2E-8AFD-8F57-7C25-CC31B72F2F8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90924702"/>
              </p:ext>
            </p:extLst>
          </p:nvPr>
        </p:nvGraphicFramePr>
        <p:xfrm>
          <a:off x="507996" y="812801"/>
          <a:ext cx="11366503" cy="5647282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1657106">
                  <a:extLst>
                    <a:ext uri="{9D8B030D-6E8A-4147-A177-3AD203B41FA5}">
                      <a16:colId xmlns:a16="http://schemas.microsoft.com/office/drawing/2014/main" val="1722732969"/>
                    </a:ext>
                  </a:extLst>
                </a:gridCol>
                <a:gridCol w="2131729">
                  <a:extLst>
                    <a:ext uri="{9D8B030D-6E8A-4147-A177-3AD203B41FA5}">
                      <a16:colId xmlns:a16="http://schemas.microsoft.com/office/drawing/2014/main" val="3705943741"/>
                    </a:ext>
                  </a:extLst>
                </a:gridCol>
                <a:gridCol w="1894417">
                  <a:extLst>
                    <a:ext uri="{9D8B030D-6E8A-4147-A177-3AD203B41FA5}">
                      <a16:colId xmlns:a16="http://schemas.microsoft.com/office/drawing/2014/main" val="84652238"/>
                    </a:ext>
                  </a:extLst>
                </a:gridCol>
                <a:gridCol w="1894417">
                  <a:extLst>
                    <a:ext uri="{9D8B030D-6E8A-4147-A177-3AD203B41FA5}">
                      <a16:colId xmlns:a16="http://schemas.microsoft.com/office/drawing/2014/main" val="3105983218"/>
                    </a:ext>
                  </a:extLst>
                </a:gridCol>
                <a:gridCol w="1894417">
                  <a:extLst>
                    <a:ext uri="{9D8B030D-6E8A-4147-A177-3AD203B41FA5}">
                      <a16:colId xmlns:a16="http://schemas.microsoft.com/office/drawing/2014/main" val="2047078586"/>
                    </a:ext>
                  </a:extLst>
                </a:gridCol>
                <a:gridCol w="1894417">
                  <a:extLst>
                    <a:ext uri="{9D8B030D-6E8A-4147-A177-3AD203B41FA5}">
                      <a16:colId xmlns:a16="http://schemas.microsoft.com/office/drawing/2014/main" val="3745472499"/>
                    </a:ext>
                  </a:extLst>
                </a:gridCol>
              </a:tblGrid>
              <a:tr h="314096">
                <a:tc>
                  <a:txBody>
                    <a:bodyPr/>
                    <a:lstStyle/>
                    <a:p>
                      <a:pPr algn="ctr"/>
                      <a:r>
                        <a:rPr lang="en-PK" sz="1600" dirty="0"/>
                        <a:t>Authors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K" sz="1600" dirty="0"/>
                        <a:t>Contribution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K" sz="1600" dirty="0"/>
                        <a:t>Methodology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K" sz="1600" dirty="0"/>
                        <a:t>Dataset/Sample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K" sz="1600" dirty="0"/>
                        <a:t>Strength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K" sz="1600" dirty="0"/>
                        <a:t>Limitation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79634782"/>
                  </a:ext>
                </a:extLst>
              </a:tr>
              <a:tr h="1382576">
                <a:tc>
                  <a:txBody>
                    <a:bodyPr/>
                    <a:lstStyle/>
                    <a:p>
                      <a:r>
                        <a:rPr lang="en-PK" sz="1600" b="1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Rezaee et al. (2026) — IGAT-MARL</a:t>
                      </a:r>
                      <a:endParaRPr lang="en-PK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PK" sz="16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Collision avoidance using sparse conflict-aware interaction graph</a:t>
                      </a:r>
                      <a:endParaRPr lang="en-PK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PK" sz="16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Conflict-driven sparse graph + Improved GAT + curriculum</a:t>
                      </a:r>
                      <a:endParaRPr lang="en-PK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PK" sz="16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BlueSky sim, 3–10 fixed-wing UAVs, conflict-guaranteed episodes</a:t>
                      </a:r>
                      <a:endParaRPr lang="en-PK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PK" sz="1600" b="1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44% fewer edges, 17% higher reward</a:t>
                      </a:r>
                      <a:r>
                        <a:rPr lang="en-PK" sz="16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10% fewer dangerous events</a:t>
                      </a:r>
                      <a:endParaRPr lang="en-PK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PK" sz="1600" b="1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No target assignment — drones have no goals</a:t>
                      </a:r>
                      <a:endParaRPr lang="en-PK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01047231"/>
                  </a:ext>
                </a:extLst>
              </a:tr>
              <a:tr h="1382576">
                <a:tc>
                  <a:txBody>
                    <a:bodyPr/>
                    <a:lstStyle/>
                    <a:p>
                      <a:r>
                        <a:rPr lang="en-PK" sz="1600" b="1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Sheng et al. (2026) — DA-MAPPO</a:t>
                      </a:r>
                      <a:endParaRPr lang="en-PK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PK" sz="16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Real-time dynamic target assignment embedded in drone observation</a:t>
                      </a:r>
                      <a:endParaRPr lang="en-PK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PK" sz="16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Hungarian algorithm at every step + MAPPO + 4-tier reward + curriculum</a:t>
                      </a:r>
                      <a:endParaRPr lang="en-PK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PK" sz="16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Custom sim, 3 UAVs, 3 dynamic targets, 30–50 static obstacles</a:t>
                      </a:r>
                      <a:endParaRPr lang="en-PK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PK" sz="1600" b="1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90–99% mission success</a:t>
                      </a:r>
                      <a:r>
                        <a:rPr lang="en-PK" sz="16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robust to 50% packet loss and 6-step delay</a:t>
                      </a:r>
                      <a:endParaRPr lang="en-PK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PK" sz="1600" b="1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2D only, 3 drones only, no inter-drone collision avoidance</a:t>
                      </a:r>
                      <a:endParaRPr lang="en-PK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91060957"/>
                  </a:ext>
                </a:extLst>
              </a:tr>
              <a:tr h="1164274">
                <a:tc>
                  <a:txBody>
                    <a:bodyPr/>
                    <a:lstStyle/>
                    <a:p>
                      <a:r>
                        <a:rPr lang="en-PK" sz="16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Zhang et al. (2025)</a:t>
                      </a:r>
                      <a:endParaRPr lang="en-PK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PK" sz="16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Large-scale UAV swarm navigation with mean-field RL</a:t>
                      </a:r>
                      <a:endParaRPr lang="en-PK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PK" sz="16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Mean-field DDPG + multi-head attention + CTDE</a:t>
                      </a:r>
                      <a:endParaRPr lang="en-PK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PK" sz="16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Custom 2D sim, 20–120 UAVs, static obstacles</a:t>
                      </a:r>
                      <a:endParaRPr lang="en-PK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PK" sz="1600" b="1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&gt;90% success at 120 drones</a:t>
                      </a:r>
                      <a:r>
                        <a:rPr lang="en-PK" sz="16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where baselines collapse</a:t>
                      </a:r>
                      <a:endParaRPr lang="en-PK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PK" sz="16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2D only, static obstacles, homogeneous drones</a:t>
                      </a:r>
                      <a:endParaRPr lang="en-PK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66200764"/>
                  </a:ext>
                </a:extLst>
              </a:tr>
              <a:tr h="1382576">
                <a:tc>
                  <a:txBody>
                    <a:bodyPr/>
                    <a:lstStyle/>
                    <a:p>
                      <a:r>
                        <a:rPr lang="en-PK" sz="16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Xu et al. (2026) — </a:t>
                      </a:r>
                      <a:r>
                        <a:rPr lang="en-PK" sz="1600" b="0" i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MRLMN</a:t>
                      </a:r>
                      <a:endParaRPr lang="en-PK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PK" sz="16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UAV multi-hop networking with LLM-guided MARL</a:t>
                      </a:r>
                      <a:endParaRPr lang="en-PK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PK" sz="16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GPT-4o knowledge distillation + IPPO + role-based reward decomposition</a:t>
                      </a:r>
                      <a:endParaRPr lang="en-PK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PK" sz="16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Custom sim, 12–24 UAVs, 150 ground users</a:t>
                      </a:r>
                      <a:endParaRPr lang="en-PK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PK" sz="1600" b="1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52% higher data rate</a:t>
                      </a:r>
                      <a:r>
                        <a:rPr lang="en-PK" sz="16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27% more user coverage</a:t>
                      </a:r>
                      <a:endParaRPr lang="en-PK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PK" sz="16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2D only, GPT-4o dependency, no energy modeling</a:t>
                      </a:r>
                      <a:endParaRPr lang="en-PK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86443372"/>
                  </a:ext>
                </a:extLst>
              </a:tr>
            </a:tbl>
          </a:graphicData>
        </a:graphic>
      </p:graphicFrame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DF3E902-5A9E-C7A1-B6AB-DE62DD8338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774DBC-A55C-C145-83F3-9DE204FF4A46}" type="slidenum">
              <a:rPr lang="en-PK" smtClean="0"/>
              <a:t>7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136351351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3BAB51-FB50-F65F-D968-A82BB4BFE7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1500" y="484310"/>
            <a:ext cx="10515600" cy="676275"/>
          </a:xfrm>
        </p:spPr>
        <p:txBody>
          <a:bodyPr>
            <a:normAutofit/>
          </a:bodyPr>
          <a:lstStyle/>
          <a:p>
            <a:r>
              <a:rPr lang="en-PK" sz="4000" dirty="0"/>
              <a:t>Gap in existing work: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C24440-9D97-2A46-9EC3-E7ACE72628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1500" y="1476336"/>
            <a:ext cx="5422900" cy="4221079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PK" sz="2200" dirty="0"/>
              <a:t>Assignment and avoidance always studied in isolation</a:t>
            </a:r>
          </a:p>
          <a:p>
            <a:pPr>
              <a:lnSpc>
                <a:spcPct val="100000"/>
              </a:lnSpc>
            </a:pPr>
            <a:r>
              <a:rPr lang="en-PK" sz="2200" dirty="0"/>
              <a:t>No single learned policy handles both simultaneously</a:t>
            </a:r>
          </a:p>
          <a:p>
            <a:pPr>
              <a:lnSpc>
                <a:spcPct val="100000"/>
              </a:lnSpc>
            </a:pPr>
            <a:r>
              <a:rPr lang="en-PK" sz="2200" dirty="0"/>
              <a:t>All frameworks use fixed coefficients set before training</a:t>
            </a:r>
          </a:p>
          <a:p>
            <a:pPr>
              <a:lnSpc>
                <a:spcPct val="100000"/>
              </a:lnSpc>
            </a:pPr>
            <a:r>
              <a:rPr lang="en-PK" sz="2200" dirty="0"/>
              <a:t>Assignment weight and avoidance weight never change mid-mission</a:t>
            </a:r>
          </a:p>
          <a:p>
            <a:pPr>
              <a:lnSpc>
                <a:spcPct val="100000"/>
              </a:lnSpc>
            </a:pPr>
            <a:r>
              <a:rPr lang="en-PK" sz="2200" dirty="0"/>
              <a:t>No mechanism exists to learn priority  this is the gap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556EB49-7830-149C-14E1-AB4969269D9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2969"/>
          <a:stretch>
            <a:fillRect/>
          </a:stretch>
        </p:blipFill>
        <p:spPr>
          <a:xfrm>
            <a:off x="6096000" y="1809210"/>
            <a:ext cx="5573217" cy="3239580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CF18E06-6E36-72DA-65A0-15B3A6DA9E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774DBC-A55C-C145-83F3-9DE204FF4A46}" type="slidenum">
              <a:rPr lang="en-PK" smtClean="0"/>
              <a:t>8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226598571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7000"/>
            <a:lum/>
          </a:blip>
          <a:srcRect/>
          <a:tile tx="-2413000" ty="-381000" sx="9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D0949E-70C5-8F40-FA84-D6C01613ED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9437" y="1040914"/>
            <a:ext cx="11513126" cy="929286"/>
          </a:xfrm>
        </p:spPr>
        <p:txBody>
          <a:bodyPr>
            <a:normAutofit/>
          </a:bodyPr>
          <a:lstStyle/>
          <a:p>
            <a:pPr algn="ctr"/>
            <a:r>
              <a:rPr lang="en-PK" sz="4800" dirty="0"/>
              <a:t>Problem Statement: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7F8501-E557-FAC7-B745-2C4EFF88AE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92134" y="2231704"/>
            <a:ext cx="10407732" cy="3023832"/>
          </a:xfrm>
        </p:spPr>
        <p:txBody>
          <a:bodyPr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000" dirty="0"/>
              <a:t>In multi-UAV cooperative missions, task allocation and collision avoidance are interdependent, a UAV's path to its assigned target directly affects its proximity to other UAVs, and any safety-driven course correction changes whether that target remains reachable. This interdependence means a single avoidance maneuver can leave a critical target uncovered, trigger reassignment conflicts across the swarm and create new collision risks simultaneously. Despite being the two most studied problems in multi-UAV coordination, task allocation and collision avoidance have never been addressed together within a single learned policy.</a:t>
            </a:r>
            <a:endParaRPr lang="en-PK" sz="20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2543C81-93DC-AFEC-DC5B-09E32F0CD6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774DBC-A55C-C145-83F3-9DE204FF4A46}" type="slidenum">
              <a:rPr lang="en-PK" smtClean="0"/>
              <a:t>9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202401534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C87FFD-AAC2-A7BE-1B49-657B92D479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4658" y="759700"/>
            <a:ext cx="10515600" cy="573026"/>
          </a:xfrm>
        </p:spPr>
        <p:txBody>
          <a:bodyPr>
            <a:normAutofit fontScale="90000"/>
          </a:bodyPr>
          <a:lstStyle/>
          <a:p>
            <a:r>
              <a:rPr lang="en-PK" sz="4000" dirty="0"/>
              <a:t>Research Objective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7EBA45-1327-7AB0-2D7B-D25F695BC5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4658" y="1830017"/>
            <a:ext cx="5587188" cy="3197965"/>
          </a:xfrm>
        </p:spPr>
        <p:txBody>
          <a:bodyPr>
            <a:normAutofit/>
          </a:bodyPr>
          <a:lstStyle/>
          <a:p>
            <a:r>
              <a:rPr lang="en-PK" sz="2200" dirty="0"/>
              <a:t>Design the Priority Arbitration Head (PAH) jointly trained with MAPPO</a:t>
            </a:r>
          </a:p>
          <a:p>
            <a:r>
              <a:rPr lang="en-PK" sz="2200" dirty="0"/>
              <a:t>Scale testing: 3 → 5 → 8 drones, measure performance drop</a:t>
            </a:r>
          </a:p>
          <a:p>
            <a:r>
              <a:rPr lang="en-PK" sz="2200" dirty="0"/>
              <a:t>Ablation: learned α vs fixed α at 0.3, 0.5, 0.7</a:t>
            </a:r>
          </a:p>
          <a:p>
            <a:r>
              <a:rPr lang="en-PK" sz="2200" dirty="0"/>
              <a:t>Find failure boundary: swarm size, density, speed limits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E32C2E7-66C9-A3AD-65AC-DA8F9CA136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57920" y="1830017"/>
            <a:ext cx="4642338" cy="2532184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B01A0CF-4DC0-7497-74C5-4195BA64ED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774DBC-A55C-C145-83F3-9DE204FF4A46}" type="slidenum">
              <a:rPr lang="en-PK" smtClean="0"/>
              <a:t>10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386367446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41AF4A-C5EE-8090-9029-F5AF6CD6B4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7541" y="526005"/>
            <a:ext cx="6829721" cy="565293"/>
          </a:xfrm>
        </p:spPr>
        <p:txBody>
          <a:bodyPr>
            <a:normAutofit fontScale="90000"/>
          </a:bodyPr>
          <a:lstStyle/>
          <a:p>
            <a:r>
              <a:rPr lang="en-PK" sz="4000" dirty="0"/>
              <a:t>Proposed Methodology: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ECD119F-90EF-D2B2-A497-A3DD53A3AF8F}"/>
              </a:ext>
            </a:extLst>
          </p:cNvPr>
          <p:cNvSpPr>
            <a:spLocks noGrp="1"/>
          </p:cNvSpPr>
          <p:nvPr>
            <p:ph idx="1"/>
          </p:nvPr>
        </p:nvSpPr>
        <p:spPr>
          <a:xfrm rot="5400000">
            <a:off x="11696826" y="30830"/>
            <a:ext cx="523259" cy="467090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PK" dirty="0">
                <a:solidFill>
                  <a:schemeClr val="bg1"/>
                </a:solidFill>
              </a:rPr>
              <a:t>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B98A8D4-07D1-7EFC-B1F7-3325B8A53E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29508" y="1213337"/>
            <a:ext cx="9120553" cy="4974846"/>
          </a:xfrm>
          <a:prstGeom prst="rect">
            <a:avLst/>
          </a:prstGeo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8A75609-632E-A087-7B8B-67257A9FD7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774DBC-A55C-C145-83F3-9DE204FF4A46}" type="slidenum">
              <a:rPr lang="en-PK" smtClean="0"/>
              <a:t>11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189272566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0A5CC1-2530-D607-F829-90B6801E4D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8190" y="305459"/>
            <a:ext cx="11476510" cy="917699"/>
          </a:xfrm>
        </p:spPr>
        <p:txBody>
          <a:bodyPr>
            <a:normAutofit/>
          </a:bodyPr>
          <a:lstStyle/>
          <a:p>
            <a:r>
              <a:rPr lang="en-PK" sz="3600" dirty="0"/>
              <a:t>Training Strategy: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356E708A-8383-3A00-79F9-02DA4DA99AF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296900285"/>
              </p:ext>
            </p:extLst>
          </p:nvPr>
        </p:nvGraphicFramePr>
        <p:xfrm>
          <a:off x="458190" y="1935679"/>
          <a:ext cx="5986455" cy="2845971"/>
        </p:xfrm>
        <a:graphic>
          <a:graphicData uri="http://schemas.openxmlformats.org/drawingml/2006/table">
            <a:tbl>
              <a:tblPr>
                <a:tableStyleId>{D7AC3CCA-C797-4891-BE02-D94E43425B78}</a:tableStyleId>
              </a:tblPr>
              <a:tblGrid>
                <a:gridCol w="770576">
                  <a:extLst>
                    <a:ext uri="{9D8B030D-6E8A-4147-A177-3AD203B41FA5}">
                      <a16:colId xmlns:a16="http://schemas.microsoft.com/office/drawing/2014/main" val="1615018604"/>
                    </a:ext>
                  </a:extLst>
                </a:gridCol>
                <a:gridCol w="932470">
                  <a:extLst>
                    <a:ext uri="{9D8B030D-6E8A-4147-A177-3AD203B41FA5}">
                      <a16:colId xmlns:a16="http://schemas.microsoft.com/office/drawing/2014/main" val="4118362553"/>
                    </a:ext>
                  </a:extLst>
                </a:gridCol>
                <a:gridCol w="1235911">
                  <a:extLst>
                    <a:ext uri="{9D8B030D-6E8A-4147-A177-3AD203B41FA5}">
                      <a16:colId xmlns:a16="http://schemas.microsoft.com/office/drawing/2014/main" val="3726695516"/>
                    </a:ext>
                  </a:extLst>
                </a:gridCol>
                <a:gridCol w="3047498">
                  <a:extLst>
                    <a:ext uri="{9D8B030D-6E8A-4147-A177-3AD203B41FA5}">
                      <a16:colId xmlns:a16="http://schemas.microsoft.com/office/drawing/2014/main" val="3791880373"/>
                    </a:ext>
                  </a:extLst>
                </a:gridCol>
              </a:tblGrid>
              <a:tr h="44715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PK" sz="1600" dirty="0">
                          <a:effectLst/>
                        </a:rPr>
                        <a:t>Stage</a:t>
                      </a:r>
                    </a:p>
                  </a:txBody>
                  <a:tcPr marL="95250" marR="95250" marT="47625" marB="47625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PK" sz="1600">
                          <a:effectLst/>
                        </a:rPr>
                        <a:t>Drones</a:t>
                      </a:r>
                    </a:p>
                  </a:txBody>
                  <a:tcPr marL="95250" marR="95250" marT="47625" marB="47625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PK" sz="1600">
                          <a:effectLst/>
                        </a:rPr>
                        <a:t>Obstacles</a:t>
                      </a:r>
                    </a:p>
                  </a:txBody>
                  <a:tcPr marL="95250" marR="95250" marT="47625" marB="47625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PK" sz="1600" dirty="0">
                          <a:effectLst/>
                        </a:rPr>
                        <a:t>Goal</a:t>
                      </a:r>
                    </a:p>
                  </a:txBody>
                  <a:tcPr marL="95250" marR="95250" marT="47625" marB="47625" anchor="ctr"/>
                </a:tc>
                <a:extLst>
                  <a:ext uri="{0D108BD9-81ED-4DB2-BD59-A6C34878D82A}">
                    <a16:rowId xmlns:a16="http://schemas.microsoft.com/office/drawing/2014/main" val="1849304719"/>
                  </a:ext>
                </a:extLst>
              </a:tr>
              <a:tr h="60628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PK" sz="1600">
                          <a:effectLst/>
                        </a:rPr>
                        <a:t>1</a:t>
                      </a:r>
                    </a:p>
                  </a:txBody>
                  <a:tcPr marL="95250" marR="95250" marT="47625" marB="4762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PK" sz="1600">
                          <a:effectLst/>
                        </a:rPr>
                        <a:t>3</a:t>
                      </a:r>
                    </a:p>
                  </a:txBody>
                  <a:tcPr marL="95250" marR="95250" marT="47625" marB="4762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PK" sz="1600" dirty="0">
                          <a:effectLst/>
                        </a:rPr>
                        <a:t>Low</a:t>
                      </a:r>
                    </a:p>
                  </a:txBody>
                  <a:tcPr marL="95250" marR="95250" marT="47625" marB="4762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PK" sz="1600" dirty="0">
                          <a:effectLst/>
                        </a:rPr>
                        <a:t>Replicate DA-MAPPO baseline in 2D</a:t>
                      </a:r>
                    </a:p>
                  </a:txBody>
                  <a:tcPr marL="95250" marR="95250" marT="47625" marB="47625" anchor="ctr"/>
                </a:tc>
                <a:extLst>
                  <a:ext uri="{0D108BD9-81ED-4DB2-BD59-A6C34878D82A}">
                    <a16:rowId xmlns:a16="http://schemas.microsoft.com/office/drawing/2014/main" val="60394038"/>
                  </a:ext>
                </a:extLst>
              </a:tr>
              <a:tr h="60628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PK" sz="1600">
                          <a:effectLst/>
                        </a:rPr>
                        <a:t>2</a:t>
                      </a:r>
                    </a:p>
                  </a:txBody>
                  <a:tcPr marL="95250" marR="95250" marT="47625" marB="4762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PK" sz="1600" dirty="0">
                          <a:effectLst/>
                        </a:rPr>
                        <a:t>5</a:t>
                      </a:r>
                    </a:p>
                  </a:txBody>
                  <a:tcPr marL="95250" marR="95250" marT="47625" marB="4762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PK" sz="1600">
                          <a:effectLst/>
                        </a:rPr>
                        <a:t>Medium</a:t>
                      </a:r>
                    </a:p>
                  </a:txBody>
                  <a:tcPr marL="95250" marR="95250" marT="47625" marB="4762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PK" sz="1600" dirty="0">
                          <a:effectLst/>
                        </a:rPr>
                        <a:t>Assignment + avoidance together</a:t>
                      </a:r>
                    </a:p>
                  </a:txBody>
                  <a:tcPr marL="95250" marR="95250" marT="47625" marB="47625" anchor="ctr"/>
                </a:tc>
                <a:extLst>
                  <a:ext uri="{0D108BD9-81ED-4DB2-BD59-A6C34878D82A}">
                    <a16:rowId xmlns:a16="http://schemas.microsoft.com/office/drawing/2014/main" val="4012176745"/>
                  </a:ext>
                </a:extLst>
              </a:tr>
              <a:tr h="59173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PK" sz="1600">
                          <a:effectLst/>
                        </a:rPr>
                        <a:t>3</a:t>
                      </a:r>
                    </a:p>
                  </a:txBody>
                  <a:tcPr marL="95250" marR="95250" marT="47625" marB="4762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PK" sz="1600">
                          <a:effectLst/>
                        </a:rPr>
                        <a:t>8</a:t>
                      </a:r>
                    </a:p>
                  </a:txBody>
                  <a:tcPr marL="95250" marR="95250" marT="47625" marB="4762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PK" sz="1600" dirty="0">
                          <a:effectLst/>
                        </a:rPr>
                        <a:t>50 (high)</a:t>
                      </a:r>
                    </a:p>
                  </a:txBody>
                  <a:tcPr marL="95250" marR="95250" marT="47625" marB="4762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PK" sz="1600" dirty="0">
                          <a:effectLst/>
                        </a:rPr>
                        <a:t>Full challenge</a:t>
                      </a:r>
                    </a:p>
                  </a:txBody>
                  <a:tcPr marL="95250" marR="95250" marT="47625" marB="47625" anchor="ctr"/>
                </a:tc>
                <a:extLst>
                  <a:ext uri="{0D108BD9-81ED-4DB2-BD59-A6C34878D82A}">
                    <a16:rowId xmlns:a16="http://schemas.microsoft.com/office/drawing/2014/main" val="571320750"/>
                  </a:ext>
                </a:extLst>
              </a:tr>
              <a:tr h="59450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PK" sz="1600">
                          <a:effectLst/>
                        </a:rPr>
                        <a:t>4</a:t>
                      </a:r>
                    </a:p>
                  </a:txBody>
                  <a:tcPr marL="95250" marR="95250" marT="47625" marB="4762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PK" sz="1600">
                          <a:effectLst/>
                        </a:rPr>
                        <a:t>Unseen sizes</a:t>
                      </a:r>
                    </a:p>
                  </a:txBody>
                  <a:tcPr marL="95250" marR="95250" marT="47625" marB="4762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PK" sz="1600" dirty="0">
                          <a:effectLst/>
                        </a:rPr>
                        <a:t>Various</a:t>
                      </a:r>
                    </a:p>
                  </a:txBody>
                  <a:tcPr marL="95250" marR="95250" marT="47625" marB="4762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PK" sz="1600" dirty="0">
                          <a:effectLst/>
                        </a:rPr>
                        <a:t>Generalization</a:t>
                      </a:r>
                    </a:p>
                  </a:txBody>
                  <a:tcPr marL="95250" marR="95250" marT="47625" marB="47625" anchor="ctr"/>
                </a:tc>
                <a:extLst>
                  <a:ext uri="{0D108BD9-81ED-4DB2-BD59-A6C34878D82A}">
                    <a16:rowId xmlns:a16="http://schemas.microsoft.com/office/drawing/2014/main" val="865892870"/>
                  </a:ext>
                </a:extLst>
              </a:tr>
            </a:tbl>
          </a:graphicData>
        </a:graphic>
      </p:graphicFrame>
      <p:pic>
        <p:nvPicPr>
          <p:cNvPr id="6" name="Picture 5">
            <a:extLst>
              <a:ext uri="{FF2B5EF4-FFF2-40B4-BE49-F238E27FC236}">
                <a16:creationId xmlns:a16="http://schemas.microsoft.com/office/drawing/2014/main" id="{7BE69C88-B7E6-EA06-D9B4-B5A988B4A4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5802" y="1935679"/>
            <a:ext cx="5395881" cy="2992581"/>
          </a:xfrm>
          <a:prstGeom prst="rect">
            <a:avLst/>
          </a:prstGeo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1B13C54-0771-B16C-1774-03F764DC6C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774DBC-A55C-C145-83F3-9DE204FF4A46}" type="slidenum">
              <a:rPr lang="en-PK" smtClean="0"/>
              <a:t>12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174170243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C2B344-A464-2697-F1BA-57B78D5DC3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11282" y="444824"/>
            <a:ext cx="10052172" cy="632402"/>
          </a:xfrm>
        </p:spPr>
        <p:txBody>
          <a:bodyPr>
            <a:normAutofit fontScale="90000"/>
          </a:bodyPr>
          <a:lstStyle/>
          <a:p>
            <a:r>
              <a:rPr lang="en-PK" sz="4000" dirty="0"/>
              <a:t>References: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C21850-96D8-C13B-71D8-229419A2F0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72736" y="1237784"/>
            <a:ext cx="9846527" cy="4694665"/>
          </a:xfrm>
        </p:spPr>
        <p:txBody>
          <a:bodyPr>
            <a:normAutofit fontScale="92500" lnSpcReduction="20000"/>
          </a:bodyPr>
          <a:lstStyle/>
          <a:p>
            <a:pPr>
              <a:lnSpc>
                <a:spcPct val="120000"/>
              </a:lnSpc>
            </a:pPr>
            <a:r>
              <a:rPr lang="en-PK" sz="1600" dirty="0"/>
              <a:t> S. Govinda, B. Brik, and S. Harous, "A survey on deep reinforcement learning applications in autonomous systems," IEEE Trans. Intell. Transp. Syst., vol. 26, no. 7, 2025.</a:t>
            </a:r>
          </a:p>
          <a:p>
            <a:pPr>
              <a:lnSpc>
                <a:spcPct val="120000"/>
              </a:lnSpc>
            </a:pPr>
            <a:r>
              <a:rPr lang="en-PK" sz="1600" dirty="0"/>
              <a:t> J. Tang, Y. Liang, and K. Li, "Dynamic scene path planning of UAVs based on deep reinforcement learning," Drones, vol. 8, no. 2, p. 60, 2024.</a:t>
            </a:r>
          </a:p>
          <a:p>
            <a:pPr>
              <a:lnSpc>
                <a:spcPct val="120000"/>
              </a:lnSpc>
            </a:pPr>
            <a:r>
              <a:rPr lang="en-PK" sz="1600" dirty="0"/>
              <a:t>X. Kong, Y. Zhou, Z. Li, and S. Wang, "Multi-UAV simultaneous target assignment and path planning based on deep reinforcement learning in dynamic multiple obstacles environments," Front.Neurorobot., vol. 17, p. 1302898, 2024.</a:t>
            </a:r>
          </a:p>
          <a:p>
            <a:pPr>
              <a:lnSpc>
                <a:spcPct val="120000"/>
              </a:lnSpc>
            </a:pPr>
            <a:r>
              <a:rPr lang="en-PK" sz="1600" dirty="0"/>
              <a:t>R. Jarray, I. Zaghbani, and S. Bouallègue, "Dynamic reward-based deep reinforcement learning algorithm for UAV path planning in large-scale environments," Procedia Comput. Sci., vol.270, pp. 692–702, 2025.</a:t>
            </a:r>
          </a:p>
          <a:p>
            <a:pPr>
              <a:lnSpc>
                <a:spcPct val="120000"/>
              </a:lnSpc>
            </a:pPr>
            <a:r>
              <a:rPr lang="en-PK" sz="1600" dirty="0"/>
              <a:t>M. R. Rezaee, N. A. W. A. Hamid, M. Hussin, and Z. A. Zukarnain, "Efficient multi-agent deep reinforcement learning algorithm for multi-UAV collision avoidance," Appl. Soft Comput., vol.197, p. 115145, 2026.</a:t>
            </a:r>
          </a:p>
          <a:p>
            <a:pPr>
              <a:lnSpc>
                <a:spcPct val="120000"/>
              </a:lnSpc>
            </a:pPr>
            <a:r>
              <a:rPr lang="en-PK" sz="1600" dirty="0"/>
              <a:t>Y. Sheng, X. Xie, H. Liu, and J. Li, "Dynamic target assignment and cooperative decision-making for UAV swarms based on multi-agent reinforcement learning," IEEE Internet Things J., doi:10.1109/JIOT.2026.3686066, 2026.</a:t>
            </a:r>
          </a:p>
          <a:p>
            <a:pPr>
              <a:lnSpc>
                <a:spcPct val="120000"/>
              </a:lnSpc>
            </a:pPr>
            <a:r>
              <a:rPr lang="en-PK" sz="1600" dirty="0"/>
              <a:t> Y. Zhang et al., "Large-scale UAV swarm path planning based on mean-field reinforcement learning," Chin. J. Aeronaut., vol. 38, no. 9, p. 103484, 2025.</a:t>
            </a:r>
          </a:p>
          <a:p>
            <a:pPr>
              <a:lnSpc>
                <a:spcPct val="120000"/>
              </a:lnSpc>
            </a:pPr>
            <a:r>
              <a:rPr lang="en-PK" sz="1600" dirty="0"/>
              <a:t>Y. Xu et al., "Scalable UAV multi-hop networking via multi-agent reinforcement learning with large language models," arXiv:2505.08448, 2026.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2D23DA8-2303-A754-63B8-6555EA8F44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774DBC-A55C-C145-83F3-9DE204FF4A46}" type="slidenum">
              <a:rPr lang="en-PK" smtClean="0"/>
              <a:t>13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31221272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pct20">
          <a:fgClr>
            <a:schemeClr val="accent1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AB26991-8F86-640F-C145-2A659C5986F5}"/>
              </a:ext>
            </a:extLst>
          </p:cNvPr>
          <p:cNvSpPr txBox="1"/>
          <p:nvPr/>
        </p:nvSpPr>
        <p:spPr>
          <a:xfrm>
            <a:off x="0" y="2413337"/>
            <a:ext cx="12192000" cy="22159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PK" sz="13800" dirty="0">
                <a:latin typeface="Dreaming Outloud Script Pro" panose="03050502040304050704" pitchFamily="66" charset="77"/>
                <a:cs typeface="Dreaming Outloud Script Pro" panose="03050502040304050704" pitchFamily="66" charset="77"/>
              </a:rPr>
              <a:t>Thank you!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C21D034-3011-C58A-6C8B-8EAFE524F6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774DBC-A55C-C145-83F3-9DE204FF4A46}" type="slidenum">
              <a:rPr lang="en-PK" smtClean="0"/>
              <a:t>14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135760082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283</TotalTime>
  <Words>1280</Words>
  <Application>Microsoft Macintosh PowerPoint</Application>
  <PresentationFormat>Widescreen</PresentationFormat>
  <Paragraphs>151</Paragraphs>
  <Slides>14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0" baseType="lpstr">
      <vt:lpstr>Aptos</vt:lpstr>
      <vt:lpstr>Aptos Display</vt:lpstr>
      <vt:lpstr>Arial</vt:lpstr>
      <vt:lpstr>Dreaming Outloud Script Pro</vt:lpstr>
      <vt:lpstr>Times New Roman</vt:lpstr>
      <vt:lpstr>Office Theme</vt:lpstr>
      <vt:lpstr>Dynamic Target Assignment and Collision Avoidance for Multi-UAV Coordination in 3D using MARL</vt:lpstr>
      <vt:lpstr>Introduction: Why UAVs?</vt:lpstr>
      <vt:lpstr>Introduction: Multi-UAV Coordination</vt:lpstr>
      <vt:lpstr>Introduction: DRL &amp; MARL</vt:lpstr>
      <vt:lpstr>Motivation:</vt:lpstr>
      <vt:lpstr>Related Work:</vt:lpstr>
      <vt:lpstr>Related Work Cont…</vt:lpstr>
      <vt:lpstr>Gap in existing work:</vt:lpstr>
      <vt:lpstr>Problem Statement:</vt:lpstr>
      <vt:lpstr>Research Objective</vt:lpstr>
      <vt:lpstr>Proposed Methodology:</vt:lpstr>
      <vt:lpstr>Training Strategy:</vt:lpstr>
      <vt:lpstr>References: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SP25-RCS-009(Ayesha Khalil)</dc:creator>
  <cp:lastModifiedBy>SP25-RCS-009(Ayesha Khalil)</cp:lastModifiedBy>
  <cp:revision>53</cp:revision>
  <dcterms:created xsi:type="dcterms:W3CDTF">2026-06-08T18:24:17Z</dcterms:created>
  <dcterms:modified xsi:type="dcterms:W3CDTF">2026-06-17T19:55:49Z</dcterms:modified>
</cp:coreProperties>
</file>