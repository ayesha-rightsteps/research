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38"/>
    <p:restoredTop sz="94651"/>
  </p:normalViewPr>
  <p:slideViewPr>
    <p:cSldViewPr snapToGrid="0">
      <p:cViewPr varScale="1">
        <p:scale>
          <a:sx n="111" d="100"/>
          <a:sy n="111" d="100"/>
        </p:scale>
        <p:origin x="240"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CB12D-185D-5344-9B71-AEDA2526EDBC}" type="datetimeFigureOut">
              <a:rPr lang="en-PK" smtClean="0"/>
              <a:t>21/06/2026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6ED561-9D6B-9B49-9281-818B0567734D}" type="slidenum">
              <a:rPr lang="en-PK" smtClean="0"/>
              <a:t>‹#›</a:t>
            </a:fld>
            <a:endParaRPr lang="en-PK"/>
          </a:p>
        </p:txBody>
      </p:sp>
    </p:spTree>
    <p:extLst>
      <p:ext uri="{BB962C8B-B14F-4D97-AF65-F5344CB8AC3E}">
        <p14:creationId xmlns:p14="http://schemas.microsoft.com/office/powerpoint/2010/main" val="159596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C6ED561-9D6B-9B49-9281-818B0567734D}" type="slidenum">
              <a:rPr lang="en-PK" smtClean="0"/>
              <a:t>7</a:t>
            </a:fld>
            <a:endParaRPr lang="en-PK"/>
          </a:p>
        </p:txBody>
      </p:sp>
    </p:spTree>
    <p:extLst>
      <p:ext uri="{BB962C8B-B14F-4D97-AF65-F5344CB8AC3E}">
        <p14:creationId xmlns:p14="http://schemas.microsoft.com/office/powerpoint/2010/main" val="3132576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19342-CB32-1C41-53DE-FB109FAF025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4DB8B053-9343-827D-2DEA-FED0289BA7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190142F0-1846-83DD-F7FD-B2004147D187}"/>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B1481369-C8FE-95AF-641B-4AECF63B00C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E3BDF77-FE29-1FCD-E8A4-C1AF2117EE08}"/>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05349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F1D1-D396-A99F-34A2-4BCAFC602DA6}"/>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382AED5B-D445-9B5D-7E72-099058D25E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C1643C33-5F78-BB90-63FF-14F18A7CEB62}"/>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6EFCD9C4-8F88-548F-46DC-E7836363DD9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1E72886-D30E-6CC1-B3DF-3EC0C5C1A541}"/>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24204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45A1-B8A2-5055-7F03-9FCC52AA35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E9A345D9-6A43-7BBD-FA65-476492FAB5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0E2899B-B108-BD21-2CE0-7254D9A4828A}"/>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F6892B65-9FD6-DFEF-AF6D-4AB8F188D08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30DDD0-B231-16D7-61B7-436952EE01B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1880781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583B-1218-84F1-5732-E5E8FBFB1073}"/>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98CB27AF-11BF-335A-C3D5-E121CE90030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9F67422D-DBFF-1C1A-E0EC-9A87ED1340F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EA8BBF57-B156-E527-27F5-C391D84B7A6E}"/>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62497E72-F9B0-4530-C0AB-247E41517FC0}"/>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16459EB-3F51-D0CC-EEBD-E1E3951F6BC4}"/>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32147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22C3-FE1A-514B-C20A-4A5CCAA9063A}"/>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9239F501-6DEB-FD9D-01A8-BA6BC484D1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A5264F-AE8C-81FD-D3D3-D02BAE5557B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7F6EB07-0E5B-DF11-DE38-5B250E71A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26B87D-FEB2-9D32-F95E-D51EDFA435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BA9E8FA-4DA3-EC0B-06FE-23A929FC551C}"/>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8" name="Footer Placeholder 7">
            <a:extLst>
              <a:ext uri="{FF2B5EF4-FFF2-40B4-BE49-F238E27FC236}">
                <a16:creationId xmlns:a16="http://schemas.microsoft.com/office/drawing/2014/main" id="{CBC9C562-C8BC-C387-265A-24D86B53B5EF}"/>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33FC9178-70D0-8630-6D7F-A43E7AF0BDE9}"/>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408754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799-9EC1-6A57-624F-F604FBB01B09}"/>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AA178A77-72A0-B7E1-92C0-FFFEA2E36181}"/>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4" name="Footer Placeholder 3">
            <a:extLst>
              <a:ext uri="{FF2B5EF4-FFF2-40B4-BE49-F238E27FC236}">
                <a16:creationId xmlns:a16="http://schemas.microsoft.com/office/drawing/2014/main" id="{4FC65BBA-02AC-C010-4714-579948423857}"/>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1F8D9AB-CBAC-ED02-3FD0-79998EF3599C}"/>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60139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57B96E-1C43-6044-2967-DD941C112A09}"/>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3" name="Footer Placeholder 2">
            <a:extLst>
              <a:ext uri="{FF2B5EF4-FFF2-40B4-BE49-F238E27FC236}">
                <a16:creationId xmlns:a16="http://schemas.microsoft.com/office/drawing/2014/main" id="{1F14F0A3-B804-DD0B-DB18-9E8AEB64C90B}"/>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2828B1B4-6BF4-A280-EADA-D4BF44BE061D}"/>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20197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64176-4ADA-100F-51CB-9D1345BE9F6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8C40565D-9ACF-A073-AF07-4F11298E41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93C8B628-3E19-A6AD-8D00-2B8DD64D1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6BAFE3-4583-85AD-18F2-05261663C323}"/>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ED50FCE0-23F1-4526-F61B-32F936C66682}"/>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8818B9A-8B61-6F2B-9F5B-D2D48401140E}"/>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70603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360F-16B1-A056-B36E-D7361784E64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B8A0AE8E-B2F9-5654-6C70-6030BB4233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F7FB390-DBDC-E97C-512E-BBA5C4535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4EC8650-724B-99C9-A9F8-D0D3DD492E34}"/>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6" name="Footer Placeholder 5">
            <a:extLst>
              <a:ext uri="{FF2B5EF4-FFF2-40B4-BE49-F238E27FC236}">
                <a16:creationId xmlns:a16="http://schemas.microsoft.com/office/drawing/2014/main" id="{DDBC19F0-F192-893F-C985-ED850F5D83C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C7EE72A-9FBC-29ED-40E2-83B19D24C473}"/>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886129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352E-5072-DEB5-13D2-D7034432A2C7}"/>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48160522-ECC9-96C4-E255-4BEB0F27D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2214297C-806F-3597-ABEA-1345CEFB5886}"/>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E954B8BD-458F-3AD8-7A19-7D04CA9A02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6DF1660-1E09-D7E0-0EAF-E48456A768A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293846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C68548-0AE1-5D21-F12A-A14B7C3BDCE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B828600-D791-1772-6F82-151217EBCE2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BB9B7C38-F5F5-CBDD-51C7-8BAE84CD93C7}"/>
              </a:ext>
            </a:extLst>
          </p:cNvPr>
          <p:cNvSpPr>
            <a:spLocks noGrp="1"/>
          </p:cNvSpPr>
          <p:nvPr>
            <p:ph type="dt" sz="half" idx="10"/>
          </p:nvPr>
        </p:nvSpPr>
        <p:spPr/>
        <p:txBody>
          <a:body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EB116DDD-33F1-91C0-4F7F-F7C4FF7DB9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442F4DC-7AEE-99B8-88C5-6D8B5A249D85}"/>
              </a:ext>
            </a:extLst>
          </p:cNvPr>
          <p:cNvSpPr>
            <a:spLocks noGrp="1"/>
          </p:cNvSpPr>
          <p:nvPr>
            <p:ph type="sldNum" sz="quarter" idx="12"/>
          </p:nvPr>
        </p:nvSpPr>
        <p:spPr/>
        <p:txBody>
          <a:bodyPr/>
          <a:lstStyle/>
          <a:p>
            <a:fld id="{E9774DBC-A55C-C145-83F3-9DE204FF4A46}" type="slidenum">
              <a:rPr lang="en-PK" smtClean="0"/>
              <a:t>‹#›</a:t>
            </a:fld>
            <a:endParaRPr lang="en-PK"/>
          </a:p>
        </p:txBody>
      </p:sp>
    </p:spTree>
    <p:extLst>
      <p:ext uri="{BB962C8B-B14F-4D97-AF65-F5344CB8AC3E}">
        <p14:creationId xmlns:p14="http://schemas.microsoft.com/office/powerpoint/2010/main" val="3295477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D3570F-BE1C-241F-20EB-2FC83365C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0CA22F1E-A722-197E-87F9-3DA540DED6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E275CC02-0F83-6B99-EC01-84B915AA3A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6574F0-76D5-7B41-B0D1-4DEFBF0E94A7}" type="datetimeFigureOut">
              <a:rPr lang="en-PK" smtClean="0"/>
              <a:t>21/06/2026</a:t>
            </a:fld>
            <a:endParaRPr lang="en-PK"/>
          </a:p>
        </p:txBody>
      </p:sp>
      <p:sp>
        <p:nvSpPr>
          <p:cNvPr id="5" name="Footer Placeholder 4">
            <a:extLst>
              <a:ext uri="{FF2B5EF4-FFF2-40B4-BE49-F238E27FC236}">
                <a16:creationId xmlns:a16="http://schemas.microsoft.com/office/drawing/2014/main" id="{4323390B-8200-B1AA-45F6-1C38B27D22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3D192171-8034-485A-0DB2-0F7C37CCC2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774DBC-A55C-C145-83F3-9DE204FF4A46}" type="slidenum">
              <a:rPr lang="en-PK" smtClean="0"/>
              <a:t>‹#›</a:t>
            </a:fld>
            <a:endParaRPr lang="en-PK"/>
          </a:p>
        </p:txBody>
      </p:sp>
    </p:spTree>
    <p:extLst>
      <p:ext uri="{BB962C8B-B14F-4D97-AF65-F5344CB8AC3E}">
        <p14:creationId xmlns:p14="http://schemas.microsoft.com/office/powerpoint/2010/main" val="253340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7842"/>
            <a:lum/>
          </a:blip>
          <a:srcRect/>
          <a:stretch>
            <a:fillRect l="-2000" r="-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FBB98-8CE3-A478-4339-9AA8AACD6600}"/>
              </a:ext>
            </a:extLst>
          </p:cNvPr>
          <p:cNvSpPr>
            <a:spLocks noGrp="1"/>
          </p:cNvSpPr>
          <p:nvPr>
            <p:ph type="ctrTitle"/>
          </p:nvPr>
        </p:nvSpPr>
        <p:spPr>
          <a:xfrm>
            <a:off x="853928" y="939800"/>
            <a:ext cx="10484143" cy="2349500"/>
          </a:xfrm>
          <a:blipFill dpi="0" rotWithShape="1">
            <a:blip r:embed="rId3">
              <a:alphaModFix amt="0"/>
            </a:blip>
            <a:srcRect/>
            <a:tile tx="0" ty="0" sx="100000" sy="100000" flip="none" algn="tl"/>
          </a:blipFill>
        </p:spPr>
        <p:txBody>
          <a:bodyPr>
            <a:noAutofit/>
          </a:bodyPr>
          <a:lstStyle/>
          <a:p>
            <a:r>
              <a:rPr lang="en-US" sz="4400" dirty="0">
                <a:latin typeface="+mn-lt"/>
                <a:cs typeface="Times New Roman" panose="02020603050405020304" pitchFamily="18" charset="0"/>
              </a:rPr>
              <a:t>MAPPO Framework for Joint Dynamic Target Assignment and Conflict-Aware Collision Avoidance in Multi-UAV Systems</a:t>
            </a:r>
            <a:r>
              <a:rPr lang="en-PK" sz="2800" dirty="0">
                <a:latin typeface="+mn-lt"/>
                <a:cs typeface="Times New Roman" panose="02020603050405020304" pitchFamily="18" charset="0"/>
              </a:rPr>
              <a:t> </a:t>
            </a:r>
          </a:p>
        </p:txBody>
      </p:sp>
      <p:sp>
        <p:nvSpPr>
          <p:cNvPr id="3" name="Subtitle 2">
            <a:extLst>
              <a:ext uri="{FF2B5EF4-FFF2-40B4-BE49-F238E27FC236}">
                <a16:creationId xmlns:a16="http://schemas.microsoft.com/office/drawing/2014/main" id="{86F65ED9-1AD6-19E3-27B1-6EAF9EA8637C}"/>
              </a:ext>
            </a:extLst>
          </p:cNvPr>
          <p:cNvSpPr>
            <a:spLocks noGrp="1"/>
          </p:cNvSpPr>
          <p:nvPr>
            <p:ph type="subTitle" idx="1"/>
          </p:nvPr>
        </p:nvSpPr>
        <p:spPr>
          <a:xfrm>
            <a:off x="1523999" y="3733801"/>
            <a:ext cx="9144000" cy="1346200"/>
          </a:xfrm>
        </p:spPr>
        <p:txBody>
          <a:bodyPr>
            <a:normAutofit/>
          </a:bodyPr>
          <a:lstStyle/>
          <a:p>
            <a:r>
              <a:rPr lang="en-PK" dirty="0">
                <a:cs typeface="Times New Roman" panose="02020603050405020304" pitchFamily="18" charset="0"/>
              </a:rPr>
              <a:t>Ayesha Khalil, CIIT/SP25-RCS-009/ATD</a:t>
            </a:r>
            <a:endParaRPr lang="en-PK" b="0" dirty="0">
              <a:effectLst/>
              <a:cs typeface="Times New Roman" panose="02020603050405020304" pitchFamily="18" charset="0"/>
            </a:endParaRPr>
          </a:p>
          <a:p>
            <a:r>
              <a:rPr lang="en-PK" dirty="0">
                <a:cs typeface="Times New Roman" panose="02020603050405020304" pitchFamily="18" charset="0"/>
              </a:rPr>
              <a:t>Supervisor: Dr. Faisal Rehman</a:t>
            </a:r>
            <a:br>
              <a:rPr lang="en-PK" dirty="0">
                <a:cs typeface="Times New Roman" panose="02020603050405020304" pitchFamily="18" charset="0"/>
              </a:rPr>
            </a:br>
            <a:r>
              <a:rPr lang="en-PK" dirty="0">
                <a:cs typeface="Times New Roman" panose="02020603050405020304" pitchFamily="18" charset="0"/>
              </a:rPr>
              <a:t>Co-supervisor: Dr. Ehzaz Mustafa</a:t>
            </a:r>
            <a:endParaRPr lang="en-PK" b="0" dirty="0">
              <a:effectLst/>
              <a:cs typeface="Times New Roman" panose="02020603050405020304" pitchFamily="18" charset="0"/>
            </a:endParaRPr>
          </a:p>
          <a:p>
            <a:endParaRPr lang="en-PK" dirty="0">
              <a:cs typeface="Times New Roman" panose="02020603050405020304" pitchFamily="18" charset="0"/>
            </a:endParaRPr>
          </a:p>
        </p:txBody>
      </p:sp>
    </p:spTree>
    <p:extLst>
      <p:ext uri="{BB962C8B-B14F-4D97-AF65-F5344CB8AC3E}">
        <p14:creationId xmlns:p14="http://schemas.microsoft.com/office/powerpoint/2010/main" val="87644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CC0D-F80E-A57D-6E1C-B5B86EC63451}"/>
              </a:ext>
            </a:extLst>
          </p:cNvPr>
          <p:cNvSpPr>
            <a:spLocks noGrp="1"/>
          </p:cNvSpPr>
          <p:nvPr>
            <p:ph type="title"/>
          </p:nvPr>
        </p:nvSpPr>
        <p:spPr>
          <a:xfrm>
            <a:off x="838200" y="365125"/>
            <a:ext cx="10515600" cy="1039929"/>
          </a:xfrm>
        </p:spPr>
        <p:txBody>
          <a:bodyPr>
            <a:noAutofit/>
          </a:bodyPr>
          <a:lstStyle/>
          <a:p>
            <a:r>
              <a:rPr lang="en-PK" dirty="0">
                <a:latin typeface="+mn-lt"/>
                <a:cs typeface="Times New Roman" panose="02020603050405020304" pitchFamily="18" charset="0"/>
              </a:rPr>
              <a:t>Introduction:</a:t>
            </a:r>
            <a:r>
              <a:rPr lang="en-PK" sz="2800" dirty="0">
                <a:latin typeface="+mn-lt"/>
                <a:cs typeface="Times New Roman" panose="02020603050405020304" pitchFamily="18" charset="0"/>
              </a:rPr>
              <a:t> </a:t>
            </a:r>
            <a:r>
              <a:rPr lang="en-PK" sz="4000" b="1" dirty="0"/>
              <a:t>Why UAVs?</a:t>
            </a:r>
            <a:endParaRPr lang="en-PK" sz="2800" b="1" dirty="0">
              <a:solidFill>
                <a:schemeClr val="tx2">
                  <a:lumMod val="75000"/>
                  <a:lumOff val="25000"/>
                </a:schemeClr>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0B5ACC6A-91B0-E69F-EF5C-D30231B950ED}"/>
              </a:ext>
            </a:extLst>
          </p:cNvPr>
          <p:cNvSpPr>
            <a:spLocks noGrp="1"/>
          </p:cNvSpPr>
          <p:nvPr>
            <p:ph idx="1"/>
          </p:nvPr>
        </p:nvSpPr>
        <p:spPr>
          <a:xfrm>
            <a:off x="838200" y="2164468"/>
            <a:ext cx="5462116" cy="3396540"/>
          </a:xfrm>
        </p:spPr>
        <p:txBody>
          <a:bodyPr>
            <a:normAutofit/>
          </a:bodyPr>
          <a:lstStyle/>
          <a:p>
            <a:pPr>
              <a:lnSpc>
                <a:spcPct val="100000"/>
              </a:lnSpc>
            </a:pPr>
            <a:r>
              <a:rPr lang="en-PK" sz="2200" dirty="0"/>
              <a:t>UAVs are frequently used in disaster response, agriculture and inspection.</a:t>
            </a:r>
          </a:p>
          <a:p>
            <a:pPr>
              <a:lnSpc>
                <a:spcPct val="100000"/>
              </a:lnSpc>
            </a:pPr>
            <a:r>
              <a:rPr lang="en-PK" sz="2200" dirty="0"/>
              <a:t>Single drone cannot cover complex and large-scale missions.</a:t>
            </a:r>
          </a:p>
          <a:p>
            <a:pPr>
              <a:lnSpc>
                <a:spcPct val="100000"/>
              </a:lnSpc>
            </a:pPr>
            <a:r>
              <a:rPr lang="en-PK" sz="2200" dirty="0"/>
              <a:t>Teams of drones are faster, redundant and more effective.</a:t>
            </a:r>
          </a:p>
          <a:p>
            <a:pPr>
              <a:lnSpc>
                <a:spcPct val="100000"/>
              </a:lnSpc>
            </a:pPr>
            <a:r>
              <a:rPr lang="en-PK" sz="2200" dirty="0"/>
              <a:t>Hardware is ready, coordination is the unsolved problem.</a:t>
            </a:r>
          </a:p>
        </p:txBody>
      </p:sp>
      <p:pic>
        <p:nvPicPr>
          <p:cNvPr id="5" name="Picture 4">
            <a:extLst>
              <a:ext uri="{FF2B5EF4-FFF2-40B4-BE49-F238E27FC236}">
                <a16:creationId xmlns:a16="http://schemas.microsoft.com/office/drawing/2014/main" id="{6CB3E76F-D6AA-9491-F863-499085562BFE}"/>
              </a:ext>
            </a:extLst>
          </p:cNvPr>
          <p:cNvPicPr>
            <a:picLocks noChangeAspect="1"/>
          </p:cNvPicPr>
          <p:nvPr/>
        </p:nvPicPr>
        <p:blipFill>
          <a:blip r:embed="rId2"/>
          <a:stretch>
            <a:fillRect/>
          </a:stretch>
        </p:blipFill>
        <p:spPr>
          <a:xfrm>
            <a:off x="6300316" y="2164468"/>
            <a:ext cx="5257800" cy="3128936"/>
          </a:xfrm>
          <a:prstGeom prst="rect">
            <a:avLst/>
          </a:prstGeom>
        </p:spPr>
      </p:pic>
      <p:sp>
        <p:nvSpPr>
          <p:cNvPr id="4" name="TextBox 3">
            <a:extLst>
              <a:ext uri="{FF2B5EF4-FFF2-40B4-BE49-F238E27FC236}">
                <a16:creationId xmlns:a16="http://schemas.microsoft.com/office/drawing/2014/main" id="{8FDFE5CA-289B-CA95-C787-4C7032F3B8DF}"/>
              </a:ext>
            </a:extLst>
          </p:cNvPr>
          <p:cNvSpPr txBox="1"/>
          <p:nvPr/>
        </p:nvSpPr>
        <p:spPr>
          <a:xfrm>
            <a:off x="838200" y="1277246"/>
            <a:ext cx="8854070" cy="523220"/>
          </a:xfrm>
          <a:prstGeom prst="rect">
            <a:avLst/>
          </a:prstGeom>
          <a:noFill/>
        </p:spPr>
        <p:txBody>
          <a:bodyPr wrap="square" rtlCol="0">
            <a:spAutoFit/>
          </a:bodyPr>
          <a:lstStyle/>
          <a:p>
            <a:r>
              <a:rPr lang="en-PK" sz="2800" b="1" dirty="0">
                <a:solidFill>
                  <a:schemeClr val="tx2">
                    <a:lumMod val="75000"/>
                    <a:lumOff val="25000"/>
                  </a:schemeClr>
                </a:solidFill>
              </a:rPr>
              <a:t>From military tools to critical civilian infrastructure</a:t>
            </a:r>
            <a:endParaRPr lang="en-PK" sz="2800" dirty="0"/>
          </a:p>
        </p:txBody>
      </p:sp>
    </p:spTree>
    <p:extLst>
      <p:ext uri="{BB962C8B-B14F-4D97-AF65-F5344CB8AC3E}">
        <p14:creationId xmlns:p14="http://schemas.microsoft.com/office/powerpoint/2010/main" val="2909608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7A03C-B6A3-9936-1B48-D661B48A67E6}"/>
              </a:ext>
            </a:extLst>
          </p:cNvPr>
          <p:cNvSpPr>
            <a:spLocks noGrp="1"/>
          </p:cNvSpPr>
          <p:nvPr>
            <p:ph type="title"/>
          </p:nvPr>
        </p:nvSpPr>
        <p:spPr>
          <a:xfrm>
            <a:off x="838200" y="365125"/>
            <a:ext cx="10515600" cy="790575"/>
          </a:xfrm>
        </p:spPr>
        <p:txBody>
          <a:bodyPr/>
          <a:lstStyle/>
          <a:p>
            <a:r>
              <a:rPr lang="en-PK" dirty="0"/>
              <a:t>Introduction: Multi-UAV Coordination</a:t>
            </a:r>
          </a:p>
        </p:txBody>
      </p:sp>
      <p:sp>
        <p:nvSpPr>
          <p:cNvPr id="3" name="Content Placeholder 2">
            <a:extLst>
              <a:ext uri="{FF2B5EF4-FFF2-40B4-BE49-F238E27FC236}">
                <a16:creationId xmlns:a16="http://schemas.microsoft.com/office/drawing/2014/main" id="{83E57823-C230-C001-40EE-B52215BCF398}"/>
              </a:ext>
            </a:extLst>
          </p:cNvPr>
          <p:cNvSpPr>
            <a:spLocks noGrp="1"/>
          </p:cNvSpPr>
          <p:nvPr>
            <p:ph idx="1"/>
          </p:nvPr>
        </p:nvSpPr>
        <p:spPr>
          <a:xfrm>
            <a:off x="822539" y="2219093"/>
            <a:ext cx="5273460" cy="3256156"/>
          </a:xfrm>
        </p:spPr>
        <p:txBody>
          <a:bodyPr>
            <a:normAutofit/>
          </a:bodyPr>
          <a:lstStyle/>
          <a:p>
            <a:pPr>
              <a:lnSpc>
                <a:spcPct val="100000"/>
              </a:lnSpc>
            </a:pPr>
            <a:r>
              <a:rPr lang="en-PK" sz="2200" dirty="0"/>
              <a:t>Classical planners compute one global solution too slow.</a:t>
            </a:r>
          </a:p>
          <a:p>
            <a:pPr>
              <a:lnSpc>
                <a:spcPct val="100000"/>
              </a:lnSpc>
            </a:pPr>
            <a:r>
              <a:rPr lang="en-PK" sz="2200" dirty="0"/>
              <a:t>Dynamic environments break pre-planned paths instantly.</a:t>
            </a:r>
          </a:p>
          <a:p>
            <a:pPr>
              <a:lnSpc>
                <a:spcPct val="100000"/>
              </a:lnSpc>
            </a:pPr>
            <a:r>
              <a:rPr lang="en-PK" sz="2200" dirty="0"/>
              <a:t>Drones need to adapt in real-time, independently.</a:t>
            </a:r>
          </a:p>
          <a:p>
            <a:pPr>
              <a:lnSpc>
                <a:spcPct val="100000"/>
              </a:lnSpc>
            </a:pPr>
            <a:r>
              <a:rPr lang="en-PK" sz="2200" dirty="0"/>
              <a:t>Solution: let drones learn coordination through experience.</a:t>
            </a:r>
          </a:p>
        </p:txBody>
      </p:sp>
      <p:pic>
        <p:nvPicPr>
          <p:cNvPr id="5" name="Picture 4">
            <a:extLst>
              <a:ext uri="{FF2B5EF4-FFF2-40B4-BE49-F238E27FC236}">
                <a16:creationId xmlns:a16="http://schemas.microsoft.com/office/drawing/2014/main" id="{4DE97005-90EB-7547-52BA-4683F2A9EE57}"/>
              </a:ext>
            </a:extLst>
          </p:cNvPr>
          <p:cNvPicPr>
            <a:picLocks noChangeAspect="1"/>
          </p:cNvPicPr>
          <p:nvPr/>
        </p:nvPicPr>
        <p:blipFill>
          <a:blip r:embed="rId2"/>
          <a:stretch>
            <a:fillRect/>
          </a:stretch>
        </p:blipFill>
        <p:spPr>
          <a:xfrm>
            <a:off x="6095999" y="2219093"/>
            <a:ext cx="5515627" cy="3008525"/>
          </a:xfrm>
          <a:prstGeom prst="rect">
            <a:avLst/>
          </a:prstGeom>
          <a:effectLst>
            <a:outerShdw sx="1000" sy="1000" algn="ctr" rotWithShape="0">
              <a:srgbClr val="000000"/>
            </a:outerShdw>
          </a:effectLst>
        </p:spPr>
      </p:pic>
      <p:sp>
        <p:nvSpPr>
          <p:cNvPr id="4" name="TextBox 3">
            <a:extLst>
              <a:ext uri="{FF2B5EF4-FFF2-40B4-BE49-F238E27FC236}">
                <a16:creationId xmlns:a16="http://schemas.microsoft.com/office/drawing/2014/main" id="{A98AA677-A621-32A9-6588-1E2CE9128476}"/>
              </a:ext>
            </a:extLst>
          </p:cNvPr>
          <p:cNvSpPr txBox="1"/>
          <p:nvPr/>
        </p:nvSpPr>
        <p:spPr>
          <a:xfrm>
            <a:off x="838200" y="1268411"/>
            <a:ext cx="10515600" cy="523220"/>
          </a:xfrm>
          <a:prstGeom prst="rect">
            <a:avLst/>
          </a:prstGeom>
          <a:noFill/>
        </p:spPr>
        <p:txBody>
          <a:bodyPr wrap="square" rtlCol="0">
            <a:spAutoFit/>
          </a:bodyPr>
          <a:lstStyle/>
          <a:p>
            <a:r>
              <a:rPr lang="en-PK" sz="2800" b="1" dirty="0">
                <a:solidFill>
                  <a:schemeClr val="tx2">
                    <a:lumMod val="75000"/>
                    <a:lumOff val="25000"/>
                  </a:schemeClr>
                </a:solidFill>
              </a:rPr>
              <a:t>Multiple drones, shared airspace, conflicting decisions</a:t>
            </a:r>
          </a:p>
        </p:txBody>
      </p:sp>
    </p:spTree>
    <p:extLst>
      <p:ext uri="{BB962C8B-B14F-4D97-AF65-F5344CB8AC3E}">
        <p14:creationId xmlns:p14="http://schemas.microsoft.com/office/powerpoint/2010/main" val="3773359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6C0AB-636A-9C98-F14D-BF44C31CF0AC}"/>
              </a:ext>
            </a:extLst>
          </p:cNvPr>
          <p:cNvSpPr>
            <a:spLocks noGrp="1"/>
          </p:cNvSpPr>
          <p:nvPr>
            <p:ph type="title"/>
          </p:nvPr>
        </p:nvSpPr>
        <p:spPr>
          <a:xfrm>
            <a:off x="838200" y="365125"/>
            <a:ext cx="10515600" cy="917575"/>
          </a:xfrm>
        </p:spPr>
        <p:txBody>
          <a:bodyPr/>
          <a:lstStyle/>
          <a:p>
            <a:r>
              <a:rPr lang="en-PK" dirty="0"/>
              <a:t>Introduction: DRL &amp; MARL</a:t>
            </a:r>
          </a:p>
        </p:txBody>
      </p:sp>
      <p:sp>
        <p:nvSpPr>
          <p:cNvPr id="3" name="Content Placeholder 2">
            <a:extLst>
              <a:ext uri="{FF2B5EF4-FFF2-40B4-BE49-F238E27FC236}">
                <a16:creationId xmlns:a16="http://schemas.microsoft.com/office/drawing/2014/main" id="{18178360-8404-27FC-9704-5AC0DCC71CF8}"/>
              </a:ext>
            </a:extLst>
          </p:cNvPr>
          <p:cNvSpPr>
            <a:spLocks noGrp="1"/>
          </p:cNvSpPr>
          <p:nvPr>
            <p:ph idx="1"/>
          </p:nvPr>
        </p:nvSpPr>
        <p:spPr>
          <a:xfrm>
            <a:off x="838200" y="1918263"/>
            <a:ext cx="4686300" cy="3889664"/>
          </a:xfrm>
        </p:spPr>
        <p:txBody>
          <a:bodyPr>
            <a:normAutofit fontScale="77500" lnSpcReduction="20000"/>
          </a:bodyPr>
          <a:lstStyle/>
          <a:p>
            <a:pPr>
              <a:lnSpc>
                <a:spcPct val="120000"/>
              </a:lnSpc>
            </a:pPr>
            <a:r>
              <a:rPr lang="en-PK" b="1" dirty="0"/>
              <a:t>DRL:</a:t>
            </a:r>
            <a:r>
              <a:rPr lang="en-PK" dirty="0"/>
              <a:t> agent receives reward, learns optimal policy.</a:t>
            </a:r>
          </a:p>
          <a:p>
            <a:pPr>
              <a:lnSpc>
                <a:spcPct val="120000"/>
              </a:lnSpc>
            </a:pPr>
            <a:r>
              <a:rPr lang="en-PK" b="1" dirty="0"/>
              <a:t>MARL: </a:t>
            </a:r>
            <a:r>
              <a:rPr lang="en-PK" dirty="0"/>
              <a:t>extends DRL to teams of cooperating agents.</a:t>
            </a:r>
          </a:p>
          <a:p>
            <a:pPr>
              <a:lnSpc>
                <a:spcPct val="120000"/>
              </a:lnSpc>
            </a:pPr>
            <a:r>
              <a:rPr lang="en-PK" b="1" dirty="0"/>
              <a:t>CTDE Architecture: </a:t>
            </a:r>
            <a:r>
              <a:rPr lang="en-PK" dirty="0"/>
              <a:t>train with shared info, execute independently.</a:t>
            </a:r>
          </a:p>
          <a:p>
            <a:pPr>
              <a:lnSpc>
                <a:spcPct val="120000"/>
              </a:lnSpc>
            </a:pPr>
            <a:r>
              <a:rPr lang="en-PK" b="1" dirty="0"/>
              <a:t>MAPPO (Multi-Agent PPO): </a:t>
            </a:r>
            <a:r>
              <a:rPr lang="en-PK" dirty="0"/>
              <a:t>best-performing cooperative MARL algorithm.</a:t>
            </a:r>
            <a:br>
              <a:rPr lang="en-PK" dirty="0"/>
            </a:br>
            <a:endParaRPr lang="en-PK" dirty="0"/>
          </a:p>
        </p:txBody>
      </p:sp>
      <p:pic>
        <p:nvPicPr>
          <p:cNvPr id="8" name="Picture 7">
            <a:extLst>
              <a:ext uri="{FF2B5EF4-FFF2-40B4-BE49-F238E27FC236}">
                <a16:creationId xmlns:a16="http://schemas.microsoft.com/office/drawing/2014/main" id="{BA7F61E2-4A35-BA45-A26D-8E45BA272EA2}"/>
              </a:ext>
            </a:extLst>
          </p:cNvPr>
          <p:cNvPicPr>
            <a:picLocks noChangeAspect="1"/>
          </p:cNvPicPr>
          <p:nvPr/>
        </p:nvPicPr>
        <p:blipFill>
          <a:blip r:embed="rId2"/>
          <a:stretch>
            <a:fillRect/>
          </a:stretch>
        </p:blipFill>
        <p:spPr>
          <a:xfrm>
            <a:off x="5524500" y="1873911"/>
            <a:ext cx="6438900" cy="3512127"/>
          </a:xfrm>
          <a:prstGeom prst="rect">
            <a:avLst/>
          </a:prstGeom>
        </p:spPr>
      </p:pic>
      <p:sp>
        <p:nvSpPr>
          <p:cNvPr id="4" name="TextBox 3">
            <a:extLst>
              <a:ext uri="{FF2B5EF4-FFF2-40B4-BE49-F238E27FC236}">
                <a16:creationId xmlns:a16="http://schemas.microsoft.com/office/drawing/2014/main" id="{6821EB7D-EF8A-91B0-2E53-2461486D3EBB}"/>
              </a:ext>
            </a:extLst>
          </p:cNvPr>
          <p:cNvSpPr txBox="1"/>
          <p:nvPr/>
        </p:nvSpPr>
        <p:spPr>
          <a:xfrm>
            <a:off x="838200" y="1149716"/>
            <a:ext cx="7073796" cy="523220"/>
          </a:xfrm>
          <a:prstGeom prst="rect">
            <a:avLst/>
          </a:prstGeom>
          <a:noFill/>
        </p:spPr>
        <p:txBody>
          <a:bodyPr wrap="none" rtlCol="0">
            <a:spAutoFit/>
          </a:bodyPr>
          <a:lstStyle/>
          <a:p>
            <a:r>
              <a:rPr lang="en-PK" sz="2800" b="1" dirty="0">
                <a:solidFill>
                  <a:schemeClr val="tx2">
                    <a:lumMod val="75000"/>
                    <a:lumOff val="25000"/>
                  </a:schemeClr>
                </a:solidFill>
              </a:rPr>
              <a:t>Learning-based coordination how it works</a:t>
            </a:r>
          </a:p>
        </p:txBody>
      </p:sp>
    </p:spTree>
    <p:extLst>
      <p:ext uri="{BB962C8B-B14F-4D97-AF65-F5344CB8AC3E}">
        <p14:creationId xmlns:p14="http://schemas.microsoft.com/office/powerpoint/2010/main" val="1170402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35D18-D43C-B17C-31E3-67B988E82355}"/>
              </a:ext>
            </a:extLst>
          </p:cNvPr>
          <p:cNvSpPr>
            <a:spLocks noGrp="1"/>
          </p:cNvSpPr>
          <p:nvPr>
            <p:ph type="title"/>
          </p:nvPr>
        </p:nvSpPr>
        <p:spPr>
          <a:xfrm>
            <a:off x="838200" y="561184"/>
            <a:ext cx="10515600" cy="752475"/>
          </a:xfrm>
        </p:spPr>
        <p:txBody>
          <a:bodyPr/>
          <a:lstStyle/>
          <a:p>
            <a:r>
              <a:rPr lang="en-PK" dirty="0"/>
              <a:t>Motivation:</a:t>
            </a:r>
          </a:p>
        </p:txBody>
      </p:sp>
      <p:sp>
        <p:nvSpPr>
          <p:cNvPr id="3" name="Content Placeholder 2">
            <a:extLst>
              <a:ext uri="{FF2B5EF4-FFF2-40B4-BE49-F238E27FC236}">
                <a16:creationId xmlns:a16="http://schemas.microsoft.com/office/drawing/2014/main" id="{6BCD0034-DEBA-419C-D81D-F44F2E6B1AD4}"/>
              </a:ext>
            </a:extLst>
          </p:cNvPr>
          <p:cNvSpPr>
            <a:spLocks noGrp="1"/>
          </p:cNvSpPr>
          <p:nvPr>
            <p:ph idx="1"/>
          </p:nvPr>
        </p:nvSpPr>
        <p:spPr>
          <a:xfrm>
            <a:off x="1063405" y="2167444"/>
            <a:ext cx="10711961" cy="2681313"/>
          </a:xfrm>
        </p:spPr>
        <p:txBody>
          <a:bodyPr>
            <a:noAutofit/>
          </a:bodyPr>
          <a:lstStyle/>
          <a:p>
            <a:pPr>
              <a:lnSpc>
                <a:spcPct val="120000"/>
              </a:lnSpc>
            </a:pPr>
            <a:r>
              <a:rPr lang="en-GB" sz="2200" dirty="0"/>
              <a:t>Drones must reach targets AND avoid collisions,  neither is optional.</a:t>
            </a:r>
          </a:p>
          <a:p>
            <a:pPr>
              <a:lnSpc>
                <a:spcPct val="120000"/>
              </a:lnSpc>
            </a:pPr>
            <a:r>
              <a:rPr lang="en-GB" sz="2200" dirty="0"/>
              <a:t>Too much safety means mission abandoned. Too much urgency means crash.</a:t>
            </a:r>
          </a:p>
          <a:p>
            <a:pPr>
              <a:lnSpc>
                <a:spcPct val="120000"/>
              </a:lnSpc>
            </a:pPr>
            <a:r>
              <a:rPr lang="en-GB" sz="2200" dirty="0"/>
              <a:t>Right balance changes every timestep depends on situation.</a:t>
            </a:r>
          </a:p>
          <a:p>
            <a:pPr>
              <a:lnSpc>
                <a:spcPct val="120000"/>
              </a:lnSpc>
            </a:pPr>
            <a:r>
              <a:rPr lang="en-GB" sz="2200" dirty="0"/>
              <a:t>One wrong trade off cascades through the entire swarm.</a:t>
            </a:r>
          </a:p>
          <a:p>
            <a:pPr>
              <a:lnSpc>
                <a:spcPct val="120000"/>
              </a:lnSpc>
            </a:pPr>
            <a:r>
              <a:rPr lang="en-GB" sz="2200" dirty="0"/>
              <a:t>No existing framework learns this balance all use fixed rules.</a:t>
            </a:r>
            <a:endParaRPr lang="en-PK" sz="2200" dirty="0"/>
          </a:p>
        </p:txBody>
      </p:sp>
      <p:sp>
        <p:nvSpPr>
          <p:cNvPr id="5" name="TextBox 4">
            <a:extLst>
              <a:ext uri="{FF2B5EF4-FFF2-40B4-BE49-F238E27FC236}">
                <a16:creationId xmlns:a16="http://schemas.microsoft.com/office/drawing/2014/main" id="{88330DD8-0111-A7CF-63CE-36183F171A95}"/>
              </a:ext>
            </a:extLst>
          </p:cNvPr>
          <p:cNvSpPr txBox="1"/>
          <p:nvPr/>
        </p:nvSpPr>
        <p:spPr>
          <a:xfrm>
            <a:off x="1063405" y="1509719"/>
            <a:ext cx="4665573" cy="461665"/>
          </a:xfrm>
          <a:prstGeom prst="rect">
            <a:avLst/>
          </a:prstGeom>
          <a:noFill/>
        </p:spPr>
        <p:txBody>
          <a:bodyPr wrap="none" rtlCol="0">
            <a:spAutoFit/>
          </a:bodyPr>
          <a:lstStyle/>
          <a:p>
            <a:r>
              <a:rPr lang="en-GB" sz="2400" b="1" dirty="0">
                <a:solidFill>
                  <a:schemeClr val="tx2">
                    <a:lumMod val="75000"/>
                    <a:lumOff val="25000"/>
                  </a:schemeClr>
                </a:solidFill>
              </a:rPr>
              <a:t>T</a:t>
            </a:r>
            <a:r>
              <a:rPr lang="en-PK" sz="2400" b="1" dirty="0">
                <a:solidFill>
                  <a:schemeClr val="tx2">
                    <a:lumMod val="75000"/>
                    <a:lumOff val="25000"/>
                  </a:schemeClr>
                </a:solidFill>
              </a:rPr>
              <a:t>wo halves of the same problem</a:t>
            </a:r>
          </a:p>
        </p:txBody>
      </p:sp>
    </p:spTree>
    <p:extLst>
      <p:ext uri="{BB962C8B-B14F-4D97-AF65-F5344CB8AC3E}">
        <p14:creationId xmlns:p14="http://schemas.microsoft.com/office/powerpoint/2010/main" val="3774325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95BB-A565-9090-9397-8FA16C7A64FE}"/>
              </a:ext>
            </a:extLst>
          </p:cNvPr>
          <p:cNvSpPr>
            <a:spLocks noGrp="1"/>
          </p:cNvSpPr>
          <p:nvPr>
            <p:ph type="title"/>
          </p:nvPr>
        </p:nvSpPr>
        <p:spPr>
          <a:xfrm>
            <a:off x="342898" y="254001"/>
            <a:ext cx="11480802" cy="647699"/>
          </a:xfrm>
        </p:spPr>
        <p:txBody>
          <a:bodyPr>
            <a:normAutofit/>
          </a:bodyPr>
          <a:lstStyle/>
          <a:p>
            <a:r>
              <a:rPr lang="en-PK" sz="3600" dirty="0"/>
              <a:t>Related Work:</a:t>
            </a:r>
          </a:p>
        </p:txBody>
      </p:sp>
      <p:graphicFrame>
        <p:nvGraphicFramePr>
          <p:cNvPr id="4" name="Content Placeholder 3">
            <a:extLst>
              <a:ext uri="{FF2B5EF4-FFF2-40B4-BE49-F238E27FC236}">
                <a16:creationId xmlns:a16="http://schemas.microsoft.com/office/drawing/2014/main" id="{A16B8485-FED3-C57C-6341-68CCE87E6799}"/>
              </a:ext>
            </a:extLst>
          </p:cNvPr>
          <p:cNvGraphicFramePr>
            <a:graphicFrameLocks noGrp="1"/>
          </p:cNvGraphicFramePr>
          <p:nvPr>
            <p:ph idx="1"/>
            <p:extLst>
              <p:ext uri="{D42A27DB-BD31-4B8C-83A1-F6EECF244321}">
                <p14:modId xmlns:p14="http://schemas.microsoft.com/office/powerpoint/2010/main" val="1052172575"/>
              </p:ext>
            </p:extLst>
          </p:nvPr>
        </p:nvGraphicFramePr>
        <p:xfrm>
          <a:off x="368301" y="1079500"/>
          <a:ext cx="11480802" cy="5524500"/>
        </p:xfrm>
        <a:graphic>
          <a:graphicData uri="http://schemas.openxmlformats.org/drawingml/2006/table">
            <a:tbl>
              <a:tblPr firstRow="1" bandRow="1">
                <a:tableStyleId>{D7AC3CCA-C797-4891-BE02-D94E43425B78}</a:tableStyleId>
              </a:tblPr>
              <a:tblGrid>
                <a:gridCol w="1752600">
                  <a:extLst>
                    <a:ext uri="{9D8B030D-6E8A-4147-A177-3AD203B41FA5}">
                      <a16:colId xmlns:a16="http://schemas.microsoft.com/office/drawing/2014/main" val="2368097235"/>
                    </a:ext>
                  </a:extLst>
                </a:gridCol>
                <a:gridCol w="2074334">
                  <a:extLst>
                    <a:ext uri="{9D8B030D-6E8A-4147-A177-3AD203B41FA5}">
                      <a16:colId xmlns:a16="http://schemas.microsoft.com/office/drawing/2014/main" val="293452194"/>
                    </a:ext>
                  </a:extLst>
                </a:gridCol>
                <a:gridCol w="1913467">
                  <a:extLst>
                    <a:ext uri="{9D8B030D-6E8A-4147-A177-3AD203B41FA5}">
                      <a16:colId xmlns:a16="http://schemas.microsoft.com/office/drawing/2014/main" val="3981340899"/>
                    </a:ext>
                  </a:extLst>
                </a:gridCol>
                <a:gridCol w="1913467">
                  <a:extLst>
                    <a:ext uri="{9D8B030D-6E8A-4147-A177-3AD203B41FA5}">
                      <a16:colId xmlns:a16="http://schemas.microsoft.com/office/drawing/2014/main" val="3517942913"/>
                    </a:ext>
                  </a:extLst>
                </a:gridCol>
                <a:gridCol w="1913467">
                  <a:extLst>
                    <a:ext uri="{9D8B030D-6E8A-4147-A177-3AD203B41FA5}">
                      <a16:colId xmlns:a16="http://schemas.microsoft.com/office/drawing/2014/main" val="2473821062"/>
                    </a:ext>
                  </a:extLst>
                </a:gridCol>
                <a:gridCol w="1913467">
                  <a:extLst>
                    <a:ext uri="{9D8B030D-6E8A-4147-A177-3AD203B41FA5}">
                      <a16:colId xmlns:a16="http://schemas.microsoft.com/office/drawing/2014/main" val="1093910524"/>
                    </a:ext>
                  </a:extLst>
                </a:gridCol>
              </a:tblGrid>
              <a:tr h="370014">
                <a:tc>
                  <a:txBody>
                    <a:bodyPr/>
                    <a:lstStyle/>
                    <a:p>
                      <a:pPr algn="ctr"/>
                      <a:r>
                        <a:rPr lang="en-PK" sz="1600" dirty="0"/>
                        <a:t>Authors</a:t>
                      </a:r>
                    </a:p>
                  </a:txBody>
                  <a:tcPr/>
                </a:tc>
                <a:tc>
                  <a:txBody>
                    <a:bodyPr/>
                    <a:lstStyle/>
                    <a:p>
                      <a:pPr algn="ctr"/>
                      <a:r>
                        <a:rPr lang="en-PK" sz="1600" dirty="0"/>
                        <a:t>Contribution</a:t>
                      </a:r>
                    </a:p>
                  </a:txBody>
                  <a:tcPr/>
                </a:tc>
                <a:tc>
                  <a:txBody>
                    <a:bodyPr/>
                    <a:lstStyle/>
                    <a:p>
                      <a:pPr algn="ctr"/>
                      <a:r>
                        <a:rPr lang="en-PK" sz="1600" dirty="0"/>
                        <a:t>Methodology</a:t>
                      </a:r>
                    </a:p>
                  </a:txBody>
                  <a:tcPr/>
                </a:tc>
                <a:tc>
                  <a:txBody>
                    <a:bodyPr/>
                    <a:lstStyle/>
                    <a:p>
                      <a:pPr algn="ctr"/>
                      <a:r>
                        <a:rPr lang="en-PK" sz="1600" dirty="0"/>
                        <a:t>Dataset/Sample</a:t>
                      </a:r>
                    </a:p>
                  </a:txBody>
                  <a:tcPr/>
                </a:tc>
                <a:tc>
                  <a:txBody>
                    <a:bodyPr/>
                    <a:lstStyle/>
                    <a:p>
                      <a:pPr algn="ctr"/>
                      <a:r>
                        <a:rPr lang="en-PK" sz="1600" dirty="0"/>
                        <a:t>Strength</a:t>
                      </a:r>
                    </a:p>
                  </a:txBody>
                  <a:tcPr/>
                </a:tc>
                <a:tc>
                  <a:txBody>
                    <a:bodyPr/>
                    <a:lstStyle/>
                    <a:p>
                      <a:pPr algn="ctr"/>
                      <a:r>
                        <a:rPr lang="en-PK" sz="1600" dirty="0"/>
                        <a:t>Limitation</a:t>
                      </a:r>
                    </a:p>
                  </a:txBody>
                  <a:tcPr/>
                </a:tc>
                <a:extLst>
                  <a:ext uri="{0D108BD9-81ED-4DB2-BD59-A6C34878D82A}">
                    <a16:rowId xmlns:a16="http://schemas.microsoft.com/office/drawing/2014/main" val="1666208904"/>
                  </a:ext>
                </a:extLst>
              </a:tr>
              <a:tr h="1202547">
                <a:tc>
                  <a:txBody>
                    <a:bodyPr/>
                    <a:lstStyle/>
                    <a:p>
                      <a:r>
                        <a:rPr lang="en-PK" sz="1600" b="0" i="0" kern="1200" dirty="0">
                          <a:solidFill>
                            <a:schemeClr val="dk1"/>
                          </a:solidFill>
                          <a:effectLst/>
                          <a:latin typeface="+mn-lt"/>
                          <a:ea typeface="+mn-ea"/>
                          <a:cs typeface="+mn-cs"/>
                        </a:rPr>
                        <a:t>Govinda, Brik &amp; Harous (2025)</a:t>
                      </a:r>
                      <a:endParaRPr lang="en-PK" sz="1600" dirty="0"/>
                    </a:p>
                  </a:txBody>
                  <a:tcPr/>
                </a:tc>
                <a:tc>
                  <a:txBody>
                    <a:bodyPr/>
                    <a:lstStyle/>
                    <a:p>
                      <a:r>
                        <a:rPr lang="en-PK" sz="1600" b="0" i="0" kern="1200" dirty="0">
                          <a:solidFill>
                            <a:schemeClr val="dk1"/>
                          </a:solidFill>
                          <a:effectLst/>
                          <a:latin typeface="+mn-lt"/>
                          <a:ea typeface="+mn-ea"/>
                          <a:cs typeface="+mn-cs"/>
                        </a:rPr>
                        <a:t>Systematic review of DRL for UAV, robotics, transportation</a:t>
                      </a:r>
                      <a:endParaRPr lang="en-PK" sz="1600" dirty="0"/>
                    </a:p>
                  </a:txBody>
                  <a:tcPr/>
                </a:tc>
                <a:tc>
                  <a:txBody>
                    <a:bodyPr/>
                    <a:lstStyle/>
                    <a:p>
                      <a:r>
                        <a:rPr lang="en-PK" sz="1600" b="0" i="0" kern="1200" dirty="0">
                          <a:solidFill>
                            <a:schemeClr val="dk1"/>
                          </a:solidFill>
                          <a:effectLst/>
                          <a:latin typeface="+mn-lt"/>
                          <a:ea typeface="+mn-ea"/>
                          <a:cs typeface="+mn-cs"/>
                        </a:rPr>
                        <a:t>Literature survey across published DRL studies</a:t>
                      </a:r>
                      <a:endParaRPr lang="en-PK" sz="1600" dirty="0"/>
                    </a:p>
                  </a:txBody>
                  <a:tcPr/>
                </a:tc>
                <a:tc>
                  <a:txBody>
                    <a:bodyPr/>
                    <a:lstStyle/>
                    <a:p>
                      <a:r>
                        <a:rPr lang="en-PK" sz="1600" b="0" i="0" kern="1200" dirty="0">
                          <a:solidFill>
                            <a:schemeClr val="dk1"/>
                          </a:solidFill>
                          <a:effectLst/>
                          <a:latin typeface="+mn-lt"/>
                          <a:ea typeface="+mn-ea"/>
                          <a:cs typeface="+mn-cs"/>
                        </a:rPr>
                        <a:t>Published papers (no primary data)</a:t>
                      </a:r>
                      <a:endParaRPr lang="en-PK" sz="1600" dirty="0"/>
                    </a:p>
                  </a:txBody>
                  <a:tcPr/>
                </a:tc>
                <a:tc>
                  <a:txBody>
                    <a:bodyPr/>
                    <a:lstStyle/>
                    <a:p>
                      <a:r>
                        <a:rPr lang="en-PK" sz="1600" b="0" i="0" kern="1200" dirty="0">
                          <a:solidFill>
                            <a:schemeClr val="dk1"/>
                          </a:solidFill>
                          <a:effectLst/>
                          <a:latin typeface="+mn-lt"/>
                          <a:ea typeface="+mn-ea"/>
                          <a:cs typeface="+mn-cs"/>
                        </a:rPr>
                        <a:t>Identifies lack of unified frameworks as the key open gap</a:t>
                      </a:r>
                      <a:endParaRPr lang="en-PK" sz="1600" dirty="0"/>
                    </a:p>
                  </a:txBody>
                  <a:tcPr/>
                </a:tc>
                <a:tc>
                  <a:txBody>
                    <a:bodyPr/>
                    <a:lstStyle/>
                    <a:p>
                      <a:r>
                        <a:rPr lang="en-PK" sz="1600" b="0" i="0" kern="1200" dirty="0">
                          <a:solidFill>
                            <a:schemeClr val="dk1"/>
                          </a:solidFill>
                          <a:effectLst/>
                          <a:latin typeface="+mn-lt"/>
                          <a:ea typeface="+mn-ea"/>
                          <a:cs typeface="+mn-cs"/>
                        </a:rPr>
                        <a:t>Survey only no new algorithm proposed</a:t>
                      </a:r>
                      <a:endParaRPr lang="en-PK" sz="1600" dirty="0"/>
                    </a:p>
                  </a:txBody>
                  <a:tcPr/>
                </a:tc>
                <a:extLst>
                  <a:ext uri="{0D108BD9-81ED-4DB2-BD59-A6C34878D82A}">
                    <a16:rowId xmlns:a16="http://schemas.microsoft.com/office/drawing/2014/main" val="2955598424"/>
                  </a:ext>
                </a:extLst>
              </a:tr>
              <a:tr h="1470304">
                <a:tc>
                  <a:txBody>
                    <a:bodyPr/>
                    <a:lstStyle/>
                    <a:p>
                      <a:r>
                        <a:rPr lang="en-PK" sz="1600" b="0" i="0" kern="1200" dirty="0">
                          <a:solidFill>
                            <a:schemeClr val="dk1"/>
                          </a:solidFill>
                          <a:effectLst/>
                          <a:latin typeface="+mn-lt"/>
                          <a:ea typeface="+mn-ea"/>
                          <a:cs typeface="+mn-cs"/>
                        </a:rPr>
                        <a:t>Tang, Liang &amp; Li (2024)</a:t>
                      </a:r>
                      <a:endParaRPr lang="en-PK" sz="1600" dirty="0"/>
                    </a:p>
                  </a:txBody>
                  <a:tcPr/>
                </a:tc>
                <a:tc>
                  <a:txBody>
                    <a:bodyPr/>
                    <a:lstStyle/>
                    <a:p>
                      <a:r>
                        <a:rPr lang="en-PK" sz="1600" b="0" i="0" kern="1200" dirty="0">
                          <a:solidFill>
                            <a:schemeClr val="dk1"/>
                          </a:solidFill>
                          <a:effectLst/>
                          <a:latin typeface="+mn-lt"/>
                          <a:ea typeface="+mn-ea"/>
                          <a:cs typeface="+mn-cs"/>
                        </a:rPr>
                        <a:t>Single UAV navigation in dynamic obstacle environments</a:t>
                      </a:r>
                      <a:endParaRPr lang="en-PK" sz="1600" dirty="0"/>
                    </a:p>
                  </a:txBody>
                  <a:tcPr/>
                </a:tc>
                <a:tc>
                  <a:txBody>
                    <a:bodyPr/>
                    <a:lstStyle/>
                    <a:p>
                      <a:r>
                        <a:rPr lang="en-PK" sz="1600" b="0" i="0" kern="1200" dirty="0">
                          <a:solidFill>
                            <a:schemeClr val="dk1"/>
                          </a:solidFill>
                          <a:effectLst/>
                          <a:latin typeface="+mn-lt"/>
                          <a:ea typeface="+mn-ea"/>
                          <a:cs typeface="+mn-cs"/>
                        </a:rPr>
                        <a:t>Improved D3QN + Prioritized Experience Replay + heuristic action bias</a:t>
                      </a:r>
                      <a:endParaRPr lang="en-PK" sz="1600" dirty="0"/>
                    </a:p>
                  </a:txBody>
                  <a:tcPr/>
                </a:tc>
                <a:tc>
                  <a:txBody>
                    <a:bodyPr/>
                    <a:lstStyle/>
                    <a:p>
                      <a:r>
                        <a:rPr lang="en-PK" sz="1600" b="0" i="0" kern="1200" dirty="0">
                          <a:solidFill>
                            <a:schemeClr val="dk1"/>
                          </a:solidFill>
                          <a:effectLst/>
                          <a:latin typeface="+mn-lt"/>
                          <a:ea typeface="+mn-ea"/>
                          <a:cs typeface="+mn-cs"/>
                        </a:rPr>
                        <a:t>Custom 2D sim, single UAV, moving obstacles</a:t>
                      </a:r>
                      <a:endParaRPr lang="en-PK" sz="1600" dirty="0"/>
                    </a:p>
                  </a:txBody>
                  <a:tcPr/>
                </a:tc>
                <a:tc>
                  <a:txBody>
                    <a:bodyPr/>
                    <a:lstStyle/>
                    <a:p>
                      <a:r>
                        <a:rPr lang="en-PK" sz="1600" b="1" i="0" kern="1200" dirty="0">
                          <a:solidFill>
                            <a:schemeClr val="dk1"/>
                          </a:solidFill>
                          <a:effectLst/>
                          <a:latin typeface="+mn-lt"/>
                          <a:ea typeface="+mn-ea"/>
                          <a:cs typeface="+mn-cs"/>
                        </a:rPr>
                        <a:t>95% success rate</a:t>
                      </a:r>
                      <a:r>
                        <a:rPr lang="en-PK" sz="1600" b="0" i="0" kern="1200" dirty="0">
                          <a:solidFill>
                            <a:schemeClr val="dk1"/>
                          </a:solidFill>
                          <a:effectLst/>
                          <a:latin typeface="+mn-lt"/>
                          <a:ea typeface="+mn-ea"/>
                          <a:cs typeface="+mn-cs"/>
                        </a:rPr>
                        <a:t>, outperforms A* and RRT</a:t>
                      </a:r>
                      <a:endParaRPr lang="en-PK" sz="1600" dirty="0"/>
                    </a:p>
                  </a:txBody>
                  <a:tcPr/>
                </a:tc>
                <a:tc>
                  <a:txBody>
                    <a:bodyPr/>
                    <a:lstStyle/>
                    <a:p>
                      <a:r>
                        <a:rPr lang="en-PK" sz="1600" b="0" i="0" kern="1200" dirty="0">
                          <a:solidFill>
                            <a:schemeClr val="dk1"/>
                          </a:solidFill>
                          <a:effectLst/>
                          <a:latin typeface="+mn-lt"/>
                          <a:ea typeface="+mn-ea"/>
                          <a:cs typeface="+mn-cs"/>
                        </a:rPr>
                        <a:t>Single drone only, discrete actions</a:t>
                      </a:r>
                      <a:endParaRPr lang="en-PK" sz="1600" dirty="0"/>
                    </a:p>
                  </a:txBody>
                  <a:tcPr/>
                </a:tc>
                <a:extLst>
                  <a:ext uri="{0D108BD9-81ED-4DB2-BD59-A6C34878D82A}">
                    <a16:rowId xmlns:a16="http://schemas.microsoft.com/office/drawing/2014/main" val="931270011"/>
                  </a:ext>
                </a:extLst>
              </a:tr>
              <a:tr h="1313907">
                <a:tc>
                  <a:txBody>
                    <a:bodyPr/>
                    <a:lstStyle/>
                    <a:p>
                      <a:r>
                        <a:rPr lang="en-PK" sz="1600" b="0" i="0" kern="1200" dirty="0">
                          <a:solidFill>
                            <a:schemeClr val="dk1"/>
                          </a:solidFill>
                          <a:effectLst/>
                          <a:latin typeface="+mn-lt"/>
                          <a:ea typeface="+mn-ea"/>
                          <a:cs typeface="+mn-cs"/>
                        </a:rPr>
                        <a:t>Kong, Zhou, Li &amp; Wang (2024)</a:t>
                      </a:r>
                      <a:endParaRPr lang="en-PK" sz="1600" dirty="0"/>
                    </a:p>
                  </a:txBody>
                  <a:tcPr/>
                </a:tc>
                <a:tc>
                  <a:txBody>
                    <a:bodyPr/>
                    <a:lstStyle/>
                    <a:p>
                      <a:r>
                        <a:rPr lang="en-PK" sz="1600" b="0" i="0" kern="1200" dirty="0">
                          <a:solidFill>
                            <a:schemeClr val="dk1"/>
                          </a:solidFill>
                          <a:effectLst/>
                          <a:latin typeface="+mn-lt"/>
                          <a:ea typeface="+mn-ea"/>
                          <a:cs typeface="+mn-cs"/>
                        </a:rPr>
                        <a:t>Joint target assignment + path planning for multi-UAV</a:t>
                      </a:r>
                      <a:endParaRPr lang="en-PK" sz="1600" dirty="0"/>
                    </a:p>
                  </a:txBody>
                  <a:tcPr/>
                </a:tc>
                <a:tc>
                  <a:txBody>
                    <a:bodyPr/>
                    <a:lstStyle/>
                    <a:p>
                      <a:r>
                        <a:rPr lang="en-PK" sz="1600" b="0" i="0" kern="1200" dirty="0">
                          <a:solidFill>
                            <a:schemeClr val="dk1"/>
                          </a:solidFill>
                          <a:effectLst/>
                          <a:latin typeface="+mn-lt"/>
                          <a:ea typeface="+mn-ea"/>
                          <a:cs typeface="+mn-cs"/>
                        </a:rPr>
                        <a:t>TANet-TD3 + Hungarian algorithm supervision + POMDP</a:t>
                      </a:r>
                      <a:endParaRPr lang="en-PK" sz="1600" dirty="0"/>
                    </a:p>
                  </a:txBody>
                  <a:tcPr/>
                </a:tc>
                <a:tc>
                  <a:txBody>
                    <a:bodyPr/>
                    <a:lstStyle/>
                    <a:p>
                      <a:r>
                        <a:rPr lang="en-PK" sz="1600" b="0" i="0" kern="1200" dirty="0">
                          <a:solidFill>
                            <a:schemeClr val="dk1"/>
                          </a:solidFill>
                          <a:effectLst/>
                          <a:latin typeface="+mn-lt"/>
                          <a:ea typeface="+mn-ea"/>
                          <a:cs typeface="+mn-cs"/>
                        </a:rPr>
                        <a:t>Custom 2D sim, 5 UAVs, moving targets</a:t>
                      </a:r>
                      <a:endParaRPr lang="en-PK" sz="1600" dirty="0"/>
                    </a:p>
                  </a:txBody>
                  <a:tcPr/>
                </a:tc>
                <a:tc>
                  <a:txBody>
                    <a:bodyPr/>
                    <a:lstStyle/>
                    <a:p>
                      <a:r>
                        <a:rPr lang="en-PK" sz="1600" b="0" i="0" kern="1200" dirty="0">
                          <a:solidFill>
                            <a:schemeClr val="dk1"/>
                          </a:solidFill>
                          <a:effectLst/>
                          <a:latin typeface="+mn-lt"/>
                          <a:ea typeface="+mn-ea"/>
                          <a:cs typeface="+mn-cs"/>
                        </a:rPr>
                        <a:t>First paper combining assignment + path planning</a:t>
                      </a:r>
                      <a:endParaRPr lang="en-PK" sz="1600" dirty="0"/>
                    </a:p>
                  </a:txBody>
                  <a:tcPr/>
                </a:tc>
                <a:tc>
                  <a:txBody>
                    <a:bodyPr/>
                    <a:lstStyle/>
                    <a:p>
                      <a:r>
                        <a:rPr lang="en-PK" sz="1600" b="1" i="0" kern="1200" dirty="0">
                          <a:solidFill>
                            <a:schemeClr val="dk1"/>
                          </a:solidFill>
                          <a:effectLst/>
                          <a:latin typeface="+mn-lt"/>
                          <a:ea typeface="+mn-ea"/>
                          <a:cs typeface="+mn-cs"/>
                        </a:rPr>
                        <a:t>no inter-drone collision avoidance</a:t>
                      </a:r>
                      <a:endParaRPr lang="en-PK" sz="1600" dirty="0"/>
                    </a:p>
                  </a:txBody>
                  <a:tcPr/>
                </a:tc>
                <a:extLst>
                  <a:ext uri="{0D108BD9-81ED-4DB2-BD59-A6C34878D82A}">
                    <a16:rowId xmlns:a16="http://schemas.microsoft.com/office/drawing/2014/main" val="3713995536"/>
                  </a:ext>
                </a:extLst>
              </a:tr>
              <a:tr h="1167728">
                <a:tc>
                  <a:txBody>
                    <a:bodyPr/>
                    <a:lstStyle/>
                    <a:p>
                      <a:r>
                        <a:rPr lang="en-PK" sz="1600" b="0" i="0" kern="1200" dirty="0">
                          <a:solidFill>
                            <a:schemeClr val="dk1"/>
                          </a:solidFill>
                          <a:effectLst/>
                          <a:latin typeface="+mn-lt"/>
                          <a:ea typeface="+mn-ea"/>
                          <a:cs typeface="+mn-cs"/>
                        </a:rPr>
                        <a:t>Jarray, Zaghbani &amp; Bouallègue (2025)</a:t>
                      </a:r>
                      <a:endParaRPr lang="en-PK" sz="1600" dirty="0"/>
                    </a:p>
                  </a:txBody>
                  <a:tcPr/>
                </a:tc>
                <a:tc>
                  <a:txBody>
                    <a:bodyPr/>
                    <a:lstStyle/>
                    <a:p>
                      <a:r>
                        <a:rPr lang="en-PK" sz="1600" b="0" i="0" kern="1200" dirty="0">
                          <a:solidFill>
                            <a:schemeClr val="dk1"/>
                          </a:solidFill>
                          <a:effectLst/>
                          <a:latin typeface="+mn-lt"/>
                          <a:ea typeface="+mn-ea"/>
                          <a:cs typeface="+mn-cs"/>
                        </a:rPr>
                        <a:t>UAV path planning in large-scale 3D environments</a:t>
                      </a:r>
                      <a:endParaRPr lang="en-PK" sz="1600" dirty="0"/>
                    </a:p>
                  </a:txBody>
                  <a:tcPr/>
                </a:tc>
                <a:tc>
                  <a:txBody>
                    <a:bodyPr/>
                    <a:lstStyle/>
                    <a:p>
                      <a:r>
                        <a:rPr lang="en-PK" sz="1600" b="0" i="0" kern="1200" dirty="0">
                          <a:solidFill>
                            <a:schemeClr val="dk1"/>
                          </a:solidFill>
                          <a:effectLst/>
                          <a:latin typeface="+mn-lt"/>
                          <a:ea typeface="+mn-ea"/>
                          <a:cs typeface="+mn-cs"/>
                        </a:rPr>
                        <a:t>DQN + 3D CNN + dynamic reward formula</a:t>
                      </a:r>
                      <a:endParaRPr lang="en-PK" sz="1600" dirty="0"/>
                    </a:p>
                  </a:txBody>
                  <a:tcPr/>
                </a:tc>
                <a:tc>
                  <a:txBody>
                    <a:bodyPr/>
                    <a:lstStyle/>
                    <a:p>
                      <a:r>
                        <a:rPr lang="en-PK" sz="1600" b="0" i="0" kern="1200" dirty="0">
                          <a:solidFill>
                            <a:schemeClr val="dk1"/>
                          </a:solidFill>
                          <a:effectLst/>
                          <a:latin typeface="+mn-lt"/>
                          <a:ea typeface="+mn-ea"/>
                          <a:cs typeface="+mn-cs"/>
                        </a:rPr>
                        <a:t>Custom 3D sim, 25 km² area, 4 obstacle densities</a:t>
                      </a:r>
                      <a:endParaRPr lang="en-PK" sz="1600" dirty="0"/>
                    </a:p>
                  </a:txBody>
                  <a:tcPr/>
                </a:tc>
                <a:tc>
                  <a:txBody>
                    <a:bodyPr/>
                    <a:lstStyle/>
                    <a:p>
                      <a:r>
                        <a:rPr lang="en-PK" sz="1600" b="1" i="0" kern="1200" dirty="0">
                          <a:solidFill>
                            <a:schemeClr val="dk1"/>
                          </a:solidFill>
                          <a:effectLst/>
                          <a:latin typeface="+mn-lt"/>
                          <a:ea typeface="+mn-ea"/>
                          <a:cs typeface="+mn-cs"/>
                        </a:rPr>
                        <a:t>98% success in 3D</a:t>
                      </a:r>
                      <a:r>
                        <a:rPr lang="en-PK" sz="1600" b="0" i="0" kern="1200" dirty="0">
                          <a:solidFill>
                            <a:schemeClr val="dk1"/>
                          </a:solidFill>
                          <a:effectLst/>
                          <a:latin typeface="+mn-lt"/>
                          <a:ea typeface="+mn-ea"/>
                          <a:cs typeface="+mn-cs"/>
                        </a:rPr>
                        <a:t>, beats PSO and GWO</a:t>
                      </a:r>
                      <a:endParaRPr lang="en-PK" sz="1600" dirty="0"/>
                    </a:p>
                  </a:txBody>
                  <a:tcPr/>
                </a:tc>
                <a:tc>
                  <a:txBody>
                    <a:bodyPr/>
                    <a:lstStyle/>
                    <a:p>
                      <a:r>
                        <a:rPr lang="en-PK" sz="1600" b="0" i="0" kern="1200" dirty="0">
                          <a:solidFill>
                            <a:schemeClr val="dk1"/>
                          </a:solidFill>
                          <a:effectLst/>
                          <a:latin typeface="+mn-lt"/>
                          <a:ea typeface="+mn-ea"/>
                          <a:cs typeface="+mn-cs"/>
                        </a:rPr>
                        <a:t>Single drone, static obstacles only</a:t>
                      </a:r>
                      <a:endParaRPr lang="en-PK" sz="1600" dirty="0"/>
                    </a:p>
                  </a:txBody>
                  <a:tcPr/>
                </a:tc>
                <a:extLst>
                  <a:ext uri="{0D108BD9-81ED-4DB2-BD59-A6C34878D82A}">
                    <a16:rowId xmlns:a16="http://schemas.microsoft.com/office/drawing/2014/main" val="43168533"/>
                  </a:ext>
                </a:extLst>
              </a:tr>
            </a:tbl>
          </a:graphicData>
        </a:graphic>
      </p:graphicFrame>
      <p:sp>
        <p:nvSpPr>
          <p:cNvPr id="5" name="TextBox 4">
            <a:extLst>
              <a:ext uri="{FF2B5EF4-FFF2-40B4-BE49-F238E27FC236}">
                <a16:creationId xmlns:a16="http://schemas.microsoft.com/office/drawing/2014/main" id="{651BACD1-B299-E590-BF12-BE91F992A98F}"/>
              </a:ext>
            </a:extLst>
          </p:cNvPr>
          <p:cNvSpPr txBox="1"/>
          <p:nvPr/>
        </p:nvSpPr>
        <p:spPr>
          <a:xfrm>
            <a:off x="101600" y="1346200"/>
            <a:ext cx="184731" cy="369332"/>
          </a:xfrm>
          <a:prstGeom prst="rect">
            <a:avLst/>
          </a:prstGeom>
          <a:noFill/>
        </p:spPr>
        <p:txBody>
          <a:bodyPr wrap="none" rtlCol="0">
            <a:spAutoFit/>
          </a:bodyPr>
          <a:lstStyle/>
          <a:p>
            <a:endParaRPr lang="en-PK" dirty="0"/>
          </a:p>
        </p:txBody>
      </p:sp>
    </p:spTree>
    <p:extLst>
      <p:ext uri="{BB962C8B-B14F-4D97-AF65-F5344CB8AC3E}">
        <p14:creationId xmlns:p14="http://schemas.microsoft.com/office/powerpoint/2010/main" val="4086766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9FFFE-7A80-7C4B-769A-DDBC8D5ECE29}"/>
              </a:ext>
            </a:extLst>
          </p:cNvPr>
          <p:cNvSpPr>
            <a:spLocks noGrp="1"/>
          </p:cNvSpPr>
          <p:nvPr>
            <p:ph type="title"/>
          </p:nvPr>
        </p:nvSpPr>
        <p:spPr>
          <a:xfrm>
            <a:off x="507996" y="203200"/>
            <a:ext cx="11506204" cy="495300"/>
          </a:xfrm>
        </p:spPr>
        <p:txBody>
          <a:bodyPr>
            <a:noAutofit/>
          </a:bodyPr>
          <a:lstStyle/>
          <a:p>
            <a:r>
              <a:rPr lang="en-PK" sz="3600" dirty="0"/>
              <a:t>Related Work Cont…</a:t>
            </a:r>
          </a:p>
        </p:txBody>
      </p:sp>
      <p:graphicFrame>
        <p:nvGraphicFramePr>
          <p:cNvPr id="7" name="Content Placeholder 6">
            <a:extLst>
              <a:ext uri="{FF2B5EF4-FFF2-40B4-BE49-F238E27FC236}">
                <a16:creationId xmlns:a16="http://schemas.microsoft.com/office/drawing/2014/main" id="{9E10DE2E-8AFD-8F57-7C25-CC31B72F2F88}"/>
              </a:ext>
            </a:extLst>
          </p:cNvPr>
          <p:cNvGraphicFramePr>
            <a:graphicFrameLocks noGrp="1"/>
          </p:cNvGraphicFramePr>
          <p:nvPr>
            <p:ph idx="1"/>
            <p:extLst>
              <p:ext uri="{D42A27DB-BD31-4B8C-83A1-F6EECF244321}">
                <p14:modId xmlns:p14="http://schemas.microsoft.com/office/powerpoint/2010/main" val="3473761909"/>
              </p:ext>
            </p:extLst>
          </p:nvPr>
        </p:nvGraphicFramePr>
        <p:xfrm>
          <a:off x="507996" y="812801"/>
          <a:ext cx="11366503" cy="5647282"/>
        </p:xfrm>
        <a:graphic>
          <a:graphicData uri="http://schemas.openxmlformats.org/drawingml/2006/table">
            <a:tbl>
              <a:tblPr firstRow="1" bandRow="1">
                <a:tableStyleId>{D7AC3CCA-C797-4891-BE02-D94E43425B78}</a:tableStyleId>
              </a:tblPr>
              <a:tblGrid>
                <a:gridCol w="1657106">
                  <a:extLst>
                    <a:ext uri="{9D8B030D-6E8A-4147-A177-3AD203B41FA5}">
                      <a16:colId xmlns:a16="http://schemas.microsoft.com/office/drawing/2014/main" val="1722732969"/>
                    </a:ext>
                  </a:extLst>
                </a:gridCol>
                <a:gridCol w="2131729">
                  <a:extLst>
                    <a:ext uri="{9D8B030D-6E8A-4147-A177-3AD203B41FA5}">
                      <a16:colId xmlns:a16="http://schemas.microsoft.com/office/drawing/2014/main" val="3705943741"/>
                    </a:ext>
                  </a:extLst>
                </a:gridCol>
                <a:gridCol w="1894417">
                  <a:extLst>
                    <a:ext uri="{9D8B030D-6E8A-4147-A177-3AD203B41FA5}">
                      <a16:colId xmlns:a16="http://schemas.microsoft.com/office/drawing/2014/main" val="84652238"/>
                    </a:ext>
                  </a:extLst>
                </a:gridCol>
                <a:gridCol w="1894417">
                  <a:extLst>
                    <a:ext uri="{9D8B030D-6E8A-4147-A177-3AD203B41FA5}">
                      <a16:colId xmlns:a16="http://schemas.microsoft.com/office/drawing/2014/main" val="3105983218"/>
                    </a:ext>
                  </a:extLst>
                </a:gridCol>
                <a:gridCol w="1894417">
                  <a:extLst>
                    <a:ext uri="{9D8B030D-6E8A-4147-A177-3AD203B41FA5}">
                      <a16:colId xmlns:a16="http://schemas.microsoft.com/office/drawing/2014/main" val="2047078586"/>
                    </a:ext>
                  </a:extLst>
                </a:gridCol>
                <a:gridCol w="1894417">
                  <a:extLst>
                    <a:ext uri="{9D8B030D-6E8A-4147-A177-3AD203B41FA5}">
                      <a16:colId xmlns:a16="http://schemas.microsoft.com/office/drawing/2014/main" val="3745472499"/>
                    </a:ext>
                  </a:extLst>
                </a:gridCol>
              </a:tblGrid>
              <a:tr h="314096">
                <a:tc>
                  <a:txBody>
                    <a:bodyPr/>
                    <a:lstStyle/>
                    <a:p>
                      <a:pPr algn="ctr"/>
                      <a:r>
                        <a:rPr lang="en-PK" sz="1600" dirty="0"/>
                        <a:t>Authors</a:t>
                      </a:r>
                    </a:p>
                  </a:txBody>
                  <a:tcPr/>
                </a:tc>
                <a:tc>
                  <a:txBody>
                    <a:bodyPr/>
                    <a:lstStyle/>
                    <a:p>
                      <a:pPr algn="ctr"/>
                      <a:r>
                        <a:rPr lang="en-PK" sz="1600" dirty="0"/>
                        <a:t>Contribution</a:t>
                      </a:r>
                    </a:p>
                  </a:txBody>
                  <a:tcPr/>
                </a:tc>
                <a:tc>
                  <a:txBody>
                    <a:bodyPr/>
                    <a:lstStyle/>
                    <a:p>
                      <a:pPr algn="ctr"/>
                      <a:r>
                        <a:rPr lang="en-PK" sz="1600" dirty="0"/>
                        <a:t>Methodology</a:t>
                      </a:r>
                    </a:p>
                  </a:txBody>
                  <a:tcPr/>
                </a:tc>
                <a:tc>
                  <a:txBody>
                    <a:bodyPr/>
                    <a:lstStyle/>
                    <a:p>
                      <a:pPr algn="ctr"/>
                      <a:r>
                        <a:rPr lang="en-PK" sz="1600" dirty="0"/>
                        <a:t>Dataset/Sample</a:t>
                      </a:r>
                    </a:p>
                  </a:txBody>
                  <a:tcPr/>
                </a:tc>
                <a:tc>
                  <a:txBody>
                    <a:bodyPr/>
                    <a:lstStyle/>
                    <a:p>
                      <a:pPr algn="ctr"/>
                      <a:r>
                        <a:rPr lang="en-PK" sz="1600" dirty="0"/>
                        <a:t>Strength</a:t>
                      </a:r>
                    </a:p>
                  </a:txBody>
                  <a:tcPr/>
                </a:tc>
                <a:tc>
                  <a:txBody>
                    <a:bodyPr/>
                    <a:lstStyle/>
                    <a:p>
                      <a:pPr algn="ctr"/>
                      <a:r>
                        <a:rPr lang="en-PK" sz="1600" dirty="0"/>
                        <a:t>Limitation</a:t>
                      </a:r>
                    </a:p>
                  </a:txBody>
                  <a:tcPr/>
                </a:tc>
                <a:extLst>
                  <a:ext uri="{0D108BD9-81ED-4DB2-BD59-A6C34878D82A}">
                    <a16:rowId xmlns:a16="http://schemas.microsoft.com/office/drawing/2014/main" val="3579634782"/>
                  </a:ext>
                </a:extLst>
              </a:tr>
              <a:tr h="1382576">
                <a:tc>
                  <a:txBody>
                    <a:bodyPr/>
                    <a:lstStyle/>
                    <a:p>
                      <a:r>
                        <a:rPr lang="en-PK" sz="1600" b="1" i="0" kern="1200" dirty="0">
                          <a:solidFill>
                            <a:schemeClr val="dk1"/>
                          </a:solidFill>
                          <a:effectLst/>
                          <a:latin typeface="+mn-lt"/>
                          <a:ea typeface="+mn-ea"/>
                          <a:cs typeface="+mn-cs"/>
                        </a:rPr>
                        <a:t>Rezaee et al. (2026) — IGAT-MARL</a:t>
                      </a:r>
                      <a:endParaRPr lang="en-PK" sz="1600" dirty="0"/>
                    </a:p>
                  </a:txBody>
                  <a:tcPr/>
                </a:tc>
                <a:tc>
                  <a:txBody>
                    <a:bodyPr/>
                    <a:lstStyle/>
                    <a:p>
                      <a:r>
                        <a:rPr lang="en-PK" sz="1600" b="0" i="0" kern="1200" dirty="0">
                          <a:solidFill>
                            <a:schemeClr val="dk1"/>
                          </a:solidFill>
                          <a:effectLst/>
                          <a:latin typeface="+mn-lt"/>
                          <a:ea typeface="+mn-ea"/>
                          <a:cs typeface="+mn-cs"/>
                        </a:rPr>
                        <a:t>Collision avoidance using sparse conflict-aware interaction graph</a:t>
                      </a:r>
                      <a:endParaRPr lang="en-PK" sz="1600" dirty="0"/>
                    </a:p>
                  </a:txBody>
                  <a:tcPr/>
                </a:tc>
                <a:tc>
                  <a:txBody>
                    <a:bodyPr/>
                    <a:lstStyle/>
                    <a:p>
                      <a:r>
                        <a:rPr lang="en-PK" sz="1600" b="0" i="0" kern="1200" dirty="0">
                          <a:solidFill>
                            <a:schemeClr val="dk1"/>
                          </a:solidFill>
                          <a:effectLst/>
                          <a:latin typeface="+mn-lt"/>
                          <a:ea typeface="+mn-ea"/>
                          <a:cs typeface="+mn-cs"/>
                        </a:rPr>
                        <a:t>Conflict-driven sparse graph + Improved GAT + curriculum</a:t>
                      </a:r>
                      <a:endParaRPr lang="en-PK" sz="1600" dirty="0"/>
                    </a:p>
                  </a:txBody>
                  <a:tcPr/>
                </a:tc>
                <a:tc>
                  <a:txBody>
                    <a:bodyPr/>
                    <a:lstStyle/>
                    <a:p>
                      <a:r>
                        <a:rPr lang="en-PK" sz="1600" b="0" i="0" kern="1200" dirty="0">
                          <a:solidFill>
                            <a:schemeClr val="dk1"/>
                          </a:solidFill>
                          <a:effectLst/>
                          <a:latin typeface="+mn-lt"/>
                          <a:ea typeface="+mn-ea"/>
                          <a:cs typeface="+mn-cs"/>
                        </a:rPr>
                        <a:t>BlueSky sim, 3–10 fixed-wing UAVs, conflict-guaranteed episodes</a:t>
                      </a:r>
                      <a:endParaRPr lang="en-PK" sz="1600" dirty="0"/>
                    </a:p>
                  </a:txBody>
                  <a:tcPr/>
                </a:tc>
                <a:tc>
                  <a:txBody>
                    <a:bodyPr/>
                    <a:lstStyle/>
                    <a:p>
                      <a:r>
                        <a:rPr lang="en-PK" sz="1600" b="1" i="0" kern="1200" dirty="0">
                          <a:solidFill>
                            <a:schemeClr val="dk1"/>
                          </a:solidFill>
                          <a:effectLst/>
                          <a:latin typeface="+mn-lt"/>
                          <a:ea typeface="+mn-ea"/>
                          <a:cs typeface="+mn-cs"/>
                        </a:rPr>
                        <a:t>44% fewer edges, 17% higher reward</a:t>
                      </a:r>
                      <a:r>
                        <a:rPr lang="en-PK" sz="1600" b="0" i="0" kern="1200" dirty="0">
                          <a:solidFill>
                            <a:schemeClr val="dk1"/>
                          </a:solidFill>
                          <a:effectLst/>
                          <a:latin typeface="+mn-lt"/>
                          <a:ea typeface="+mn-ea"/>
                          <a:cs typeface="+mn-cs"/>
                        </a:rPr>
                        <a:t>, 10% fewer dangerous events</a:t>
                      </a:r>
                      <a:endParaRPr lang="en-PK" sz="1600" dirty="0"/>
                    </a:p>
                  </a:txBody>
                  <a:tcPr/>
                </a:tc>
                <a:tc>
                  <a:txBody>
                    <a:bodyPr/>
                    <a:lstStyle/>
                    <a:p>
                      <a:r>
                        <a:rPr lang="en-PK" sz="1600" b="1" i="0" kern="1200" dirty="0">
                          <a:solidFill>
                            <a:schemeClr val="dk1"/>
                          </a:solidFill>
                          <a:effectLst/>
                          <a:latin typeface="+mn-lt"/>
                          <a:ea typeface="+mn-ea"/>
                          <a:cs typeface="+mn-cs"/>
                        </a:rPr>
                        <a:t>No target assignment — drones have no goals</a:t>
                      </a:r>
                      <a:endParaRPr lang="en-PK" sz="1600" dirty="0"/>
                    </a:p>
                  </a:txBody>
                  <a:tcPr/>
                </a:tc>
                <a:extLst>
                  <a:ext uri="{0D108BD9-81ED-4DB2-BD59-A6C34878D82A}">
                    <a16:rowId xmlns:a16="http://schemas.microsoft.com/office/drawing/2014/main" val="3701047231"/>
                  </a:ext>
                </a:extLst>
              </a:tr>
              <a:tr h="1382576">
                <a:tc>
                  <a:txBody>
                    <a:bodyPr/>
                    <a:lstStyle/>
                    <a:p>
                      <a:r>
                        <a:rPr lang="en-PK" sz="1600" b="1" i="0" kern="1200" dirty="0">
                          <a:solidFill>
                            <a:schemeClr val="dk1"/>
                          </a:solidFill>
                          <a:effectLst/>
                          <a:latin typeface="+mn-lt"/>
                          <a:ea typeface="+mn-ea"/>
                          <a:cs typeface="+mn-cs"/>
                        </a:rPr>
                        <a:t>Sheng et al. (2026) — DA-MAPPO</a:t>
                      </a:r>
                      <a:endParaRPr lang="en-PK" sz="1600" dirty="0"/>
                    </a:p>
                  </a:txBody>
                  <a:tcPr/>
                </a:tc>
                <a:tc>
                  <a:txBody>
                    <a:bodyPr/>
                    <a:lstStyle/>
                    <a:p>
                      <a:r>
                        <a:rPr lang="en-PK" sz="1600" b="0" i="0" kern="1200" dirty="0">
                          <a:solidFill>
                            <a:schemeClr val="dk1"/>
                          </a:solidFill>
                          <a:effectLst/>
                          <a:latin typeface="+mn-lt"/>
                          <a:ea typeface="+mn-ea"/>
                          <a:cs typeface="+mn-cs"/>
                        </a:rPr>
                        <a:t>Real-time dynamic target assignment embedded in drone observation</a:t>
                      </a:r>
                      <a:endParaRPr lang="en-PK" sz="1600" dirty="0"/>
                    </a:p>
                  </a:txBody>
                  <a:tcPr/>
                </a:tc>
                <a:tc>
                  <a:txBody>
                    <a:bodyPr/>
                    <a:lstStyle/>
                    <a:p>
                      <a:r>
                        <a:rPr lang="en-PK" sz="1600" b="0" i="0" kern="1200" dirty="0">
                          <a:solidFill>
                            <a:schemeClr val="dk1"/>
                          </a:solidFill>
                          <a:effectLst/>
                          <a:latin typeface="+mn-lt"/>
                          <a:ea typeface="+mn-ea"/>
                          <a:cs typeface="+mn-cs"/>
                        </a:rPr>
                        <a:t>Hungarian algorithm at every step + MAPPO + 4-tier reward + curriculum</a:t>
                      </a:r>
                      <a:endParaRPr lang="en-PK" sz="1600" dirty="0"/>
                    </a:p>
                  </a:txBody>
                  <a:tcPr/>
                </a:tc>
                <a:tc>
                  <a:txBody>
                    <a:bodyPr/>
                    <a:lstStyle/>
                    <a:p>
                      <a:r>
                        <a:rPr lang="en-PK" sz="1600" b="0" i="0" kern="1200" dirty="0">
                          <a:solidFill>
                            <a:schemeClr val="dk1"/>
                          </a:solidFill>
                          <a:effectLst/>
                          <a:latin typeface="+mn-lt"/>
                          <a:ea typeface="+mn-ea"/>
                          <a:cs typeface="+mn-cs"/>
                        </a:rPr>
                        <a:t>Custom sim, 3 UAVs, 3 dynamic targets, 30–50 static obstacles</a:t>
                      </a:r>
                      <a:endParaRPr lang="en-PK" sz="1600" dirty="0"/>
                    </a:p>
                  </a:txBody>
                  <a:tcPr/>
                </a:tc>
                <a:tc>
                  <a:txBody>
                    <a:bodyPr/>
                    <a:lstStyle/>
                    <a:p>
                      <a:r>
                        <a:rPr lang="en-PK" sz="1600" b="1" i="0" kern="1200" dirty="0">
                          <a:solidFill>
                            <a:schemeClr val="dk1"/>
                          </a:solidFill>
                          <a:effectLst/>
                          <a:latin typeface="+mn-lt"/>
                          <a:ea typeface="+mn-ea"/>
                          <a:cs typeface="+mn-cs"/>
                        </a:rPr>
                        <a:t>90–99% mission success</a:t>
                      </a:r>
                      <a:r>
                        <a:rPr lang="en-PK" sz="1600" b="0" i="0" kern="1200" dirty="0">
                          <a:solidFill>
                            <a:schemeClr val="dk1"/>
                          </a:solidFill>
                          <a:effectLst/>
                          <a:latin typeface="+mn-lt"/>
                          <a:ea typeface="+mn-ea"/>
                          <a:cs typeface="+mn-cs"/>
                        </a:rPr>
                        <a:t>, robust to 50% packet loss and 6-step delay</a:t>
                      </a:r>
                      <a:endParaRPr lang="en-PK" sz="1600" dirty="0"/>
                    </a:p>
                  </a:txBody>
                  <a:tcPr/>
                </a:tc>
                <a:tc>
                  <a:txBody>
                    <a:bodyPr/>
                    <a:lstStyle/>
                    <a:p>
                      <a:r>
                        <a:rPr lang="en-PK" sz="1600" b="1" i="0" kern="1200" dirty="0">
                          <a:solidFill>
                            <a:schemeClr val="dk1"/>
                          </a:solidFill>
                          <a:effectLst/>
                          <a:latin typeface="+mn-lt"/>
                          <a:ea typeface="+mn-ea"/>
                          <a:cs typeface="+mn-cs"/>
                        </a:rPr>
                        <a:t>3 drones only, no inter-drone collision avoidance</a:t>
                      </a:r>
                      <a:endParaRPr lang="en-PK" sz="1600" dirty="0"/>
                    </a:p>
                  </a:txBody>
                  <a:tcPr/>
                </a:tc>
                <a:extLst>
                  <a:ext uri="{0D108BD9-81ED-4DB2-BD59-A6C34878D82A}">
                    <a16:rowId xmlns:a16="http://schemas.microsoft.com/office/drawing/2014/main" val="4191060957"/>
                  </a:ext>
                </a:extLst>
              </a:tr>
              <a:tr h="1164274">
                <a:tc>
                  <a:txBody>
                    <a:bodyPr/>
                    <a:lstStyle/>
                    <a:p>
                      <a:r>
                        <a:rPr lang="en-PK" sz="1600" b="0" i="0" kern="1200" dirty="0">
                          <a:solidFill>
                            <a:schemeClr val="dk1"/>
                          </a:solidFill>
                          <a:effectLst/>
                          <a:latin typeface="+mn-lt"/>
                          <a:ea typeface="+mn-ea"/>
                          <a:cs typeface="+mn-cs"/>
                        </a:rPr>
                        <a:t>Zhang et al. (2025)</a:t>
                      </a:r>
                      <a:endParaRPr lang="en-PK" sz="1600" dirty="0"/>
                    </a:p>
                  </a:txBody>
                  <a:tcPr/>
                </a:tc>
                <a:tc>
                  <a:txBody>
                    <a:bodyPr/>
                    <a:lstStyle/>
                    <a:p>
                      <a:r>
                        <a:rPr lang="en-PK" sz="1600" b="0" i="0" kern="1200" dirty="0">
                          <a:solidFill>
                            <a:schemeClr val="dk1"/>
                          </a:solidFill>
                          <a:effectLst/>
                          <a:latin typeface="+mn-lt"/>
                          <a:ea typeface="+mn-ea"/>
                          <a:cs typeface="+mn-cs"/>
                        </a:rPr>
                        <a:t>Large-scale UAV swarm navigation with mean-field RL</a:t>
                      </a:r>
                      <a:endParaRPr lang="en-PK" sz="1600" dirty="0"/>
                    </a:p>
                  </a:txBody>
                  <a:tcPr/>
                </a:tc>
                <a:tc>
                  <a:txBody>
                    <a:bodyPr/>
                    <a:lstStyle/>
                    <a:p>
                      <a:r>
                        <a:rPr lang="en-PK" sz="1600" b="0" i="0" kern="1200" dirty="0">
                          <a:solidFill>
                            <a:schemeClr val="dk1"/>
                          </a:solidFill>
                          <a:effectLst/>
                          <a:latin typeface="+mn-lt"/>
                          <a:ea typeface="+mn-ea"/>
                          <a:cs typeface="+mn-cs"/>
                        </a:rPr>
                        <a:t>Mean-field DDPG + multi-head attention + CTDE</a:t>
                      </a:r>
                      <a:endParaRPr lang="en-PK" sz="1600" dirty="0"/>
                    </a:p>
                  </a:txBody>
                  <a:tcPr/>
                </a:tc>
                <a:tc>
                  <a:txBody>
                    <a:bodyPr/>
                    <a:lstStyle/>
                    <a:p>
                      <a:r>
                        <a:rPr lang="en-PK" sz="1600" b="0" i="0" kern="1200" dirty="0">
                          <a:solidFill>
                            <a:schemeClr val="dk1"/>
                          </a:solidFill>
                          <a:effectLst/>
                          <a:latin typeface="+mn-lt"/>
                          <a:ea typeface="+mn-ea"/>
                          <a:cs typeface="+mn-cs"/>
                        </a:rPr>
                        <a:t>Custom 2D sim, 20–120 UAVs, static obstacles</a:t>
                      </a:r>
                      <a:endParaRPr lang="en-PK" sz="1600" dirty="0"/>
                    </a:p>
                  </a:txBody>
                  <a:tcPr/>
                </a:tc>
                <a:tc>
                  <a:txBody>
                    <a:bodyPr/>
                    <a:lstStyle/>
                    <a:p>
                      <a:r>
                        <a:rPr lang="en-PK" sz="1600" b="1" i="0" kern="1200" dirty="0">
                          <a:solidFill>
                            <a:schemeClr val="dk1"/>
                          </a:solidFill>
                          <a:effectLst/>
                          <a:latin typeface="+mn-lt"/>
                          <a:ea typeface="+mn-ea"/>
                          <a:cs typeface="+mn-cs"/>
                        </a:rPr>
                        <a:t>&gt;90% success at 120 drones</a:t>
                      </a:r>
                      <a:r>
                        <a:rPr lang="en-PK" sz="1600" b="0" i="0" kern="1200" dirty="0">
                          <a:solidFill>
                            <a:schemeClr val="dk1"/>
                          </a:solidFill>
                          <a:effectLst/>
                          <a:latin typeface="+mn-lt"/>
                          <a:ea typeface="+mn-ea"/>
                          <a:cs typeface="+mn-cs"/>
                        </a:rPr>
                        <a:t> where baselines collapse</a:t>
                      </a:r>
                      <a:endParaRPr lang="en-PK" sz="1600" dirty="0"/>
                    </a:p>
                  </a:txBody>
                  <a:tcPr/>
                </a:tc>
                <a:tc>
                  <a:txBody>
                    <a:bodyPr/>
                    <a:lstStyle/>
                    <a:p>
                      <a:r>
                        <a:rPr lang="en-PK" sz="1600" b="0" i="0" kern="1200" dirty="0">
                          <a:solidFill>
                            <a:schemeClr val="dk1"/>
                          </a:solidFill>
                          <a:effectLst/>
                          <a:latin typeface="+mn-lt"/>
                          <a:ea typeface="+mn-ea"/>
                          <a:cs typeface="+mn-cs"/>
                        </a:rPr>
                        <a:t>static obstacles, homogeneous drones</a:t>
                      </a:r>
                      <a:endParaRPr lang="en-PK" sz="1600" dirty="0"/>
                    </a:p>
                  </a:txBody>
                  <a:tcPr/>
                </a:tc>
                <a:extLst>
                  <a:ext uri="{0D108BD9-81ED-4DB2-BD59-A6C34878D82A}">
                    <a16:rowId xmlns:a16="http://schemas.microsoft.com/office/drawing/2014/main" val="3666200764"/>
                  </a:ext>
                </a:extLst>
              </a:tr>
              <a:tr h="1382576">
                <a:tc>
                  <a:txBody>
                    <a:bodyPr/>
                    <a:lstStyle/>
                    <a:p>
                      <a:r>
                        <a:rPr lang="en-PK" sz="1600" b="0" i="0" kern="1200" dirty="0">
                          <a:solidFill>
                            <a:schemeClr val="dk1"/>
                          </a:solidFill>
                          <a:effectLst/>
                          <a:latin typeface="+mn-lt"/>
                          <a:ea typeface="+mn-ea"/>
                          <a:cs typeface="+mn-cs"/>
                        </a:rPr>
                        <a:t>Xu et al. (2026) — </a:t>
                      </a:r>
                      <a:r>
                        <a:rPr lang="en-PK" sz="1600" b="0" i="1" kern="1200" dirty="0">
                          <a:solidFill>
                            <a:schemeClr val="dk1"/>
                          </a:solidFill>
                          <a:effectLst/>
                          <a:latin typeface="+mn-lt"/>
                          <a:ea typeface="+mn-ea"/>
                          <a:cs typeface="+mn-cs"/>
                        </a:rPr>
                        <a:t>MRLMN</a:t>
                      </a:r>
                      <a:endParaRPr lang="en-PK" sz="1600" dirty="0"/>
                    </a:p>
                  </a:txBody>
                  <a:tcPr/>
                </a:tc>
                <a:tc>
                  <a:txBody>
                    <a:bodyPr/>
                    <a:lstStyle/>
                    <a:p>
                      <a:r>
                        <a:rPr lang="en-PK" sz="1600" b="0" i="0" kern="1200" dirty="0">
                          <a:solidFill>
                            <a:schemeClr val="dk1"/>
                          </a:solidFill>
                          <a:effectLst/>
                          <a:latin typeface="+mn-lt"/>
                          <a:ea typeface="+mn-ea"/>
                          <a:cs typeface="+mn-cs"/>
                        </a:rPr>
                        <a:t>UAV multi-hop networking with LLM-guided MARL</a:t>
                      </a:r>
                      <a:endParaRPr lang="en-PK" sz="1600" dirty="0"/>
                    </a:p>
                  </a:txBody>
                  <a:tcPr/>
                </a:tc>
                <a:tc>
                  <a:txBody>
                    <a:bodyPr/>
                    <a:lstStyle/>
                    <a:p>
                      <a:r>
                        <a:rPr lang="en-PK" sz="1600" b="0" i="0" kern="1200" dirty="0">
                          <a:solidFill>
                            <a:schemeClr val="dk1"/>
                          </a:solidFill>
                          <a:effectLst/>
                          <a:latin typeface="+mn-lt"/>
                          <a:ea typeface="+mn-ea"/>
                          <a:cs typeface="+mn-cs"/>
                        </a:rPr>
                        <a:t>GPT-4o knowledge distillation + IPPO + role-based reward decomposition</a:t>
                      </a:r>
                      <a:endParaRPr lang="en-PK" sz="1600" dirty="0"/>
                    </a:p>
                  </a:txBody>
                  <a:tcPr/>
                </a:tc>
                <a:tc>
                  <a:txBody>
                    <a:bodyPr/>
                    <a:lstStyle/>
                    <a:p>
                      <a:r>
                        <a:rPr lang="en-PK" sz="1600" b="0" i="0" kern="1200" dirty="0">
                          <a:solidFill>
                            <a:schemeClr val="dk1"/>
                          </a:solidFill>
                          <a:effectLst/>
                          <a:latin typeface="+mn-lt"/>
                          <a:ea typeface="+mn-ea"/>
                          <a:cs typeface="+mn-cs"/>
                        </a:rPr>
                        <a:t>Custom sim, 12–24 UAVs, 150 ground users</a:t>
                      </a:r>
                      <a:endParaRPr lang="en-PK" sz="1600" dirty="0"/>
                    </a:p>
                  </a:txBody>
                  <a:tcPr/>
                </a:tc>
                <a:tc>
                  <a:txBody>
                    <a:bodyPr/>
                    <a:lstStyle/>
                    <a:p>
                      <a:r>
                        <a:rPr lang="en-PK" sz="1600" b="1" i="0" kern="1200" dirty="0">
                          <a:solidFill>
                            <a:schemeClr val="dk1"/>
                          </a:solidFill>
                          <a:effectLst/>
                          <a:latin typeface="+mn-lt"/>
                          <a:ea typeface="+mn-ea"/>
                          <a:cs typeface="+mn-cs"/>
                        </a:rPr>
                        <a:t>52% higher data rate</a:t>
                      </a:r>
                      <a:r>
                        <a:rPr lang="en-PK" sz="1600" b="0" i="0" kern="1200" dirty="0">
                          <a:solidFill>
                            <a:schemeClr val="dk1"/>
                          </a:solidFill>
                          <a:effectLst/>
                          <a:latin typeface="+mn-lt"/>
                          <a:ea typeface="+mn-ea"/>
                          <a:cs typeface="+mn-cs"/>
                        </a:rPr>
                        <a:t>, 27% more user coverage</a:t>
                      </a:r>
                      <a:endParaRPr lang="en-PK" sz="1600" dirty="0"/>
                    </a:p>
                  </a:txBody>
                  <a:tcPr/>
                </a:tc>
                <a:tc>
                  <a:txBody>
                    <a:bodyPr/>
                    <a:lstStyle/>
                    <a:p>
                      <a:r>
                        <a:rPr lang="en-PK" sz="1600" b="0" i="0" kern="1200" dirty="0">
                          <a:solidFill>
                            <a:schemeClr val="dk1"/>
                          </a:solidFill>
                          <a:effectLst/>
                          <a:latin typeface="+mn-lt"/>
                          <a:ea typeface="+mn-ea"/>
                          <a:cs typeface="+mn-cs"/>
                        </a:rPr>
                        <a:t>GPT-4o dependency, no energy modeling</a:t>
                      </a:r>
                      <a:endParaRPr lang="en-PK" sz="1600" dirty="0"/>
                    </a:p>
                  </a:txBody>
                  <a:tcPr/>
                </a:tc>
                <a:extLst>
                  <a:ext uri="{0D108BD9-81ED-4DB2-BD59-A6C34878D82A}">
                    <a16:rowId xmlns:a16="http://schemas.microsoft.com/office/drawing/2014/main" val="486443372"/>
                  </a:ext>
                </a:extLst>
              </a:tr>
            </a:tbl>
          </a:graphicData>
        </a:graphic>
      </p:graphicFrame>
    </p:spTree>
    <p:extLst>
      <p:ext uri="{BB962C8B-B14F-4D97-AF65-F5344CB8AC3E}">
        <p14:creationId xmlns:p14="http://schemas.microsoft.com/office/powerpoint/2010/main" val="1363513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AB51-FB50-F65F-D968-A82BB4BFE790}"/>
              </a:ext>
            </a:extLst>
          </p:cNvPr>
          <p:cNvSpPr>
            <a:spLocks noGrp="1"/>
          </p:cNvSpPr>
          <p:nvPr>
            <p:ph type="title"/>
          </p:nvPr>
        </p:nvSpPr>
        <p:spPr>
          <a:xfrm>
            <a:off x="593802" y="956261"/>
            <a:ext cx="10515600" cy="676275"/>
          </a:xfrm>
        </p:spPr>
        <p:txBody>
          <a:bodyPr>
            <a:normAutofit/>
          </a:bodyPr>
          <a:lstStyle/>
          <a:p>
            <a:r>
              <a:rPr lang="en-PK" sz="4000" dirty="0"/>
              <a:t>Gap in existing work:</a:t>
            </a:r>
          </a:p>
        </p:txBody>
      </p:sp>
      <p:sp>
        <p:nvSpPr>
          <p:cNvPr id="3" name="Content Placeholder 2">
            <a:extLst>
              <a:ext uri="{FF2B5EF4-FFF2-40B4-BE49-F238E27FC236}">
                <a16:creationId xmlns:a16="http://schemas.microsoft.com/office/drawing/2014/main" id="{9FC24440-9D97-2A46-9EC3-E7ACE72628BB}"/>
              </a:ext>
            </a:extLst>
          </p:cNvPr>
          <p:cNvSpPr>
            <a:spLocks noGrp="1"/>
          </p:cNvSpPr>
          <p:nvPr>
            <p:ph idx="1"/>
          </p:nvPr>
        </p:nvSpPr>
        <p:spPr>
          <a:xfrm>
            <a:off x="1224311" y="2087465"/>
            <a:ext cx="9743378" cy="2683069"/>
          </a:xfrm>
        </p:spPr>
        <p:txBody>
          <a:bodyPr>
            <a:normAutofit/>
          </a:bodyPr>
          <a:lstStyle/>
          <a:p>
            <a:pPr>
              <a:lnSpc>
                <a:spcPct val="100000"/>
              </a:lnSpc>
            </a:pPr>
            <a:r>
              <a:rPr lang="en-PK" sz="2200" dirty="0"/>
              <a:t>Assignment and avoidance always studied in isolation.</a:t>
            </a:r>
          </a:p>
          <a:p>
            <a:pPr>
              <a:lnSpc>
                <a:spcPct val="100000"/>
              </a:lnSpc>
            </a:pPr>
            <a:r>
              <a:rPr lang="en-PK" sz="2200" dirty="0"/>
              <a:t>No single learned policy handles both simultaneously.</a:t>
            </a:r>
          </a:p>
          <a:p>
            <a:pPr>
              <a:lnSpc>
                <a:spcPct val="100000"/>
              </a:lnSpc>
            </a:pPr>
            <a:r>
              <a:rPr lang="en-PK" sz="2200" dirty="0"/>
              <a:t>All frameworks use fixed coefficients set before training.</a:t>
            </a:r>
          </a:p>
          <a:p>
            <a:pPr>
              <a:lnSpc>
                <a:spcPct val="100000"/>
              </a:lnSpc>
            </a:pPr>
            <a:r>
              <a:rPr lang="en-PK" sz="2200" dirty="0"/>
              <a:t>Assignment weight and avoidance weight never change mid-mission.</a:t>
            </a:r>
          </a:p>
          <a:p>
            <a:pPr>
              <a:lnSpc>
                <a:spcPct val="100000"/>
              </a:lnSpc>
            </a:pPr>
            <a:r>
              <a:rPr lang="en-PK" sz="2200" dirty="0"/>
              <a:t>No mechanism exists to learn priority  this is the gap.</a:t>
            </a:r>
          </a:p>
        </p:txBody>
      </p:sp>
    </p:spTree>
    <p:extLst>
      <p:ext uri="{BB962C8B-B14F-4D97-AF65-F5344CB8AC3E}">
        <p14:creationId xmlns:p14="http://schemas.microsoft.com/office/powerpoint/2010/main" val="2265985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tile tx="-2413000" ty="-381000" sx="9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0949E-70C5-8F40-FA84-D6C01613ED42}"/>
              </a:ext>
            </a:extLst>
          </p:cNvPr>
          <p:cNvSpPr>
            <a:spLocks noGrp="1"/>
          </p:cNvSpPr>
          <p:nvPr>
            <p:ph type="title"/>
          </p:nvPr>
        </p:nvSpPr>
        <p:spPr>
          <a:xfrm>
            <a:off x="339437" y="1571437"/>
            <a:ext cx="11513126" cy="929286"/>
          </a:xfrm>
        </p:spPr>
        <p:txBody>
          <a:bodyPr>
            <a:normAutofit/>
          </a:bodyPr>
          <a:lstStyle/>
          <a:p>
            <a:pPr algn="ctr"/>
            <a:r>
              <a:rPr lang="en-PK" sz="4800" dirty="0"/>
              <a:t>Problem Statement:</a:t>
            </a:r>
          </a:p>
        </p:txBody>
      </p:sp>
      <p:sp>
        <p:nvSpPr>
          <p:cNvPr id="3" name="Content Placeholder 2">
            <a:extLst>
              <a:ext uri="{FF2B5EF4-FFF2-40B4-BE49-F238E27FC236}">
                <a16:creationId xmlns:a16="http://schemas.microsoft.com/office/drawing/2014/main" id="{977F8501-E557-FAC7-B745-2C4EFF88AE20}"/>
              </a:ext>
            </a:extLst>
          </p:cNvPr>
          <p:cNvSpPr>
            <a:spLocks noGrp="1"/>
          </p:cNvSpPr>
          <p:nvPr>
            <p:ph idx="1"/>
          </p:nvPr>
        </p:nvSpPr>
        <p:spPr>
          <a:xfrm>
            <a:off x="892134" y="2630466"/>
            <a:ext cx="10407732" cy="2656097"/>
          </a:xfrm>
        </p:spPr>
        <p:txBody>
          <a:bodyPr>
            <a:normAutofit/>
          </a:bodyPr>
          <a:lstStyle/>
          <a:p>
            <a:pPr marL="0" indent="0" algn="ctr">
              <a:lnSpc>
                <a:spcPct val="100000"/>
              </a:lnSpc>
              <a:buNone/>
            </a:pPr>
            <a:r>
              <a:rPr lang="en-US" dirty="0"/>
              <a:t>In multi-UAV missions, task allocation and collision avoidance are inherently interdependent, as assignment decisions influence trajectories and avoidance maneuvers can invalidate assigned tasks. This coupling can lead to uncovered targets, reassignment conflicts and new collision risks</a:t>
            </a:r>
            <a:r>
              <a:rPr lang="en-PK" sz="2000" dirty="0"/>
              <a:t> </a:t>
            </a:r>
            <a:r>
              <a:rPr lang="en-US" sz="2000" dirty="0"/>
              <a:t>.</a:t>
            </a:r>
            <a:endParaRPr lang="en-PK" sz="2000" dirty="0"/>
          </a:p>
        </p:txBody>
      </p:sp>
    </p:spTree>
    <p:extLst>
      <p:ext uri="{BB962C8B-B14F-4D97-AF65-F5344CB8AC3E}">
        <p14:creationId xmlns:p14="http://schemas.microsoft.com/office/powerpoint/2010/main" val="2024015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7FFD-AAC2-A7BE-1B49-657B92D479FB}"/>
              </a:ext>
            </a:extLst>
          </p:cNvPr>
          <p:cNvSpPr>
            <a:spLocks noGrp="1"/>
          </p:cNvSpPr>
          <p:nvPr>
            <p:ph type="title"/>
          </p:nvPr>
        </p:nvSpPr>
        <p:spPr>
          <a:xfrm>
            <a:off x="838200" y="822094"/>
            <a:ext cx="10515600" cy="573026"/>
          </a:xfrm>
        </p:spPr>
        <p:txBody>
          <a:bodyPr>
            <a:noAutofit/>
          </a:bodyPr>
          <a:lstStyle/>
          <a:p>
            <a:r>
              <a:rPr lang="en-PK" sz="4000" dirty="0"/>
              <a:t>Research Objective</a:t>
            </a:r>
          </a:p>
        </p:txBody>
      </p:sp>
      <p:sp>
        <p:nvSpPr>
          <p:cNvPr id="3" name="Content Placeholder 2">
            <a:extLst>
              <a:ext uri="{FF2B5EF4-FFF2-40B4-BE49-F238E27FC236}">
                <a16:creationId xmlns:a16="http://schemas.microsoft.com/office/drawing/2014/main" id="{007EBA45-1327-7AB0-2D7B-D25F695BC580}"/>
              </a:ext>
            </a:extLst>
          </p:cNvPr>
          <p:cNvSpPr>
            <a:spLocks noGrp="1"/>
          </p:cNvSpPr>
          <p:nvPr>
            <p:ph idx="1"/>
          </p:nvPr>
        </p:nvSpPr>
        <p:spPr>
          <a:xfrm>
            <a:off x="1420637" y="1918011"/>
            <a:ext cx="9764036" cy="3544870"/>
          </a:xfrm>
        </p:spPr>
        <p:txBody>
          <a:bodyPr>
            <a:normAutofit/>
          </a:bodyPr>
          <a:lstStyle/>
          <a:p>
            <a:pPr>
              <a:lnSpc>
                <a:spcPct val="150000"/>
              </a:lnSpc>
            </a:pPr>
            <a:r>
              <a:rPr lang="en-GB" sz="2200" dirty="0"/>
              <a:t>Design a learned mechanism to balance assignment and avoidance jointly.</a:t>
            </a:r>
          </a:p>
          <a:p>
            <a:pPr>
              <a:lnSpc>
                <a:spcPct val="150000"/>
              </a:lnSpc>
            </a:pPr>
            <a:r>
              <a:rPr lang="en-GB" sz="2200" dirty="0"/>
              <a:t>Test scalability across 3, 5, and 8 drones.</a:t>
            </a:r>
          </a:p>
          <a:p>
            <a:pPr>
              <a:lnSpc>
                <a:spcPct val="150000"/>
              </a:lnSpc>
            </a:pPr>
            <a:r>
              <a:rPr lang="en-GB" sz="2200" dirty="0"/>
              <a:t>Compare learned </a:t>
            </a:r>
            <a:r>
              <a:rPr lang="el-GR" sz="2200" dirty="0"/>
              <a:t>α </a:t>
            </a:r>
            <a:r>
              <a:rPr lang="en-GB" sz="2200" dirty="0"/>
              <a:t>against fixed reward weights.</a:t>
            </a:r>
          </a:p>
          <a:p>
            <a:pPr>
              <a:lnSpc>
                <a:spcPct val="150000"/>
              </a:lnSpc>
            </a:pPr>
            <a:r>
              <a:rPr lang="en-GB" sz="2200" dirty="0"/>
              <a:t>Find where and how the framework fails.</a:t>
            </a:r>
            <a:endParaRPr lang="en-PK" sz="2200" dirty="0"/>
          </a:p>
        </p:txBody>
      </p:sp>
    </p:spTree>
    <p:extLst>
      <p:ext uri="{BB962C8B-B14F-4D97-AF65-F5344CB8AC3E}">
        <p14:creationId xmlns:p14="http://schemas.microsoft.com/office/powerpoint/2010/main" val="3863674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AF4A-C5EE-8090-9029-F5AF6CD6B425}"/>
              </a:ext>
            </a:extLst>
          </p:cNvPr>
          <p:cNvSpPr>
            <a:spLocks noGrp="1"/>
          </p:cNvSpPr>
          <p:nvPr>
            <p:ph type="title"/>
          </p:nvPr>
        </p:nvSpPr>
        <p:spPr>
          <a:xfrm>
            <a:off x="567541" y="526005"/>
            <a:ext cx="6829721" cy="565293"/>
          </a:xfrm>
        </p:spPr>
        <p:txBody>
          <a:bodyPr>
            <a:normAutofit fontScale="90000"/>
          </a:bodyPr>
          <a:lstStyle/>
          <a:p>
            <a:r>
              <a:rPr lang="en-PK" sz="4000" dirty="0"/>
              <a:t>Proposed Methodology:</a:t>
            </a:r>
          </a:p>
        </p:txBody>
      </p:sp>
      <p:sp>
        <p:nvSpPr>
          <p:cNvPr id="4" name="Content Placeholder 3">
            <a:extLst>
              <a:ext uri="{FF2B5EF4-FFF2-40B4-BE49-F238E27FC236}">
                <a16:creationId xmlns:a16="http://schemas.microsoft.com/office/drawing/2014/main" id="{DECD119F-90EF-D2B2-A497-A3DD53A3AF8F}"/>
              </a:ext>
            </a:extLst>
          </p:cNvPr>
          <p:cNvSpPr>
            <a:spLocks noGrp="1"/>
          </p:cNvSpPr>
          <p:nvPr>
            <p:ph idx="1"/>
          </p:nvPr>
        </p:nvSpPr>
        <p:spPr>
          <a:xfrm rot="5400000">
            <a:off x="11696826" y="30830"/>
            <a:ext cx="523259" cy="467090"/>
          </a:xfrm>
        </p:spPr>
        <p:txBody>
          <a:bodyPr>
            <a:normAutofit lnSpcReduction="10000"/>
          </a:bodyPr>
          <a:lstStyle/>
          <a:p>
            <a:pPr marL="0" indent="0">
              <a:buNone/>
            </a:pPr>
            <a:r>
              <a:rPr lang="en-PK" dirty="0">
                <a:solidFill>
                  <a:schemeClr val="bg1"/>
                </a:solidFill>
              </a:rPr>
              <a:t>.</a:t>
            </a:r>
          </a:p>
        </p:txBody>
      </p:sp>
      <p:pic>
        <p:nvPicPr>
          <p:cNvPr id="6" name="Picture 5">
            <a:extLst>
              <a:ext uri="{FF2B5EF4-FFF2-40B4-BE49-F238E27FC236}">
                <a16:creationId xmlns:a16="http://schemas.microsoft.com/office/drawing/2014/main" id="{1B98A8D4-07D1-7EFC-B1F7-3325B8A53EDC}"/>
              </a:ext>
            </a:extLst>
          </p:cNvPr>
          <p:cNvPicPr>
            <a:picLocks noChangeAspect="1"/>
          </p:cNvPicPr>
          <p:nvPr/>
        </p:nvPicPr>
        <p:blipFill>
          <a:blip r:embed="rId2"/>
          <a:stretch>
            <a:fillRect/>
          </a:stretch>
        </p:blipFill>
        <p:spPr>
          <a:xfrm>
            <a:off x="1629508" y="1213337"/>
            <a:ext cx="9120553" cy="4974846"/>
          </a:xfrm>
          <a:prstGeom prst="rect">
            <a:avLst/>
          </a:prstGeom>
        </p:spPr>
      </p:pic>
    </p:spTree>
    <p:extLst>
      <p:ext uri="{BB962C8B-B14F-4D97-AF65-F5344CB8AC3E}">
        <p14:creationId xmlns:p14="http://schemas.microsoft.com/office/powerpoint/2010/main" val="189272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B344-A464-2697-F1BA-57B78D5DC376}"/>
              </a:ext>
            </a:extLst>
          </p:cNvPr>
          <p:cNvSpPr>
            <a:spLocks noGrp="1"/>
          </p:cNvSpPr>
          <p:nvPr>
            <p:ph type="title"/>
          </p:nvPr>
        </p:nvSpPr>
        <p:spPr>
          <a:xfrm>
            <a:off x="1304692" y="464384"/>
            <a:ext cx="9445084" cy="632402"/>
          </a:xfrm>
        </p:spPr>
        <p:txBody>
          <a:bodyPr>
            <a:normAutofit fontScale="90000"/>
          </a:bodyPr>
          <a:lstStyle/>
          <a:p>
            <a:r>
              <a:rPr lang="en-PK" sz="4000" dirty="0"/>
              <a:t>References:</a:t>
            </a:r>
          </a:p>
        </p:txBody>
      </p:sp>
      <p:sp>
        <p:nvSpPr>
          <p:cNvPr id="3" name="Content Placeholder 2">
            <a:extLst>
              <a:ext uri="{FF2B5EF4-FFF2-40B4-BE49-F238E27FC236}">
                <a16:creationId xmlns:a16="http://schemas.microsoft.com/office/drawing/2014/main" id="{1EC21850-96D8-C13B-71D8-229419A2F009}"/>
              </a:ext>
            </a:extLst>
          </p:cNvPr>
          <p:cNvSpPr>
            <a:spLocks noGrp="1"/>
          </p:cNvSpPr>
          <p:nvPr>
            <p:ph idx="1"/>
          </p:nvPr>
        </p:nvSpPr>
        <p:spPr>
          <a:xfrm>
            <a:off x="1304692" y="1126273"/>
            <a:ext cx="9545445" cy="4951142"/>
          </a:xfrm>
        </p:spPr>
        <p:txBody>
          <a:bodyPr>
            <a:normAutofit fontScale="92500" lnSpcReduction="20000"/>
          </a:bodyPr>
          <a:lstStyle/>
          <a:p>
            <a:pPr>
              <a:lnSpc>
                <a:spcPct val="120000"/>
              </a:lnSpc>
            </a:pPr>
            <a:r>
              <a:rPr lang="en-PK" sz="1600" dirty="0"/>
              <a:t> S. Govinda, B. Brik, and S. Harous, "A survey on deep reinforcement learning applications in autonomous systems," IEEE Trans. Intell. Transp. Syst., vol. 26, no. 7, 2025.</a:t>
            </a:r>
          </a:p>
          <a:p>
            <a:pPr>
              <a:lnSpc>
                <a:spcPct val="120000"/>
              </a:lnSpc>
            </a:pPr>
            <a:r>
              <a:rPr lang="en-PK" sz="1600" dirty="0"/>
              <a:t> J. Tang, Y. Liang, and K. Li, "Dynamic scene path planning of UAVs based on deep reinforcement learning," Drones, vol. 8, no. 2, p. 60, 2024.</a:t>
            </a:r>
          </a:p>
          <a:p>
            <a:pPr>
              <a:lnSpc>
                <a:spcPct val="120000"/>
              </a:lnSpc>
            </a:pPr>
            <a:r>
              <a:rPr lang="en-PK" sz="1600" dirty="0"/>
              <a:t>X. Kong, Y. Zhou, Z. Li, and S. Wang, "Multi-UAV simultaneous target assignment and path planning based on deep reinforcement learning in dynamic multiple obstacles environments," Front.Neurorobot., vol. 17, p. 1302898, 2024.</a:t>
            </a:r>
          </a:p>
          <a:p>
            <a:pPr>
              <a:lnSpc>
                <a:spcPct val="120000"/>
              </a:lnSpc>
            </a:pPr>
            <a:r>
              <a:rPr lang="en-PK" sz="1600" dirty="0"/>
              <a:t>R. Jarray, I. Zaghbani, and S. Bouallègue, "Dynamic reward-based deep reinforcement learning algorithm for UAV path planning in large-scale environments," Procedia Comput. Sci., vol.270, pp. 692–702, 2025.</a:t>
            </a:r>
          </a:p>
          <a:p>
            <a:pPr>
              <a:lnSpc>
                <a:spcPct val="120000"/>
              </a:lnSpc>
            </a:pPr>
            <a:r>
              <a:rPr lang="en-PK" sz="1600" dirty="0"/>
              <a:t>M. R. Rezaee, N. A. W. A. Hamid, M. Hussin, and Z. A. Zukarnain, "Efficient multi-agent deep reinforcement learning algorithm for multi-UAV collision avoidance," Appl. Soft Comput., vol.197, p. 115145, 2026.</a:t>
            </a:r>
          </a:p>
          <a:p>
            <a:pPr>
              <a:lnSpc>
                <a:spcPct val="120000"/>
              </a:lnSpc>
            </a:pPr>
            <a:r>
              <a:rPr lang="en-PK" sz="1600" dirty="0"/>
              <a:t>Y. Sheng, X. Xie, H. Liu, and J. Li, "Dynamic target assignment and cooperative decision-making for UAV swarms based on multi-agent reinforcement learning," IEEE Internet Things J., doi:10.1109/JIOT.2026.3686066, 2026.</a:t>
            </a:r>
          </a:p>
          <a:p>
            <a:pPr>
              <a:lnSpc>
                <a:spcPct val="120000"/>
              </a:lnSpc>
            </a:pPr>
            <a:r>
              <a:rPr lang="en-PK" sz="1600" dirty="0"/>
              <a:t> Y. Zhang et al., "Large-scale UAV swarm path planning based on mean-field reinforcement learning," Chin. J. Aeronaut., vol. 38, no. 9, p. 103484, 2025.</a:t>
            </a:r>
          </a:p>
          <a:p>
            <a:pPr>
              <a:lnSpc>
                <a:spcPct val="120000"/>
              </a:lnSpc>
            </a:pPr>
            <a:r>
              <a:rPr lang="en-PK" sz="1600" dirty="0"/>
              <a:t>Y. Xu et al., "Scalable UAV multi-hop networking via multi-agent reinforcement learning with large language models," arXiv:2505.08448, 2026.</a:t>
            </a:r>
          </a:p>
        </p:txBody>
      </p:sp>
    </p:spTree>
    <p:extLst>
      <p:ext uri="{BB962C8B-B14F-4D97-AF65-F5344CB8AC3E}">
        <p14:creationId xmlns:p14="http://schemas.microsoft.com/office/powerpoint/2010/main" val="312212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26991-8F86-640F-C145-2A659C5986F5}"/>
              </a:ext>
            </a:extLst>
          </p:cNvPr>
          <p:cNvSpPr txBox="1"/>
          <p:nvPr/>
        </p:nvSpPr>
        <p:spPr>
          <a:xfrm>
            <a:off x="0" y="2413337"/>
            <a:ext cx="12192000" cy="2215991"/>
          </a:xfrm>
          <a:prstGeom prst="rect">
            <a:avLst/>
          </a:prstGeom>
          <a:noFill/>
        </p:spPr>
        <p:txBody>
          <a:bodyPr wrap="square" rtlCol="0">
            <a:spAutoFit/>
          </a:bodyPr>
          <a:lstStyle/>
          <a:p>
            <a:pPr algn="ctr"/>
            <a:r>
              <a:rPr lang="en-PK" sz="13800" dirty="0">
                <a:latin typeface="Dreaming Outloud Script Pro" panose="03050502040304050704" pitchFamily="66" charset="77"/>
                <a:cs typeface="Dreaming Outloud Script Pro" panose="03050502040304050704" pitchFamily="66" charset="77"/>
              </a:rPr>
              <a:t>Thank you!</a:t>
            </a:r>
          </a:p>
        </p:txBody>
      </p:sp>
    </p:spTree>
    <p:extLst>
      <p:ext uri="{BB962C8B-B14F-4D97-AF65-F5344CB8AC3E}">
        <p14:creationId xmlns:p14="http://schemas.microsoft.com/office/powerpoint/2010/main" val="1357600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638</TotalTime>
  <Words>1173</Words>
  <Application>Microsoft Macintosh PowerPoint</Application>
  <PresentationFormat>Widescreen</PresentationFormat>
  <Paragraphs>116</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Dreaming Outloud Script Pro</vt:lpstr>
      <vt:lpstr>Times New Roman</vt:lpstr>
      <vt:lpstr>Office Theme</vt:lpstr>
      <vt:lpstr>MAPPO Framework for Joint Dynamic Target Assignment and Conflict-Aware Collision Avoidance in Multi-UAV Systems </vt:lpstr>
      <vt:lpstr>Introduction: Why UAVs?</vt:lpstr>
      <vt:lpstr>Introduction: Multi-UAV Coordination</vt:lpstr>
      <vt:lpstr>Introduction: DRL &amp; MARL</vt:lpstr>
      <vt:lpstr>Motivation:</vt:lpstr>
      <vt:lpstr>Related Work:</vt:lpstr>
      <vt:lpstr>Related Work Cont…</vt:lpstr>
      <vt:lpstr>Gap in existing work:</vt:lpstr>
      <vt:lpstr>Problem Statement:</vt:lpstr>
      <vt:lpstr>Research Objective</vt:lpstr>
      <vt:lpstr>Proposed Methodology: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SP25-RCS-009(Ayesha Khalil)</dc:creator>
  <cp:lastModifiedBy>SP25-RCS-009(Ayesha Khalil)</cp:lastModifiedBy>
  <cp:revision>103</cp:revision>
  <dcterms:created xsi:type="dcterms:W3CDTF">2026-06-08T18:24:17Z</dcterms:created>
  <dcterms:modified xsi:type="dcterms:W3CDTF">2026-06-21T09:30:09Z</dcterms:modified>
</cp:coreProperties>
</file>