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p:restoredTop sz="94651"/>
  </p:normalViewPr>
  <p:slideViewPr>
    <p:cSldViewPr snapToGrid="0">
      <p:cViewPr>
        <p:scale>
          <a:sx n="95" d="100"/>
          <a:sy n="95" d="100"/>
        </p:scale>
        <p:origin x="1144" y="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6CB12D-185D-5344-9B71-AEDA2526EDBC}" type="datetimeFigureOut">
              <a:rPr lang="en-PK" smtClean="0"/>
              <a:t>09/06/2026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6ED561-9D6B-9B49-9281-818B0567734D}" type="slidenum">
              <a:rPr lang="en-PK" smtClean="0"/>
              <a:t>‹#›</a:t>
            </a:fld>
            <a:endParaRPr lang="en-PK"/>
          </a:p>
        </p:txBody>
      </p:sp>
    </p:spTree>
    <p:extLst>
      <p:ext uri="{BB962C8B-B14F-4D97-AF65-F5344CB8AC3E}">
        <p14:creationId xmlns:p14="http://schemas.microsoft.com/office/powerpoint/2010/main" val="159596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C6ED561-9D6B-9B49-9281-818B0567734D}" type="slidenum">
              <a:rPr lang="en-PK" smtClean="0"/>
              <a:t>7</a:t>
            </a:fld>
            <a:endParaRPr lang="en-PK"/>
          </a:p>
        </p:txBody>
      </p:sp>
    </p:spTree>
    <p:extLst>
      <p:ext uri="{BB962C8B-B14F-4D97-AF65-F5344CB8AC3E}">
        <p14:creationId xmlns:p14="http://schemas.microsoft.com/office/powerpoint/2010/main" val="3132576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19342-CB32-1C41-53DE-FB109FAF025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K"/>
          </a:p>
        </p:txBody>
      </p:sp>
      <p:sp>
        <p:nvSpPr>
          <p:cNvPr id="3" name="Subtitle 2">
            <a:extLst>
              <a:ext uri="{FF2B5EF4-FFF2-40B4-BE49-F238E27FC236}">
                <a16:creationId xmlns:a16="http://schemas.microsoft.com/office/drawing/2014/main" id="{4DB8B053-9343-827D-2DEA-FED0289BA7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K"/>
          </a:p>
        </p:txBody>
      </p:sp>
      <p:sp>
        <p:nvSpPr>
          <p:cNvPr id="4" name="Date Placeholder 3">
            <a:extLst>
              <a:ext uri="{FF2B5EF4-FFF2-40B4-BE49-F238E27FC236}">
                <a16:creationId xmlns:a16="http://schemas.microsoft.com/office/drawing/2014/main" id="{190142F0-1846-83DD-F7FD-B2004147D187}"/>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5" name="Footer Placeholder 4">
            <a:extLst>
              <a:ext uri="{FF2B5EF4-FFF2-40B4-BE49-F238E27FC236}">
                <a16:creationId xmlns:a16="http://schemas.microsoft.com/office/drawing/2014/main" id="{B1481369-C8FE-95AF-641B-4AECF63B00C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E3BDF77-FE29-1FCD-E8A4-C1AF2117EE08}"/>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05349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0F1D1-D396-A99F-34A2-4BCAFC602DA6}"/>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382AED5B-D445-9B5D-7E72-099058D25E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C1643C33-5F78-BB90-63FF-14F18A7CEB62}"/>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5" name="Footer Placeholder 4">
            <a:extLst>
              <a:ext uri="{FF2B5EF4-FFF2-40B4-BE49-F238E27FC236}">
                <a16:creationId xmlns:a16="http://schemas.microsoft.com/office/drawing/2014/main" id="{6EFCD9C4-8F88-548F-46DC-E7836363DD9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1E72886-D30E-6CC1-B3DF-3EC0C5C1A541}"/>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224204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45A1-B8A2-5055-7F03-9FCC52AA359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E9A345D9-6A43-7BBD-FA65-476492FAB5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0E2899B-B108-BD21-2CE0-7254D9A4828A}"/>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5" name="Footer Placeholder 4">
            <a:extLst>
              <a:ext uri="{FF2B5EF4-FFF2-40B4-BE49-F238E27FC236}">
                <a16:creationId xmlns:a16="http://schemas.microsoft.com/office/drawing/2014/main" id="{F6892B65-9FD6-DFEF-AF6D-4AB8F188D08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630DDD0-B231-16D7-61B7-436952EE01BE}"/>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1880781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583B-1218-84F1-5732-E5E8FBFB1073}"/>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98CB27AF-11BF-335A-C3D5-E121CE90030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9F67422D-DBFF-1C1A-E0EC-9A87ED1340F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EA8BBF57-B156-E527-27F5-C391D84B7A6E}"/>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6" name="Footer Placeholder 5">
            <a:extLst>
              <a:ext uri="{FF2B5EF4-FFF2-40B4-BE49-F238E27FC236}">
                <a16:creationId xmlns:a16="http://schemas.microsoft.com/office/drawing/2014/main" id="{62497E72-F9B0-4530-C0AB-247E41517FC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16459EB-3F51-D0CC-EEBD-E1E3951F6BC4}"/>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832147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E22C3-FE1A-514B-C20A-4A5CCAA9063A}"/>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9239F501-6DEB-FD9D-01A8-BA6BC484D1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7A5264F-AE8C-81FD-D3D3-D02BAE5557B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7F6EB07-0E5B-DF11-DE38-5B250E71A0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26B87D-FEB2-9D32-F95E-D51EDFA435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BA9E8FA-4DA3-EC0B-06FE-23A929FC551C}"/>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8" name="Footer Placeholder 7">
            <a:extLst>
              <a:ext uri="{FF2B5EF4-FFF2-40B4-BE49-F238E27FC236}">
                <a16:creationId xmlns:a16="http://schemas.microsoft.com/office/drawing/2014/main" id="{CBC9C562-C8BC-C387-265A-24D86B53B5EF}"/>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33FC9178-70D0-8630-6D7F-A43E7AF0BDE9}"/>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408754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799-9EC1-6A57-624F-F604FBB01B09}"/>
              </a:ext>
            </a:extLst>
          </p:cNvPr>
          <p:cNvSpPr>
            <a:spLocks noGrp="1"/>
          </p:cNvSpPr>
          <p:nvPr>
            <p:ph type="title"/>
          </p:nvPr>
        </p:nvSpPr>
        <p:spPr/>
        <p:txBody>
          <a:bodyPr/>
          <a:lstStyle/>
          <a:p>
            <a:r>
              <a:rPr lang="en-GB"/>
              <a:t>Click to edit Master title style</a:t>
            </a:r>
            <a:endParaRPr lang="en-PK"/>
          </a:p>
        </p:txBody>
      </p:sp>
      <p:sp>
        <p:nvSpPr>
          <p:cNvPr id="3" name="Date Placeholder 2">
            <a:extLst>
              <a:ext uri="{FF2B5EF4-FFF2-40B4-BE49-F238E27FC236}">
                <a16:creationId xmlns:a16="http://schemas.microsoft.com/office/drawing/2014/main" id="{AA178A77-72A0-B7E1-92C0-FFFEA2E36181}"/>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4" name="Footer Placeholder 3">
            <a:extLst>
              <a:ext uri="{FF2B5EF4-FFF2-40B4-BE49-F238E27FC236}">
                <a16:creationId xmlns:a16="http://schemas.microsoft.com/office/drawing/2014/main" id="{4FC65BBA-02AC-C010-4714-579948423857}"/>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C1F8D9AB-CBAC-ED02-3FD0-79998EF3599C}"/>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60139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57B96E-1C43-6044-2967-DD941C112A09}"/>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3" name="Footer Placeholder 2">
            <a:extLst>
              <a:ext uri="{FF2B5EF4-FFF2-40B4-BE49-F238E27FC236}">
                <a16:creationId xmlns:a16="http://schemas.microsoft.com/office/drawing/2014/main" id="{1F14F0A3-B804-DD0B-DB18-9E8AEB64C90B}"/>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2828B1B4-6BF4-A280-EADA-D4BF44BE061D}"/>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201978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64176-4ADA-100F-51CB-9D1345BE9F6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8C40565D-9ACF-A073-AF07-4F11298E41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93C8B628-3E19-A6AD-8D00-2B8DD64D1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6BAFE3-4583-85AD-18F2-05261663C323}"/>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6" name="Footer Placeholder 5">
            <a:extLst>
              <a:ext uri="{FF2B5EF4-FFF2-40B4-BE49-F238E27FC236}">
                <a16:creationId xmlns:a16="http://schemas.microsoft.com/office/drawing/2014/main" id="{ED50FCE0-23F1-4526-F61B-32F936C66682}"/>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78818B9A-8B61-6F2B-9F5B-D2D48401140E}"/>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70603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360F-16B1-A056-B36E-D7361784E6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B8A0AE8E-B2F9-5654-6C70-6030BB4233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F7FB390-DBDC-E97C-512E-BBA5C4535F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EC8650-724B-99C9-A9F8-D0D3DD492E34}"/>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6" name="Footer Placeholder 5">
            <a:extLst>
              <a:ext uri="{FF2B5EF4-FFF2-40B4-BE49-F238E27FC236}">
                <a16:creationId xmlns:a16="http://schemas.microsoft.com/office/drawing/2014/main" id="{DDBC19F0-F192-893F-C985-ED850F5D83C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C7EE72A-9FBC-29ED-40E2-83B19D24C473}"/>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886129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352E-5072-DEB5-13D2-D7034432A2C7}"/>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48160522-ECC9-96C4-E255-4BEB0F27D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2214297C-806F-3597-ABEA-1345CEFB5886}"/>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5" name="Footer Placeholder 4">
            <a:extLst>
              <a:ext uri="{FF2B5EF4-FFF2-40B4-BE49-F238E27FC236}">
                <a16:creationId xmlns:a16="http://schemas.microsoft.com/office/drawing/2014/main" id="{E954B8BD-458F-3AD8-7A19-7D04CA9A02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6DF1660-1E09-D7E0-0EAF-E48456A768A5}"/>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938468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C68548-0AE1-5D21-F12A-A14B7C3BDCE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B828600-D791-1772-6F82-151217EBCE2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BB9B7C38-F5F5-CBDD-51C7-8BAE84CD93C7}"/>
              </a:ext>
            </a:extLst>
          </p:cNvPr>
          <p:cNvSpPr>
            <a:spLocks noGrp="1"/>
          </p:cNvSpPr>
          <p:nvPr>
            <p:ph type="dt" sz="half" idx="10"/>
          </p:nvPr>
        </p:nvSpPr>
        <p:spPr/>
        <p:txBody>
          <a:bodyPr/>
          <a:lstStyle/>
          <a:p>
            <a:fld id="{E26574F0-76D5-7B41-B0D1-4DEFBF0E94A7}" type="datetimeFigureOut">
              <a:rPr lang="en-PK" smtClean="0"/>
              <a:t>08/06/2026</a:t>
            </a:fld>
            <a:endParaRPr lang="en-PK"/>
          </a:p>
        </p:txBody>
      </p:sp>
      <p:sp>
        <p:nvSpPr>
          <p:cNvPr id="5" name="Footer Placeholder 4">
            <a:extLst>
              <a:ext uri="{FF2B5EF4-FFF2-40B4-BE49-F238E27FC236}">
                <a16:creationId xmlns:a16="http://schemas.microsoft.com/office/drawing/2014/main" id="{EB116DDD-33F1-91C0-4F7F-F7C4FF7DB9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442F4DC-7AEE-99B8-88C5-6D8B5A249D85}"/>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295477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D3570F-BE1C-241F-20EB-2FC83365C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K"/>
          </a:p>
        </p:txBody>
      </p:sp>
      <p:sp>
        <p:nvSpPr>
          <p:cNvPr id="3" name="Text Placeholder 2">
            <a:extLst>
              <a:ext uri="{FF2B5EF4-FFF2-40B4-BE49-F238E27FC236}">
                <a16:creationId xmlns:a16="http://schemas.microsoft.com/office/drawing/2014/main" id="{0CA22F1E-A722-197E-87F9-3DA540DED6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E275CC02-0F83-6B99-EC01-84B915AA3A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6574F0-76D5-7B41-B0D1-4DEFBF0E94A7}" type="datetimeFigureOut">
              <a:rPr lang="en-PK" smtClean="0"/>
              <a:t>08/06/2026</a:t>
            </a:fld>
            <a:endParaRPr lang="en-PK"/>
          </a:p>
        </p:txBody>
      </p:sp>
      <p:sp>
        <p:nvSpPr>
          <p:cNvPr id="5" name="Footer Placeholder 4">
            <a:extLst>
              <a:ext uri="{FF2B5EF4-FFF2-40B4-BE49-F238E27FC236}">
                <a16:creationId xmlns:a16="http://schemas.microsoft.com/office/drawing/2014/main" id="{4323390B-8200-B1AA-45F6-1C38B27D22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3D192171-8034-485A-0DB2-0F7C37CCC2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774DBC-A55C-C145-83F3-9DE204FF4A46}" type="slidenum">
              <a:rPr lang="en-PK" smtClean="0"/>
              <a:t>‹#›</a:t>
            </a:fld>
            <a:endParaRPr lang="en-PK"/>
          </a:p>
        </p:txBody>
      </p:sp>
    </p:spTree>
    <p:extLst>
      <p:ext uri="{BB962C8B-B14F-4D97-AF65-F5344CB8AC3E}">
        <p14:creationId xmlns:p14="http://schemas.microsoft.com/office/powerpoint/2010/main" val="2533404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7842"/>
            <a:lum/>
          </a:blip>
          <a:srcRect/>
          <a:stretch>
            <a:fillRect l="-2000" r="-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FBB98-8CE3-A478-4339-9AA8AACD6600}"/>
              </a:ext>
            </a:extLst>
          </p:cNvPr>
          <p:cNvSpPr>
            <a:spLocks noGrp="1"/>
          </p:cNvSpPr>
          <p:nvPr>
            <p:ph type="ctrTitle"/>
          </p:nvPr>
        </p:nvSpPr>
        <p:spPr>
          <a:xfrm>
            <a:off x="853928" y="939800"/>
            <a:ext cx="10484143" cy="2349500"/>
          </a:xfrm>
          <a:blipFill dpi="0" rotWithShape="1">
            <a:blip r:embed="rId3">
              <a:alphaModFix amt="0"/>
            </a:blip>
            <a:srcRect/>
            <a:tile tx="0" ty="0" sx="100000" sy="100000" flip="none" algn="tl"/>
          </a:blipFill>
        </p:spPr>
        <p:txBody>
          <a:bodyPr>
            <a:normAutofit/>
          </a:bodyPr>
          <a:lstStyle/>
          <a:p>
            <a:r>
              <a:rPr lang="en-PK" sz="4000" b="1" dirty="0">
                <a:latin typeface="Times New Roman" panose="02020603050405020304" pitchFamily="18" charset="0"/>
                <a:cs typeface="Times New Roman" panose="02020603050405020304" pitchFamily="18" charset="0"/>
              </a:rPr>
              <a:t>Dynamic Target Assignment and Collision Avoidance for Multi-UAV Coordination in 3D using MARL</a:t>
            </a:r>
            <a:endParaRPr lang="en-PK"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6F65ED9-1AD6-19E3-27B1-6EAF9EA8637C}"/>
              </a:ext>
            </a:extLst>
          </p:cNvPr>
          <p:cNvSpPr>
            <a:spLocks noGrp="1"/>
          </p:cNvSpPr>
          <p:nvPr>
            <p:ph type="subTitle" idx="1"/>
          </p:nvPr>
        </p:nvSpPr>
        <p:spPr>
          <a:xfrm>
            <a:off x="1523999" y="3733801"/>
            <a:ext cx="9144000" cy="1346200"/>
          </a:xfrm>
        </p:spPr>
        <p:txBody>
          <a:bodyPr>
            <a:normAutofit/>
          </a:bodyPr>
          <a:lstStyle/>
          <a:p>
            <a:r>
              <a:rPr lang="en-PK" dirty="0">
                <a:latin typeface="Times New Roman" panose="02020603050405020304" pitchFamily="18" charset="0"/>
                <a:cs typeface="Times New Roman" panose="02020603050405020304" pitchFamily="18" charset="0"/>
              </a:rPr>
              <a:t>Ayesha Khalil, CIIT/SP25-RCS-009/ATD</a:t>
            </a:r>
            <a:endParaRPr lang="en-PK" b="0" dirty="0">
              <a:effectLst/>
              <a:latin typeface="Times New Roman" panose="02020603050405020304" pitchFamily="18" charset="0"/>
              <a:cs typeface="Times New Roman" panose="02020603050405020304" pitchFamily="18" charset="0"/>
            </a:endParaRPr>
          </a:p>
          <a:p>
            <a:r>
              <a:rPr lang="en-PK" dirty="0">
                <a:latin typeface="Times New Roman" panose="02020603050405020304" pitchFamily="18" charset="0"/>
                <a:cs typeface="Times New Roman" panose="02020603050405020304" pitchFamily="18" charset="0"/>
              </a:rPr>
              <a:t>Supervisor: Dr. Faisal Rehman</a:t>
            </a:r>
            <a:br>
              <a:rPr lang="en-PK" dirty="0">
                <a:latin typeface="Times New Roman" panose="02020603050405020304" pitchFamily="18" charset="0"/>
                <a:cs typeface="Times New Roman" panose="02020603050405020304" pitchFamily="18" charset="0"/>
              </a:rPr>
            </a:br>
            <a:r>
              <a:rPr lang="en-PK" dirty="0">
                <a:latin typeface="Times New Roman" panose="02020603050405020304" pitchFamily="18" charset="0"/>
                <a:cs typeface="Times New Roman" panose="02020603050405020304" pitchFamily="18" charset="0"/>
              </a:rPr>
              <a:t>Co-supervisor: Dr. Ehzaz Mustafa</a:t>
            </a:r>
            <a:endParaRPr lang="en-PK" b="0" dirty="0">
              <a:effectLst/>
              <a:latin typeface="Times New Roman" panose="02020603050405020304" pitchFamily="18" charset="0"/>
              <a:cs typeface="Times New Roman" panose="02020603050405020304" pitchFamily="18" charset="0"/>
            </a:endParaRPr>
          </a:p>
          <a:p>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44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CC0D-F80E-A57D-6E1C-B5B86EC63451}"/>
              </a:ext>
            </a:extLst>
          </p:cNvPr>
          <p:cNvSpPr>
            <a:spLocks noGrp="1"/>
          </p:cNvSpPr>
          <p:nvPr>
            <p:ph type="title"/>
          </p:nvPr>
        </p:nvSpPr>
        <p:spPr>
          <a:xfrm>
            <a:off x="838200" y="365125"/>
            <a:ext cx="10515600" cy="1031875"/>
          </a:xfrm>
        </p:spPr>
        <p:txBody>
          <a:bodyPr/>
          <a:lstStyle/>
          <a:p>
            <a:r>
              <a:rPr lang="en-PK" dirty="0">
                <a:latin typeface="+mn-lt"/>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B5ACC6A-91B0-E69F-EF5C-D30231B950ED}"/>
              </a:ext>
            </a:extLst>
          </p:cNvPr>
          <p:cNvSpPr>
            <a:spLocks noGrp="1"/>
          </p:cNvSpPr>
          <p:nvPr>
            <p:ph idx="1"/>
          </p:nvPr>
        </p:nvSpPr>
        <p:spPr>
          <a:xfrm>
            <a:off x="838200" y="1690688"/>
            <a:ext cx="5257800" cy="4267200"/>
          </a:xfrm>
        </p:spPr>
        <p:txBody>
          <a:bodyPr>
            <a:normAutofit/>
          </a:bodyPr>
          <a:lstStyle/>
          <a:p>
            <a:r>
              <a:rPr lang="en-PK" dirty="0">
                <a:cs typeface="Times New Roman" panose="02020603050405020304" pitchFamily="18" charset="0"/>
              </a:rPr>
              <a:t>From military applications to civilian and industrial use</a:t>
            </a:r>
          </a:p>
          <a:p>
            <a:r>
              <a:rPr lang="en-PK" dirty="0">
                <a:cs typeface="Times New Roman" panose="02020603050405020304" pitchFamily="18" charset="0"/>
              </a:rPr>
              <a:t>A single drone is insufficient</a:t>
            </a:r>
          </a:p>
          <a:p>
            <a:r>
              <a:rPr lang="en-PK" dirty="0">
                <a:cs typeface="Times New Roman" panose="02020603050405020304" pitchFamily="18" charset="0"/>
              </a:rPr>
              <a:t>Real tasks demand </a:t>
            </a:r>
            <a:r>
              <a:rPr lang="en-PK" b="1" dirty="0">
                <a:cs typeface="Times New Roman" panose="02020603050405020304" pitchFamily="18" charset="0"/>
              </a:rPr>
              <a:t>multi-UAV teams</a:t>
            </a:r>
            <a:endParaRPr lang="en-PK" dirty="0">
              <a:cs typeface="Times New Roman" panose="02020603050405020304" pitchFamily="18" charset="0"/>
            </a:endParaRPr>
          </a:p>
          <a:p>
            <a:r>
              <a:rPr lang="en-PK" dirty="0">
                <a:cs typeface="Times New Roman" panose="02020603050405020304" pitchFamily="18" charset="0"/>
              </a:rPr>
              <a:t>Hardware advances alone cannot solve coordination it requires intelligent algorithm</a:t>
            </a:r>
          </a:p>
        </p:txBody>
      </p:sp>
      <p:pic>
        <p:nvPicPr>
          <p:cNvPr id="5" name="Picture 4">
            <a:extLst>
              <a:ext uri="{FF2B5EF4-FFF2-40B4-BE49-F238E27FC236}">
                <a16:creationId xmlns:a16="http://schemas.microsoft.com/office/drawing/2014/main" id="{6CB3E76F-D6AA-9491-F863-499085562BFE}"/>
              </a:ext>
            </a:extLst>
          </p:cNvPr>
          <p:cNvPicPr>
            <a:picLocks noChangeAspect="1"/>
          </p:cNvPicPr>
          <p:nvPr/>
        </p:nvPicPr>
        <p:blipFill>
          <a:blip r:embed="rId2"/>
          <a:stretch>
            <a:fillRect/>
          </a:stretch>
        </p:blipFill>
        <p:spPr>
          <a:xfrm>
            <a:off x="6096000" y="1690688"/>
            <a:ext cx="5673989" cy="3376612"/>
          </a:xfrm>
          <a:prstGeom prst="rect">
            <a:avLst/>
          </a:prstGeom>
        </p:spPr>
      </p:pic>
    </p:spTree>
    <p:extLst>
      <p:ext uri="{BB962C8B-B14F-4D97-AF65-F5344CB8AC3E}">
        <p14:creationId xmlns:p14="http://schemas.microsoft.com/office/powerpoint/2010/main" val="2909608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7A03C-B6A3-9936-1B48-D661B48A67E6}"/>
              </a:ext>
            </a:extLst>
          </p:cNvPr>
          <p:cNvSpPr>
            <a:spLocks noGrp="1"/>
          </p:cNvSpPr>
          <p:nvPr>
            <p:ph type="title"/>
          </p:nvPr>
        </p:nvSpPr>
        <p:spPr>
          <a:xfrm>
            <a:off x="838200" y="365125"/>
            <a:ext cx="10515600" cy="790575"/>
          </a:xfrm>
        </p:spPr>
        <p:txBody>
          <a:bodyPr/>
          <a:lstStyle/>
          <a:p>
            <a:r>
              <a:rPr lang="en-PK" dirty="0"/>
              <a:t>Introduction cont… Multi-UAV Coordination</a:t>
            </a:r>
          </a:p>
        </p:txBody>
      </p:sp>
      <p:sp>
        <p:nvSpPr>
          <p:cNvPr id="3" name="Content Placeholder 2">
            <a:extLst>
              <a:ext uri="{FF2B5EF4-FFF2-40B4-BE49-F238E27FC236}">
                <a16:creationId xmlns:a16="http://schemas.microsoft.com/office/drawing/2014/main" id="{83E57823-C230-C001-40EE-B52215BCF398}"/>
              </a:ext>
            </a:extLst>
          </p:cNvPr>
          <p:cNvSpPr>
            <a:spLocks noGrp="1"/>
          </p:cNvSpPr>
          <p:nvPr>
            <p:ph idx="1"/>
          </p:nvPr>
        </p:nvSpPr>
        <p:spPr>
          <a:xfrm>
            <a:off x="493814" y="1446976"/>
            <a:ext cx="4929086" cy="4526312"/>
          </a:xfrm>
        </p:spPr>
        <p:txBody>
          <a:bodyPr>
            <a:normAutofit fontScale="70000" lnSpcReduction="20000"/>
          </a:bodyPr>
          <a:lstStyle/>
          <a:p>
            <a:pPr marL="0" indent="0">
              <a:lnSpc>
                <a:spcPct val="170000"/>
              </a:lnSpc>
              <a:buNone/>
            </a:pPr>
            <a:r>
              <a:rPr lang="en-PK" b="1" dirty="0"/>
              <a:t>Classical Approach Centralized Planner:</a:t>
            </a:r>
          </a:p>
          <a:p>
            <a:pPr lvl="1">
              <a:lnSpc>
                <a:spcPct val="150000"/>
              </a:lnSpc>
            </a:pPr>
            <a:r>
              <a:rPr lang="en-PK" dirty="0"/>
              <a:t>Computes globally optimal solution before deployment</a:t>
            </a:r>
          </a:p>
          <a:p>
            <a:pPr lvl="1">
              <a:lnSpc>
                <a:spcPct val="150000"/>
              </a:lnSpc>
            </a:pPr>
            <a:r>
              <a:rPr lang="en-PK" dirty="0"/>
              <a:t>❌ Fails when targets move or obstacles appear mid-mission</a:t>
            </a:r>
          </a:p>
          <a:p>
            <a:pPr lvl="1">
              <a:lnSpc>
                <a:spcPct val="150000"/>
              </a:lnSpc>
            </a:pPr>
            <a:r>
              <a:rPr lang="en-PK" dirty="0"/>
              <a:t>❌ Recomputing in real time is computationally intractable</a:t>
            </a:r>
          </a:p>
          <a:p>
            <a:pPr marL="0" indent="0">
              <a:buNone/>
            </a:pPr>
            <a:r>
              <a:rPr lang="en-PK" b="1" dirty="0"/>
              <a:t>Learning-Based Approach:</a:t>
            </a:r>
          </a:p>
          <a:p>
            <a:pPr lvl="1">
              <a:lnSpc>
                <a:spcPct val="160000"/>
              </a:lnSpc>
            </a:pPr>
            <a:r>
              <a:rPr lang="en-PK" dirty="0"/>
              <a:t>Drones learn cooperative behavior through trial and error</a:t>
            </a:r>
          </a:p>
        </p:txBody>
      </p:sp>
      <p:pic>
        <p:nvPicPr>
          <p:cNvPr id="5" name="Picture 4">
            <a:extLst>
              <a:ext uri="{FF2B5EF4-FFF2-40B4-BE49-F238E27FC236}">
                <a16:creationId xmlns:a16="http://schemas.microsoft.com/office/drawing/2014/main" id="{4DE97005-90EB-7547-52BA-4683F2A9EE57}"/>
              </a:ext>
            </a:extLst>
          </p:cNvPr>
          <p:cNvPicPr>
            <a:picLocks noChangeAspect="1"/>
          </p:cNvPicPr>
          <p:nvPr/>
        </p:nvPicPr>
        <p:blipFill>
          <a:blip r:embed="rId2"/>
          <a:stretch>
            <a:fillRect/>
          </a:stretch>
        </p:blipFill>
        <p:spPr>
          <a:xfrm>
            <a:off x="5716568" y="1686295"/>
            <a:ext cx="6066064" cy="3308763"/>
          </a:xfrm>
          <a:prstGeom prst="rect">
            <a:avLst/>
          </a:prstGeom>
          <a:effectLst>
            <a:outerShdw blurRad="58648" dir="2820000" algn="ctr" rotWithShape="0">
              <a:srgbClr val="000000"/>
            </a:outerShdw>
          </a:effectLst>
        </p:spPr>
      </p:pic>
    </p:spTree>
    <p:extLst>
      <p:ext uri="{BB962C8B-B14F-4D97-AF65-F5344CB8AC3E}">
        <p14:creationId xmlns:p14="http://schemas.microsoft.com/office/powerpoint/2010/main" val="3773359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6C0AB-636A-9C98-F14D-BF44C31CF0AC}"/>
              </a:ext>
            </a:extLst>
          </p:cNvPr>
          <p:cNvSpPr>
            <a:spLocks noGrp="1"/>
          </p:cNvSpPr>
          <p:nvPr>
            <p:ph type="title"/>
          </p:nvPr>
        </p:nvSpPr>
        <p:spPr>
          <a:xfrm>
            <a:off x="838200" y="365125"/>
            <a:ext cx="10515600" cy="917575"/>
          </a:xfrm>
        </p:spPr>
        <p:txBody>
          <a:bodyPr/>
          <a:lstStyle/>
          <a:p>
            <a:r>
              <a:rPr lang="en-PK" dirty="0"/>
              <a:t>Introduction cont… DRL &amp; MARL</a:t>
            </a:r>
          </a:p>
        </p:txBody>
      </p:sp>
      <p:sp>
        <p:nvSpPr>
          <p:cNvPr id="3" name="Content Placeholder 2">
            <a:extLst>
              <a:ext uri="{FF2B5EF4-FFF2-40B4-BE49-F238E27FC236}">
                <a16:creationId xmlns:a16="http://schemas.microsoft.com/office/drawing/2014/main" id="{18178360-8404-27FC-9704-5AC0DCC71CF8}"/>
              </a:ext>
            </a:extLst>
          </p:cNvPr>
          <p:cNvSpPr>
            <a:spLocks noGrp="1"/>
          </p:cNvSpPr>
          <p:nvPr>
            <p:ph idx="1"/>
          </p:nvPr>
        </p:nvSpPr>
        <p:spPr>
          <a:xfrm>
            <a:off x="673100" y="1672936"/>
            <a:ext cx="4686300" cy="3889664"/>
          </a:xfrm>
        </p:spPr>
        <p:txBody>
          <a:bodyPr>
            <a:normAutofit fontScale="62500" lnSpcReduction="20000"/>
          </a:bodyPr>
          <a:lstStyle/>
          <a:p>
            <a:pPr>
              <a:lnSpc>
                <a:spcPct val="150000"/>
              </a:lnSpc>
            </a:pPr>
            <a:r>
              <a:rPr lang="en-PK" b="1" dirty="0"/>
              <a:t>DRL:</a:t>
            </a:r>
            <a:r>
              <a:rPr lang="en-PK" dirty="0"/>
              <a:t> Agent interacts with environment → receives rewards → improves policy through experience</a:t>
            </a:r>
          </a:p>
          <a:p>
            <a:pPr>
              <a:lnSpc>
                <a:spcPct val="150000"/>
              </a:lnSpc>
            </a:pPr>
            <a:r>
              <a:rPr lang="en-PK" b="1" dirty="0"/>
              <a:t>MARL: </a:t>
            </a:r>
            <a:r>
              <a:rPr lang="en-PK" dirty="0"/>
              <a:t>Extends DRL to teams</a:t>
            </a:r>
          </a:p>
          <a:p>
            <a:pPr>
              <a:lnSpc>
                <a:spcPct val="150000"/>
              </a:lnSpc>
            </a:pPr>
            <a:r>
              <a:rPr lang="en-PK" b="1" dirty="0"/>
              <a:t>CTDE Architecture: </a:t>
            </a:r>
            <a:r>
              <a:rPr lang="en-PK" dirty="0"/>
              <a:t>Centralized Training, Decentralized Execution</a:t>
            </a:r>
          </a:p>
          <a:p>
            <a:pPr>
              <a:lnSpc>
                <a:spcPct val="150000"/>
              </a:lnSpc>
            </a:pPr>
            <a:r>
              <a:rPr lang="en-PK" b="1" dirty="0"/>
              <a:t>MAPPO</a:t>
            </a:r>
            <a:r>
              <a:rPr lang="en-PK" dirty="0"/>
              <a:t> (Multi-Agent PPO): proven stable, widely used baseline for cooperative UAV tasks</a:t>
            </a:r>
          </a:p>
          <a:p>
            <a:pPr>
              <a:lnSpc>
                <a:spcPct val="150000"/>
              </a:lnSpc>
            </a:pPr>
            <a:endParaRPr lang="en-PK" dirty="0"/>
          </a:p>
        </p:txBody>
      </p:sp>
      <p:pic>
        <p:nvPicPr>
          <p:cNvPr id="8" name="Picture 7">
            <a:extLst>
              <a:ext uri="{FF2B5EF4-FFF2-40B4-BE49-F238E27FC236}">
                <a16:creationId xmlns:a16="http://schemas.microsoft.com/office/drawing/2014/main" id="{BA7F61E2-4A35-BA45-A26D-8E45BA272EA2}"/>
              </a:ext>
            </a:extLst>
          </p:cNvPr>
          <p:cNvPicPr>
            <a:picLocks noChangeAspect="1"/>
          </p:cNvPicPr>
          <p:nvPr/>
        </p:nvPicPr>
        <p:blipFill>
          <a:blip r:embed="rId2"/>
          <a:stretch>
            <a:fillRect/>
          </a:stretch>
        </p:blipFill>
        <p:spPr>
          <a:xfrm>
            <a:off x="5524500" y="1672936"/>
            <a:ext cx="6438900" cy="3512127"/>
          </a:xfrm>
          <a:prstGeom prst="rect">
            <a:avLst/>
          </a:prstGeom>
        </p:spPr>
      </p:pic>
    </p:spTree>
    <p:extLst>
      <p:ext uri="{BB962C8B-B14F-4D97-AF65-F5344CB8AC3E}">
        <p14:creationId xmlns:p14="http://schemas.microsoft.com/office/powerpoint/2010/main" val="1170402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35D18-D43C-B17C-31E3-67B988E82355}"/>
              </a:ext>
            </a:extLst>
          </p:cNvPr>
          <p:cNvSpPr>
            <a:spLocks noGrp="1"/>
          </p:cNvSpPr>
          <p:nvPr>
            <p:ph type="title"/>
          </p:nvPr>
        </p:nvSpPr>
        <p:spPr>
          <a:xfrm>
            <a:off x="838200" y="365125"/>
            <a:ext cx="10515600" cy="752475"/>
          </a:xfrm>
        </p:spPr>
        <p:txBody>
          <a:bodyPr/>
          <a:lstStyle/>
          <a:p>
            <a:r>
              <a:rPr lang="en-PK" dirty="0"/>
              <a:t>Motivation:</a:t>
            </a:r>
          </a:p>
        </p:txBody>
      </p:sp>
      <p:sp>
        <p:nvSpPr>
          <p:cNvPr id="3" name="Content Placeholder 2">
            <a:extLst>
              <a:ext uri="{FF2B5EF4-FFF2-40B4-BE49-F238E27FC236}">
                <a16:creationId xmlns:a16="http://schemas.microsoft.com/office/drawing/2014/main" id="{6BCD0034-DEBA-419C-D81D-F44F2E6B1AD4}"/>
              </a:ext>
            </a:extLst>
          </p:cNvPr>
          <p:cNvSpPr>
            <a:spLocks noGrp="1"/>
          </p:cNvSpPr>
          <p:nvPr>
            <p:ph idx="1"/>
          </p:nvPr>
        </p:nvSpPr>
        <p:spPr>
          <a:xfrm>
            <a:off x="419100" y="1219201"/>
            <a:ext cx="5676900" cy="3500436"/>
          </a:xfrm>
        </p:spPr>
        <p:txBody>
          <a:bodyPr>
            <a:normAutofit fontScale="62500" lnSpcReduction="20000"/>
          </a:bodyPr>
          <a:lstStyle/>
          <a:p>
            <a:pPr>
              <a:lnSpc>
                <a:spcPct val="120000"/>
              </a:lnSpc>
            </a:pPr>
            <a:r>
              <a:rPr lang="en-PK" dirty="0"/>
              <a:t>DA-MAPPO achieves </a:t>
            </a:r>
            <a:r>
              <a:rPr lang="en-PK" b="1" dirty="0"/>
              <a:t>90–99% mission success</a:t>
            </a:r>
            <a:r>
              <a:rPr lang="en-PK" dirty="0"/>
              <a:t> using real-time Hungarian assignment but </a:t>
            </a:r>
            <a:r>
              <a:rPr lang="en-PK" b="1" dirty="0"/>
              <a:t>has no collision avoidance</a:t>
            </a:r>
            <a:endParaRPr lang="en-PK" dirty="0"/>
          </a:p>
          <a:p>
            <a:pPr>
              <a:lnSpc>
                <a:spcPct val="120000"/>
              </a:lnSpc>
            </a:pPr>
            <a:r>
              <a:rPr lang="en-PK" dirty="0"/>
              <a:t>IGAT-MARL reduces interaction edges by </a:t>
            </a:r>
            <a:r>
              <a:rPr lang="en-PK" b="1" dirty="0"/>
              <a:t>44%</a:t>
            </a:r>
            <a:r>
              <a:rPr lang="en-PK" dirty="0"/>
              <a:t> using a conflict-aware graph  but </a:t>
            </a:r>
            <a:r>
              <a:rPr lang="en-PK" b="1" dirty="0"/>
              <a:t>has no target assignment</a:t>
            </a:r>
            <a:endParaRPr lang="en-PK" dirty="0"/>
          </a:p>
          <a:p>
            <a:pPr>
              <a:lnSpc>
                <a:spcPct val="120000"/>
              </a:lnSpc>
            </a:pPr>
            <a:r>
              <a:rPr lang="en-PK" dirty="0"/>
              <a:t>DA-MAPPO ablation: removing assignment information causes success to drop from </a:t>
            </a:r>
            <a:r>
              <a:rPr lang="en-PK" b="1" dirty="0"/>
              <a:t>90% → 0%</a:t>
            </a:r>
            <a:endParaRPr lang="en-PK" dirty="0"/>
          </a:p>
          <a:p>
            <a:pPr>
              <a:lnSpc>
                <a:spcPct val="120000"/>
              </a:lnSpc>
            </a:pPr>
            <a:r>
              <a:rPr lang="en-PK" dirty="0"/>
              <a:t>Both papers explicitly name the other's problem as </a:t>
            </a:r>
            <a:r>
              <a:rPr lang="en-PK" b="1" dirty="0"/>
              <a:t>their own future work</a:t>
            </a:r>
            <a:r>
              <a:rPr lang="en-PK" dirty="0"/>
              <a:t>  this research is that future work</a:t>
            </a:r>
          </a:p>
        </p:txBody>
      </p:sp>
      <p:sp>
        <p:nvSpPr>
          <p:cNvPr id="4" name="TextBox 3">
            <a:extLst>
              <a:ext uri="{FF2B5EF4-FFF2-40B4-BE49-F238E27FC236}">
                <a16:creationId xmlns:a16="http://schemas.microsoft.com/office/drawing/2014/main" id="{40764D54-3CEA-7171-E2C4-AEC29481EECF}"/>
              </a:ext>
            </a:extLst>
          </p:cNvPr>
          <p:cNvSpPr txBox="1"/>
          <p:nvPr/>
        </p:nvSpPr>
        <p:spPr>
          <a:xfrm>
            <a:off x="1206501" y="4943474"/>
            <a:ext cx="9461500" cy="923330"/>
          </a:xfrm>
          <a:prstGeom prst="rect">
            <a:avLst/>
          </a:prstGeom>
          <a:noFill/>
        </p:spPr>
        <p:txBody>
          <a:bodyPr wrap="square" rtlCol="0">
            <a:spAutoFit/>
          </a:bodyPr>
          <a:lstStyle/>
          <a:p>
            <a:r>
              <a:rPr lang="en-PK" b="1" dirty="0"/>
              <a:t>This research proposes a unified MAPPO-based framework that integrates real-time target assignment and conflict-aware collision avoidance in a single policy for 5–8 drones in a 3D environment.</a:t>
            </a:r>
            <a:endParaRPr lang="en-PK" dirty="0"/>
          </a:p>
        </p:txBody>
      </p:sp>
      <p:pic>
        <p:nvPicPr>
          <p:cNvPr id="6" name="Picture 5">
            <a:extLst>
              <a:ext uri="{FF2B5EF4-FFF2-40B4-BE49-F238E27FC236}">
                <a16:creationId xmlns:a16="http://schemas.microsoft.com/office/drawing/2014/main" id="{B56F214D-14DE-0B92-E1C0-2A99A55C938B}"/>
              </a:ext>
            </a:extLst>
          </p:cNvPr>
          <p:cNvPicPr>
            <a:picLocks noChangeAspect="1"/>
          </p:cNvPicPr>
          <p:nvPr/>
        </p:nvPicPr>
        <p:blipFill>
          <a:blip r:embed="rId2"/>
          <a:stretch>
            <a:fillRect/>
          </a:stretch>
        </p:blipFill>
        <p:spPr>
          <a:xfrm>
            <a:off x="6096000" y="1117600"/>
            <a:ext cx="5820832" cy="3174999"/>
          </a:xfrm>
          <a:prstGeom prst="rect">
            <a:avLst/>
          </a:prstGeom>
          <a:effectLst>
            <a:outerShdw blurRad="50800" dir="5400000" algn="ctr" rotWithShape="0">
              <a:srgbClr val="000000">
                <a:alpha val="43137"/>
              </a:srgbClr>
            </a:outerShdw>
          </a:effectLst>
        </p:spPr>
      </p:pic>
    </p:spTree>
    <p:extLst>
      <p:ext uri="{BB962C8B-B14F-4D97-AF65-F5344CB8AC3E}">
        <p14:creationId xmlns:p14="http://schemas.microsoft.com/office/powerpoint/2010/main" val="3774325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95BB-A565-9090-9397-8FA16C7A64FE}"/>
              </a:ext>
            </a:extLst>
          </p:cNvPr>
          <p:cNvSpPr>
            <a:spLocks noGrp="1"/>
          </p:cNvSpPr>
          <p:nvPr>
            <p:ph type="title"/>
          </p:nvPr>
        </p:nvSpPr>
        <p:spPr>
          <a:xfrm>
            <a:off x="342898" y="254001"/>
            <a:ext cx="11480802" cy="647699"/>
          </a:xfrm>
        </p:spPr>
        <p:txBody>
          <a:bodyPr>
            <a:normAutofit/>
          </a:bodyPr>
          <a:lstStyle/>
          <a:p>
            <a:r>
              <a:rPr lang="en-PK" sz="3600" dirty="0"/>
              <a:t>Related Work:</a:t>
            </a:r>
          </a:p>
        </p:txBody>
      </p:sp>
      <p:graphicFrame>
        <p:nvGraphicFramePr>
          <p:cNvPr id="4" name="Content Placeholder 3">
            <a:extLst>
              <a:ext uri="{FF2B5EF4-FFF2-40B4-BE49-F238E27FC236}">
                <a16:creationId xmlns:a16="http://schemas.microsoft.com/office/drawing/2014/main" id="{A16B8485-FED3-C57C-6341-68CCE87E6799}"/>
              </a:ext>
            </a:extLst>
          </p:cNvPr>
          <p:cNvGraphicFramePr>
            <a:graphicFrameLocks noGrp="1"/>
          </p:cNvGraphicFramePr>
          <p:nvPr>
            <p:ph idx="1"/>
            <p:extLst>
              <p:ext uri="{D42A27DB-BD31-4B8C-83A1-F6EECF244321}">
                <p14:modId xmlns:p14="http://schemas.microsoft.com/office/powerpoint/2010/main" val="4020269268"/>
              </p:ext>
            </p:extLst>
          </p:nvPr>
        </p:nvGraphicFramePr>
        <p:xfrm>
          <a:off x="368301" y="1079500"/>
          <a:ext cx="11480802" cy="5524500"/>
        </p:xfrm>
        <a:graphic>
          <a:graphicData uri="http://schemas.openxmlformats.org/drawingml/2006/table">
            <a:tbl>
              <a:tblPr firstRow="1" bandRow="1">
                <a:tableStyleId>{D7AC3CCA-C797-4891-BE02-D94E43425B78}</a:tableStyleId>
              </a:tblPr>
              <a:tblGrid>
                <a:gridCol w="1752600">
                  <a:extLst>
                    <a:ext uri="{9D8B030D-6E8A-4147-A177-3AD203B41FA5}">
                      <a16:colId xmlns:a16="http://schemas.microsoft.com/office/drawing/2014/main" val="2368097235"/>
                    </a:ext>
                  </a:extLst>
                </a:gridCol>
                <a:gridCol w="2074334">
                  <a:extLst>
                    <a:ext uri="{9D8B030D-6E8A-4147-A177-3AD203B41FA5}">
                      <a16:colId xmlns:a16="http://schemas.microsoft.com/office/drawing/2014/main" val="293452194"/>
                    </a:ext>
                  </a:extLst>
                </a:gridCol>
                <a:gridCol w="1913467">
                  <a:extLst>
                    <a:ext uri="{9D8B030D-6E8A-4147-A177-3AD203B41FA5}">
                      <a16:colId xmlns:a16="http://schemas.microsoft.com/office/drawing/2014/main" val="3981340899"/>
                    </a:ext>
                  </a:extLst>
                </a:gridCol>
                <a:gridCol w="1913467">
                  <a:extLst>
                    <a:ext uri="{9D8B030D-6E8A-4147-A177-3AD203B41FA5}">
                      <a16:colId xmlns:a16="http://schemas.microsoft.com/office/drawing/2014/main" val="3517942913"/>
                    </a:ext>
                  </a:extLst>
                </a:gridCol>
                <a:gridCol w="1913467">
                  <a:extLst>
                    <a:ext uri="{9D8B030D-6E8A-4147-A177-3AD203B41FA5}">
                      <a16:colId xmlns:a16="http://schemas.microsoft.com/office/drawing/2014/main" val="2473821062"/>
                    </a:ext>
                  </a:extLst>
                </a:gridCol>
                <a:gridCol w="1913467">
                  <a:extLst>
                    <a:ext uri="{9D8B030D-6E8A-4147-A177-3AD203B41FA5}">
                      <a16:colId xmlns:a16="http://schemas.microsoft.com/office/drawing/2014/main" val="1093910524"/>
                    </a:ext>
                  </a:extLst>
                </a:gridCol>
              </a:tblGrid>
              <a:tr h="370014">
                <a:tc>
                  <a:txBody>
                    <a:bodyPr/>
                    <a:lstStyle/>
                    <a:p>
                      <a:pPr algn="ctr"/>
                      <a:r>
                        <a:rPr lang="en-PK" sz="1600" dirty="0"/>
                        <a:t>Authors</a:t>
                      </a:r>
                    </a:p>
                  </a:txBody>
                  <a:tcPr/>
                </a:tc>
                <a:tc>
                  <a:txBody>
                    <a:bodyPr/>
                    <a:lstStyle/>
                    <a:p>
                      <a:pPr algn="ctr"/>
                      <a:r>
                        <a:rPr lang="en-PK" sz="1600" dirty="0"/>
                        <a:t>Contribution</a:t>
                      </a:r>
                    </a:p>
                  </a:txBody>
                  <a:tcPr/>
                </a:tc>
                <a:tc>
                  <a:txBody>
                    <a:bodyPr/>
                    <a:lstStyle/>
                    <a:p>
                      <a:pPr algn="ctr"/>
                      <a:r>
                        <a:rPr lang="en-PK" sz="1600" dirty="0"/>
                        <a:t>Methodology</a:t>
                      </a:r>
                    </a:p>
                  </a:txBody>
                  <a:tcPr/>
                </a:tc>
                <a:tc>
                  <a:txBody>
                    <a:bodyPr/>
                    <a:lstStyle/>
                    <a:p>
                      <a:pPr algn="ctr"/>
                      <a:r>
                        <a:rPr lang="en-PK" sz="1600" dirty="0"/>
                        <a:t>Dataset/Sample</a:t>
                      </a:r>
                    </a:p>
                  </a:txBody>
                  <a:tcPr/>
                </a:tc>
                <a:tc>
                  <a:txBody>
                    <a:bodyPr/>
                    <a:lstStyle/>
                    <a:p>
                      <a:pPr algn="ctr"/>
                      <a:r>
                        <a:rPr lang="en-PK" sz="1600" dirty="0"/>
                        <a:t>Strength</a:t>
                      </a:r>
                    </a:p>
                  </a:txBody>
                  <a:tcPr/>
                </a:tc>
                <a:tc>
                  <a:txBody>
                    <a:bodyPr/>
                    <a:lstStyle/>
                    <a:p>
                      <a:pPr algn="ctr"/>
                      <a:r>
                        <a:rPr lang="en-PK" sz="1600" dirty="0"/>
                        <a:t>Limitation</a:t>
                      </a:r>
                    </a:p>
                  </a:txBody>
                  <a:tcPr/>
                </a:tc>
                <a:extLst>
                  <a:ext uri="{0D108BD9-81ED-4DB2-BD59-A6C34878D82A}">
                    <a16:rowId xmlns:a16="http://schemas.microsoft.com/office/drawing/2014/main" val="1666208904"/>
                  </a:ext>
                </a:extLst>
              </a:tr>
              <a:tr h="1202547">
                <a:tc>
                  <a:txBody>
                    <a:bodyPr/>
                    <a:lstStyle/>
                    <a:p>
                      <a:r>
                        <a:rPr lang="en-PK" sz="1600" b="0" i="0" kern="1200" dirty="0">
                          <a:solidFill>
                            <a:schemeClr val="dk1"/>
                          </a:solidFill>
                          <a:effectLst/>
                          <a:latin typeface="+mn-lt"/>
                          <a:ea typeface="+mn-ea"/>
                          <a:cs typeface="+mn-cs"/>
                        </a:rPr>
                        <a:t>Govinda, Brik &amp; Harous (2025)</a:t>
                      </a:r>
                      <a:endParaRPr lang="en-PK" sz="1600" dirty="0"/>
                    </a:p>
                  </a:txBody>
                  <a:tcPr/>
                </a:tc>
                <a:tc>
                  <a:txBody>
                    <a:bodyPr/>
                    <a:lstStyle/>
                    <a:p>
                      <a:r>
                        <a:rPr lang="en-PK" sz="1600" b="0" i="0" kern="1200" dirty="0">
                          <a:solidFill>
                            <a:schemeClr val="dk1"/>
                          </a:solidFill>
                          <a:effectLst/>
                          <a:latin typeface="+mn-lt"/>
                          <a:ea typeface="+mn-ea"/>
                          <a:cs typeface="+mn-cs"/>
                        </a:rPr>
                        <a:t>Systematic review of DRL for UAV, robotics, transportation</a:t>
                      </a:r>
                      <a:endParaRPr lang="en-PK" sz="1600" dirty="0"/>
                    </a:p>
                  </a:txBody>
                  <a:tcPr/>
                </a:tc>
                <a:tc>
                  <a:txBody>
                    <a:bodyPr/>
                    <a:lstStyle/>
                    <a:p>
                      <a:r>
                        <a:rPr lang="en-PK" sz="1600" b="0" i="0" kern="1200" dirty="0">
                          <a:solidFill>
                            <a:schemeClr val="dk1"/>
                          </a:solidFill>
                          <a:effectLst/>
                          <a:latin typeface="+mn-lt"/>
                          <a:ea typeface="+mn-ea"/>
                          <a:cs typeface="+mn-cs"/>
                        </a:rPr>
                        <a:t>Literature survey across published DRL studies</a:t>
                      </a:r>
                      <a:endParaRPr lang="en-PK" sz="1600" dirty="0"/>
                    </a:p>
                  </a:txBody>
                  <a:tcPr/>
                </a:tc>
                <a:tc>
                  <a:txBody>
                    <a:bodyPr/>
                    <a:lstStyle/>
                    <a:p>
                      <a:r>
                        <a:rPr lang="en-PK" sz="1600" b="0" i="0" kern="1200" dirty="0">
                          <a:solidFill>
                            <a:schemeClr val="dk1"/>
                          </a:solidFill>
                          <a:effectLst/>
                          <a:latin typeface="+mn-lt"/>
                          <a:ea typeface="+mn-ea"/>
                          <a:cs typeface="+mn-cs"/>
                        </a:rPr>
                        <a:t>Published papers (no primary data)</a:t>
                      </a:r>
                      <a:endParaRPr lang="en-PK" sz="1600" dirty="0"/>
                    </a:p>
                  </a:txBody>
                  <a:tcPr/>
                </a:tc>
                <a:tc>
                  <a:txBody>
                    <a:bodyPr/>
                    <a:lstStyle/>
                    <a:p>
                      <a:r>
                        <a:rPr lang="en-PK" sz="1600" b="0" i="0" kern="1200" dirty="0">
                          <a:solidFill>
                            <a:schemeClr val="dk1"/>
                          </a:solidFill>
                          <a:effectLst/>
                          <a:latin typeface="+mn-lt"/>
                          <a:ea typeface="+mn-ea"/>
                          <a:cs typeface="+mn-cs"/>
                        </a:rPr>
                        <a:t>Identifies lack of unified frameworks as the key open gap</a:t>
                      </a:r>
                      <a:endParaRPr lang="en-PK" sz="1600" dirty="0"/>
                    </a:p>
                  </a:txBody>
                  <a:tcPr/>
                </a:tc>
                <a:tc>
                  <a:txBody>
                    <a:bodyPr/>
                    <a:lstStyle/>
                    <a:p>
                      <a:r>
                        <a:rPr lang="en-PK" sz="1600" b="0" i="0" kern="1200" dirty="0">
                          <a:solidFill>
                            <a:schemeClr val="dk1"/>
                          </a:solidFill>
                          <a:effectLst/>
                          <a:latin typeface="+mn-lt"/>
                          <a:ea typeface="+mn-ea"/>
                          <a:cs typeface="+mn-cs"/>
                        </a:rPr>
                        <a:t>Survey only — no new algorithm proposed</a:t>
                      </a:r>
                      <a:endParaRPr lang="en-PK" sz="1600" dirty="0"/>
                    </a:p>
                  </a:txBody>
                  <a:tcPr/>
                </a:tc>
                <a:extLst>
                  <a:ext uri="{0D108BD9-81ED-4DB2-BD59-A6C34878D82A}">
                    <a16:rowId xmlns:a16="http://schemas.microsoft.com/office/drawing/2014/main" val="2955598424"/>
                  </a:ext>
                </a:extLst>
              </a:tr>
              <a:tr h="1470304">
                <a:tc>
                  <a:txBody>
                    <a:bodyPr/>
                    <a:lstStyle/>
                    <a:p>
                      <a:r>
                        <a:rPr lang="en-PK" sz="1600" b="0" i="0" kern="1200" dirty="0">
                          <a:solidFill>
                            <a:schemeClr val="dk1"/>
                          </a:solidFill>
                          <a:effectLst/>
                          <a:latin typeface="+mn-lt"/>
                          <a:ea typeface="+mn-ea"/>
                          <a:cs typeface="+mn-cs"/>
                        </a:rPr>
                        <a:t>Tang, Liang &amp; Li (2024)</a:t>
                      </a:r>
                      <a:endParaRPr lang="en-PK" sz="1600" dirty="0"/>
                    </a:p>
                  </a:txBody>
                  <a:tcPr/>
                </a:tc>
                <a:tc>
                  <a:txBody>
                    <a:bodyPr/>
                    <a:lstStyle/>
                    <a:p>
                      <a:r>
                        <a:rPr lang="en-PK" sz="1600" b="0" i="0" kern="1200" dirty="0">
                          <a:solidFill>
                            <a:schemeClr val="dk1"/>
                          </a:solidFill>
                          <a:effectLst/>
                          <a:latin typeface="+mn-lt"/>
                          <a:ea typeface="+mn-ea"/>
                          <a:cs typeface="+mn-cs"/>
                        </a:rPr>
                        <a:t>Single UAV navigation in dynamic obstacle environments</a:t>
                      </a:r>
                      <a:endParaRPr lang="en-PK" sz="1600" dirty="0"/>
                    </a:p>
                  </a:txBody>
                  <a:tcPr/>
                </a:tc>
                <a:tc>
                  <a:txBody>
                    <a:bodyPr/>
                    <a:lstStyle/>
                    <a:p>
                      <a:r>
                        <a:rPr lang="en-PK" sz="1600" b="0" i="0" kern="1200" dirty="0">
                          <a:solidFill>
                            <a:schemeClr val="dk1"/>
                          </a:solidFill>
                          <a:effectLst/>
                          <a:latin typeface="+mn-lt"/>
                          <a:ea typeface="+mn-ea"/>
                          <a:cs typeface="+mn-cs"/>
                        </a:rPr>
                        <a:t>Improved D3QN + Prioritized Experience Replay + heuristic action bias</a:t>
                      </a:r>
                      <a:endParaRPr lang="en-PK" sz="1600" dirty="0"/>
                    </a:p>
                  </a:txBody>
                  <a:tcPr/>
                </a:tc>
                <a:tc>
                  <a:txBody>
                    <a:bodyPr/>
                    <a:lstStyle/>
                    <a:p>
                      <a:r>
                        <a:rPr lang="en-PK" sz="1600" b="0" i="0" kern="1200" dirty="0">
                          <a:solidFill>
                            <a:schemeClr val="dk1"/>
                          </a:solidFill>
                          <a:effectLst/>
                          <a:latin typeface="+mn-lt"/>
                          <a:ea typeface="+mn-ea"/>
                          <a:cs typeface="+mn-cs"/>
                        </a:rPr>
                        <a:t>Custom 2D sim, single UAV, moving obstacles</a:t>
                      </a:r>
                      <a:endParaRPr lang="en-PK" sz="1600" dirty="0"/>
                    </a:p>
                  </a:txBody>
                  <a:tcPr/>
                </a:tc>
                <a:tc>
                  <a:txBody>
                    <a:bodyPr/>
                    <a:lstStyle/>
                    <a:p>
                      <a:r>
                        <a:rPr lang="en-PK" sz="1600" b="1" i="0" kern="1200" dirty="0">
                          <a:solidFill>
                            <a:schemeClr val="dk1"/>
                          </a:solidFill>
                          <a:effectLst/>
                          <a:latin typeface="+mn-lt"/>
                          <a:ea typeface="+mn-ea"/>
                          <a:cs typeface="+mn-cs"/>
                        </a:rPr>
                        <a:t>95% success rate</a:t>
                      </a:r>
                      <a:r>
                        <a:rPr lang="en-PK" sz="1600" b="0" i="0" kern="1200" dirty="0">
                          <a:solidFill>
                            <a:schemeClr val="dk1"/>
                          </a:solidFill>
                          <a:effectLst/>
                          <a:latin typeface="+mn-lt"/>
                          <a:ea typeface="+mn-ea"/>
                          <a:cs typeface="+mn-cs"/>
                        </a:rPr>
                        <a:t>, outperforms A* and RRT</a:t>
                      </a:r>
                      <a:endParaRPr lang="en-PK" sz="1600" dirty="0"/>
                    </a:p>
                  </a:txBody>
                  <a:tcPr/>
                </a:tc>
                <a:tc>
                  <a:txBody>
                    <a:bodyPr/>
                    <a:lstStyle/>
                    <a:p>
                      <a:r>
                        <a:rPr lang="en-PK" sz="1600" b="0" i="0" kern="1200" dirty="0">
                          <a:solidFill>
                            <a:schemeClr val="dk1"/>
                          </a:solidFill>
                          <a:effectLst/>
                          <a:latin typeface="+mn-lt"/>
                          <a:ea typeface="+mn-ea"/>
                          <a:cs typeface="+mn-cs"/>
                        </a:rPr>
                        <a:t>Single drone only, 2D, discrete actions</a:t>
                      </a:r>
                      <a:endParaRPr lang="en-PK" sz="1600" dirty="0"/>
                    </a:p>
                  </a:txBody>
                  <a:tcPr/>
                </a:tc>
                <a:extLst>
                  <a:ext uri="{0D108BD9-81ED-4DB2-BD59-A6C34878D82A}">
                    <a16:rowId xmlns:a16="http://schemas.microsoft.com/office/drawing/2014/main" val="931270011"/>
                  </a:ext>
                </a:extLst>
              </a:tr>
              <a:tr h="1313907">
                <a:tc>
                  <a:txBody>
                    <a:bodyPr/>
                    <a:lstStyle/>
                    <a:p>
                      <a:r>
                        <a:rPr lang="en-PK" sz="1600" b="0" i="0" kern="1200" dirty="0">
                          <a:solidFill>
                            <a:schemeClr val="dk1"/>
                          </a:solidFill>
                          <a:effectLst/>
                          <a:latin typeface="+mn-lt"/>
                          <a:ea typeface="+mn-ea"/>
                          <a:cs typeface="+mn-cs"/>
                        </a:rPr>
                        <a:t>Kong, Zhou, Li &amp; Wang (2024)</a:t>
                      </a:r>
                      <a:endParaRPr lang="en-PK" sz="1600" dirty="0"/>
                    </a:p>
                  </a:txBody>
                  <a:tcPr/>
                </a:tc>
                <a:tc>
                  <a:txBody>
                    <a:bodyPr/>
                    <a:lstStyle/>
                    <a:p>
                      <a:r>
                        <a:rPr lang="en-PK" sz="1600" b="0" i="0" kern="1200" dirty="0">
                          <a:solidFill>
                            <a:schemeClr val="dk1"/>
                          </a:solidFill>
                          <a:effectLst/>
                          <a:latin typeface="+mn-lt"/>
                          <a:ea typeface="+mn-ea"/>
                          <a:cs typeface="+mn-cs"/>
                        </a:rPr>
                        <a:t>Joint target assignment + path planning for multi-UAV</a:t>
                      </a:r>
                      <a:endParaRPr lang="en-PK" sz="1600" dirty="0"/>
                    </a:p>
                  </a:txBody>
                  <a:tcPr/>
                </a:tc>
                <a:tc>
                  <a:txBody>
                    <a:bodyPr/>
                    <a:lstStyle/>
                    <a:p>
                      <a:r>
                        <a:rPr lang="en-PK" sz="1600" b="0" i="0" kern="1200" dirty="0">
                          <a:solidFill>
                            <a:schemeClr val="dk1"/>
                          </a:solidFill>
                          <a:effectLst/>
                          <a:latin typeface="+mn-lt"/>
                          <a:ea typeface="+mn-ea"/>
                          <a:cs typeface="+mn-cs"/>
                        </a:rPr>
                        <a:t>TANet-TD3 + Hungarian algorithm supervision + POMDP</a:t>
                      </a:r>
                      <a:endParaRPr lang="en-PK" sz="1600" dirty="0"/>
                    </a:p>
                  </a:txBody>
                  <a:tcPr/>
                </a:tc>
                <a:tc>
                  <a:txBody>
                    <a:bodyPr/>
                    <a:lstStyle/>
                    <a:p>
                      <a:r>
                        <a:rPr lang="en-PK" sz="1600" b="0" i="0" kern="1200" dirty="0">
                          <a:solidFill>
                            <a:schemeClr val="dk1"/>
                          </a:solidFill>
                          <a:effectLst/>
                          <a:latin typeface="+mn-lt"/>
                          <a:ea typeface="+mn-ea"/>
                          <a:cs typeface="+mn-cs"/>
                        </a:rPr>
                        <a:t>Custom 2D sim, 5 UAVs, moving targets</a:t>
                      </a:r>
                      <a:endParaRPr lang="en-PK" sz="1600" dirty="0"/>
                    </a:p>
                  </a:txBody>
                  <a:tcPr/>
                </a:tc>
                <a:tc>
                  <a:txBody>
                    <a:bodyPr/>
                    <a:lstStyle/>
                    <a:p>
                      <a:r>
                        <a:rPr lang="en-PK" sz="1600" b="0" i="0" kern="1200" dirty="0">
                          <a:solidFill>
                            <a:schemeClr val="dk1"/>
                          </a:solidFill>
                          <a:effectLst/>
                          <a:latin typeface="+mn-lt"/>
                          <a:ea typeface="+mn-ea"/>
                          <a:cs typeface="+mn-cs"/>
                        </a:rPr>
                        <a:t>First paper combining assignment + path planning</a:t>
                      </a:r>
                      <a:endParaRPr lang="en-PK" sz="1600" dirty="0"/>
                    </a:p>
                  </a:txBody>
                  <a:tcPr/>
                </a:tc>
                <a:tc>
                  <a:txBody>
                    <a:bodyPr/>
                    <a:lstStyle/>
                    <a:p>
                      <a:r>
                        <a:rPr lang="en-PK" sz="1600" b="1" i="0" kern="1200" dirty="0">
                          <a:solidFill>
                            <a:schemeClr val="dk1"/>
                          </a:solidFill>
                          <a:effectLst/>
                          <a:latin typeface="+mn-lt"/>
                          <a:ea typeface="+mn-ea"/>
                          <a:cs typeface="+mn-cs"/>
                        </a:rPr>
                        <a:t>2D only, no inter-drone collision avoidance</a:t>
                      </a:r>
                      <a:endParaRPr lang="en-PK" sz="1600" dirty="0"/>
                    </a:p>
                  </a:txBody>
                  <a:tcPr/>
                </a:tc>
                <a:extLst>
                  <a:ext uri="{0D108BD9-81ED-4DB2-BD59-A6C34878D82A}">
                    <a16:rowId xmlns:a16="http://schemas.microsoft.com/office/drawing/2014/main" val="3713995536"/>
                  </a:ext>
                </a:extLst>
              </a:tr>
              <a:tr h="1167728">
                <a:tc>
                  <a:txBody>
                    <a:bodyPr/>
                    <a:lstStyle/>
                    <a:p>
                      <a:r>
                        <a:rPr lang="en-PK" sz="1600" b="0" i="0" kern="1200" dirty="0">
                          <a:solidFill>
                            <a:schemeClr val="dk1"/>
                          </a:solidFill>
                          <a:effectLst/>
                          <a:latin typeface="+mn-lt"/>
                          <a:ea typeface="+mn-ea"/>
                          <a:cs typeface="+mn-cs"/>
                        </a:rPr>
                        <a:t>Jarray, Zaghbani &amp; Bouallègue (2025)</a:t>
                      </a:r>
                      <a:endParaRPr lang="en-PK" sz="1600" dirty="0"/>
                    </a:p>
                  </a:txBody>
                  <a:tcPr/>
                </a:tc>
                <a:tc>
                  <a:txBody>
                    <a:bodyPr/>
                    <a:lstStyle/>
                    <a:p>
                      <a:r>
                        <a:rPr lang="en-PK" sz="1600" b="0" i="0" kern="1200" dirty="0">
                          <a:solidFill>
                            <a:schemeClr val="dk1"/>
                          </a:solidFill>
                          <a:effectLst/>
                          <a:latin typeface="+mn-lt"/>
                          <a:ea typeface="+mn-ea"/>
                          <a:cs typeface="+mn-cs"/>
                        </a:rPr>
                        <a:t>UAV path planning in large-scale 3D environments</a:t>
                      </a:r>
                      <a:endParaRPr lang="en-PK" sz="1600" dirty="0"/>
                    </a:p>
                  </a:txBody>
                  <a:tcPr/>
                </a:tc>
                <a:tc>
                  <a:txBody>
                    <a:bodyPr/>
                    <a:lstStyle/>
                    <a:p>
                      <a:r>
                        <a:rPr lang="en-PK" sz="1600" b="0" i="0" kern="1200" dirty="0">
                          <a:solidFill>
                            <a:schemeClr val="dk1"/>
                          </a:solidFill>
                          <a:effectLst/>
                          <a:latin typeface="+mn-lt"/>
                          <a:ea typeface="+mn-ea"/>
                          <a:cs typeface="+mn-cs"/>
                        </a:rPr>
                        <a:t>DQN + 3D CNN + dynamic reward formula</a:t>
                      </a:r>
                      <a:endParaRPr lang="en-PK" sz="1600" dirty="0"/>
                    </a:p>
                  </a:txBody>
                  <a:tcPr/>
                </a:tc>
                <a:tc>
                  <a:txBody>
                    <a:bodyPr/>
                    <a:lstStyle/>
                    <a:p>
                      <a:r>
                        <a:rPr lang="en-PK" sz="1600" b="0" i="0" kern="1200" dirty="0">
                          <a:solidFill>
                            <a:schemeClr val="dk1"/>
                          </a:solidFill>
                          <a:effectLst/>
                          <a:latin typeface="+mn-lt"/>
                          <a:ea typeface="+mn-ea"/>
                          <a:cs typeface="+mn-cs"/>
                        </a:rPr>
                        <a:t>Custom 3D sim, 25 km² area, 4 obstacle densities</a:t>
                      </a:r>
                      <a:endParaRPr lang="en-PK" sz="1600" dirty="0"/>
                    </a:p>
                  </a:txBody>
                  <a:tcPr/>
                </a:tc>
                <a:tc>
                  <a:txBody>
                    <a:bodyPr/>
                    <a:lstStyle/>
                    <a:p>
                      <a:r>
                        <a:rPr lang="en-PK" sz="1600" b="1" i="0" kern="1200" dirty="0">
                          <a:solidFill>
                            <a:schemeClr val="dk1"/>
                          </a:solidFill>
                          <a:effectLst/>
                          <a:latin typeface="+mn-lt"/>
                          <a:ea typeface="+mn-ea"/>
                          <a:cs typeface="+mn-cs"/>
                        </a:rPr>
                        <a:t>98% success in 3D</a:t>
                      </a:r>
                      <a:r>
                        <a:rPr lang="en-PK" sz="1600" b="0" i="0" kern="1200" dirty="0">
                          <a:solidFill>
                            <a:schemeClr val="dk1"/>
                          </a:solidFill>
                          <a:effectLst/>
                          <a:latin typeface="+mn-lt"/>
                          <a:ea typeface="+mn-ea"/>
                          <a:cs typeface="+mn-cs"/>
                        </a:rPr>
                        <a:t>, beats PSO and GWO</a:t>
                      </a:r>
                      <a:endParaRPr lang="en-PK" sz="1600" dirty="0"/>
                    </a:p>
                  </a:txBody>
                  <a:tcPr/>
                </a:tc>
                <a:tc>
                  <a:txBody>
                    <a:bodyPr/>
                    <a:lstStyle/>
                    <a:p>
                      <a:r>
                        <a:rPr lang="en-PK" sz="1600" b="0" i="0" kern="1200" dirty="0">
                          <a:solidFill>
                            <a:schemeClr val="dk1"/>
                          </a:solidFill>
                          <a:effectLst/>
                          <a:latin typeface="+mn-lt"/>
                          <a:ea typeface="+mn-ea"/>
                          <a:cs typeface="+mn-cs"/>
                        </a:rPr>
                        <a:t>Single drone, static obstacles only</a:t>
                      </a:r>
                      <a:endParaRPr lang="en-PK" sz="1600" dirty="0"/>
                    </a:p>
                  </a:txBody>
                  <a:tcPr/>
                </a:tc>
                <a:extLst>
                  <a:ext uri="{0D108BD9-81ED-4DB2-BD59-A6C34878D82A}">
                    <a16:rowId xmlns:a16="http://schemas.microsoft.com/office/drawing/2014/main" val="43168533"/>
                  </a:ext>
                </a:extLst>
              </a:tr>
            </a:tbl>
          </a:graphicData>
        </a:graphic>
      </p:graphicFrame>
      <p:sp>
        <p:nvSpPr>
          <p:cNvPr id="5" name="TextBox 4">
            <a:extLst>
              <a:ext uri="{FF2B5EF4-FFF2-40B4-BE49-F238E27FC236}">
                <a16:creationId xmlns:a16="http://schemas.microsoft.com/office/drawing/2014/main" id="{651BACD1-B299-E590-BF12-BE91F992A98F}"/>
              </a:ext>
            </a:extLst>
          </p:cNvPr>
          <p:cNvSpPr txBox="1"/>
          <p:nvPr/>
        </p:nvSpPr>
        <p:spPr>
          <a:xfrm>
            <a:off x="101600" y="1346200"/>
            <a:ext cx="184731" cy="369332"/>
          </a:xfrm>
          <a:prstGeom prst="rect">
            <a:avLst/>
          </a:prstGeom>
          <a:noFill/>
        </p:spPr>
        <p:txBody>
          <a:bodyPr wrap="none" rtlCol="0">
            <a:spAutoFit/>
          </a:bodyPr>
          <a:lstStyle/>
          <a:p>
            <a:endParaRPr lang="en-PK" dirty="0"/>
          </a:p>
        </p:txBody>
      </p:sp>
    </p:spTree>
    <p:extLst>
      <p:ext uri="{BB962C8B-B14F-4D97-AF65-F5344CB8AC3E}">
        <p14:creationId xmlns:p14="http://schemas.microsoft.com/office/powerpoint/2010/main" val="4086766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9FFFE-7A80-7C4B-769A-DDBC8D5ECE29}"/>
              </a:ext>
            </a:extLst>
          </p:cNvPr>
          <p:cNvSpPr>
            <a:spLocks noGrp="1"/>
          </p:cNvSpPr>
          <p:nvPr>
            <p:ph type="title"/>
          </p:nvPr>
        </p:nvSpPr>
        <p:spPr>
          <a:xfrm>
            <a:off x="507996" y="203200"/>
            <a:ext cx="11506204" cy="495300"/>
          </a:xfrm>
        </p:spPr>
        <p:txBody>
          <a:bodyPr>
            <a:noAutofit/>
          </a:bodyPr>
          <a:lstStyle/>
          <a:p>
            <a:r>
              <a:rPr lang="en-PK" sz="3600" dirty="0"/>
              <a:t>Related Work Cont…</a:t>
            </a:r>
          </a:p>
        </p:txBody>
      </p:sp>
      <p:graphicFrame>
        <p:nvGraphicFramePr>
          <p:cNvPr id="7" name="Content Placeholder 6">
            <a:extLst>
              <a:ext uri="{FF2B5EF4-FFF2-40B4-BE49-F238E27FC236}">
                <a16:creationId xmlns:a16="http://schemas.microsoft.com/office/drawing/2014/main" id="{9E10DE2E-8AFD-8F57-7C25-CC31B72F2F88}"/>
              </a:ext>
            </a:extLst>
          </p:cNvPr>
          <p:cNvGraphicFramePr>
            <a:graphicFrameLocks noGrp="1"/>
          </p:cNvGraphicFramePr>
          <p:nvPr>
            <p:ph idx="1"/>
            <p:extLst>
              <p:ext uri="{D42A27DB-BD31-4B8C-83A1-F6EECF244321}">
                <p14:modId xmlns:p14="http://schemas.microsoft.com/office/powerpoint/2010/main" val="390924702"/>
              </p:ext>
            </p:extLst>
          </p:nvPr>
        </p:nvGraphicFramePr>
        <p:xfrm>
          <a:off x="507996" y="812801"/>
          <a:ext cx="11366503" cy="5647282"/>
        </p:xfrm>
        <a:graphic>
          <a:graphicData uri="http://schemas.openxmlformats.org/drawingml/2006/table">
            <a:tbl>
              <a:tblPr firstRow="1" bandRow="1">
                <a:tableStyleId>{D7AC3CCA-C797-4891-BE02-D94E43425B78}</a:tableStyleId>
              </a:tblPr>
              <a:tblGrid>
                <a:gridCol w="1657106">
                  <a:extLst>
                    <a:ext uri="{9D8B030D-6E8A-4147-A177-3AD203B41FA5}">
                      <a16:colId xmlns:a16="http://schemas.microsoft.com/office/drawing/2014/main" val="1722732969"/>
                    </a:ext>
                  </a:extLst>
                </a:gridCol>
                <a:gridCol w="2131729">
                  <a:extLst>
                    <a:ext uri="{9D8B030D-6E8A-4147-A177-3AD203B41FA5}">
                      <a16:colId xmlns:a16="http://schemas.microsoft.com/office/drawing/2014/main" val="3705943741"/>
                    </a:ext>
                  </a:extLst>
                </a:gridCol>
                <a:gridCol w="1894417">
                  <a:extLst>
                    <a:ext uri="{9D8B030D-6E8A-4147-A177-3AD203B41FA5}">
                      <a16:colId xmlns:a16="http://schemas.microsoft.com/office/drawing/2014/main" val="84652238"/>
                    </a:ext>
                  </a:extLst>
                </a:gridCol>
                <a:gridCol w="1894417">
                  <a:extLst>
                    <a:ext uri="{9D8B030D-6E8A-4147-A177-3AD203B41FA5}">
                      <a16:colId xmlns:a16="http://schemas.microsoft.com/office/drawing/2014/main" val="3105983218"/>
                    </a:ext>
                  </a:extLst>
                </a:gridCol>
                <a:gridCol w="1894417">
                  <a:extLst>
                    <a:ext uri="{9D8B030D-6E8A-4147-A177-3AD203B41FA5}">
                      <a16:colId xmlns:a16="http://schemas.microsoft.com/office/drawing/2014/main" val="2047078586"/>
                    </a:ext>
                  </a:extLst>
                </a:gridCol>
                <a:gridCol w="1894417">
                  <a:extLst>
                    <a:ext uri="{9D8B030D-6E8A-4147-A177-3AD203B41FA5}">
                      <a16:colId xmlns:a16="http://schemas.microsoft.com/office/drawing/2014/main" val="3745472499"/>
                    </a:ext>
                  </a:extLst>
                </a:gridCol>
              </a:tblGrid>
              <a:tr h="314096">
                <a:tc>
                  <a:txBody>
                    <a:bodyPr/>
                    <a:lstStyle/>
                    <a:p>
                      <a:pPr algn="ctr"/>
                      <a:r>
                        <a:rPr lang="en-PK" sz="1600" dirty="0"/>
                        <a:t>Authors</a:t>
                      </a:r>
                    </a:p>
                  </a:txBody>
                  <a:tcPr/>
                </a:tc>
                <a:tc>
                  <a:txBody>
                    <a:bodyPr/>
                    <a:lstStyle/>
                    <a:p>
                      <a:pPr algn="ctr"/>
                      <a:r>
                        <a:rPr lang="en-PK" sz="1600" dirty="0"/>
                        <a:t>Contribution</a:t>
                      </a:r>
                    </a:p>
                  </a:txBody>
                  <a:tcPr/>
                </a:tc>
                <a:tc>
                  <a:txBody>
                    <a:bodyPr/>
                    <a:lstStyle/>
                    <a:p>
                      <a:pPr algn="ctr"/>
                      <a:r>
                        <a:rPr lang="en-PK" sz="1600" dirty="0"/>
                        <a:t>Methodology</a:t>
                      </a:r>
                    </a:p>
                  </a:txBody>
                  <a:tcPr/>
                </a:tc>
                <a:tc>
                  <a:txBody>
                    <a:bodyPr/>
                    <a:lstStyle/>
                    <a:p>
                      <a:pPr algn="ctr"/>
                      <a:r>
                        <a:rPr lang="en-PK" sz="1600" dirty="0"/>
                        <a:t>Dataset/Sample</a:t>
                      </a:r>
                    </a:p>
                  </a:txBody>
                  <a:tcPr/>
                </a:tc>
                <a:tc>
                  <a:txBody>
                    <a:bodyPr/>
                    <a:lstStyle/>
                    <a:p>
                      <a:pPr algn="ctr"/>
                      <a:r>
                        <a:rPr lang="en-PK" sz="1600" dirty="0"/>
                        <a:t>Strength</a:t>
                      </a:r>
                    </a:p>
                  </a:txBody>
                  <a:tcPr/>
                </a:tc>
                <a:tc>
                  <a:txBody>
                    <a:bodyPr/>
                    <a:lstStyle/>
                    <a:p>
                      <a:pPr algn="ctr"/>
                      <a:r>
                        <a:rPr lang="en-PK" sz="1600" dirty="0"/>
                        <a:t>Limitation</a:t>
                      </a:r>
                    </a:p>
                  </a:txBody>
                  <a:tcPr/>
                </a:tc>
                <a:extLst>
                  <a:ext uri="{0D108BD9-81ED-4DB2-BD59-A6C34878D82A}">
                    <a16:rowId xmlns:a16="http://schemas.microsoft.com/office/drawing/2014/main" val="3579634782"/>
                  </a:ext>
                </a:extLst>
              </a:tr>
              <a:tr h="1382576">
                <a:tc>
                  <a:txBody>
                    <a:bodyPr/>
                    <a:lstStyle/>
                    <a:p>
                      <a:r>
                        <a:rPr lang="en-PK" sz="1600" b="1" i="0" kern="1200" dirty="0">
                          <a:solidFill>
                            <a:schemeClr val="dk1"/>
                          </a:solidFill>
                          <a:effectLst/>
                          <a:latin typeface="+mn-lt"/>
                          <a:ea typeface="+mn-ea"/>
                          <a:cs typeface="+mn-cs"/>
                        </a:rPr>
                        <a:t>Rezaee et al. (2026) — IGAT-MARL</a:t>
                      </a:r>
                      <a:endParaRPr lang="en-PK" sz="1600" dirty="0"/>
                    </a:p>
                  </a:txBody>
                  <a:tcPr/>
                </a:tc>
                <a:tc>
                  <a:txBody>
                    <a:bodyPr/>
                    <a:lstStyle/>
                    <a:p>
                      <a:r>
                        <a:rPr lang="en-PK" sz="1600" b="0" i="0" kern="1200" dirty="0">
                          <a:solidFill>
                            <a:schemeClr val="dk1"/>
                          </a:solidFill>
                          <a:effectLst/>
                          <a:latin typeface="+mn-lt"/>
                          <a:ea typeface="+mn-ea"/>
                          <a:cs typeface="+mn-cs"/>
                        </a:rPr>
                        <a:t>Collision avoidance using sparse conflict-aware interaction graph</a:t>
                      </a:r>
                      <a:endParaRPr lang="en-PK" sz="1600" dirty="0"/>
                    </a:p>
                  </a:txBody>
                  <a:tcPr/>
                </a:tc>
                <a:tc>
                  <a:txBody>
                    <a:bodyPr/>
                    <a:lstStyle/>
                    <a:p>
                      <a:r>
                        <a:rPr lang="en-PK" sz="1600" b="0" i="0" kern="1200" dirty="0">
                          <a:solidFill>
                            <a:schemeClr val="dk1"/>
                          </a:solidFill>
                          <a:effectLst/>
                          <a:latin typeface="+mn-lt"/>
                          <a:ea typeface="+mn-ea"/>
                          <a:cs typeface="+mn-cs"/>
                        </a:rPr>
                        <a:t>Conflict-driven sparse graph + Improved GAT + curriculum</a:t>
                      </a:r>
                      <a:endParaRPr lang="en-PK" sz="1600" dirty="0"/>
                    </a:p>
                  </a:txBody>
                  <a:tcPr/>
                </a:tc>
                <a:tc>
                  <a:txBody>
                    <a:bodyPr/>
                    <a:lstStyle/>
                    <a:p>
                      <a:r>
                        <a:rPr lang="en-PK" sz="1600" b="0" i="0" kern="1200" dirty="0">
                          <a:solidFill>
                            <a:schemeClr val="dk1"/>
                          </a:solidFill>
                          <a:effectLst/>
                          <a:latin typeface="+mn-lt"/>
                          <a:ea typeface="+mn-ea"/>
                          <a:cs typeface="+mn-cs"/>
                        </a:rPr>
                        <a:t>BlueSky sim, 3–10 fixed-wing UAVs, conflict-guaranteed episodes</a:t>
                      </a:r>
                      <a:endParaRPr lang="en-PK" sz="1600" dirty="0"/>
                    </a:p>
                  </a:txBody>
                  <a:tcPr/>
                </a:tc>
                <a:tc>
                  <a:txBody>
                    <a:bodyPr/>
                    <a:lstStyle/>
                    <a:p>
                      <a:r>
                        <a:rPr lang="en-PK" sz="1600" b="1" i="0" kern="1200" dirty="0">
                          <a:solidFill>
                            <a:schemeClr val="dk1"/>
                          </a:solidFill>
                          <a:effectLst/>
                          <a:latin typeface="+mn-lt"/>
                          <a:ea typeface="+mn-ea"/>
                          <a:cs typeface="+mn-cs"/>
                        </a:rPr>
                        <a:t>44% fewer edges, 17% higher reward</a:t>
                      </a:r>
                      <a:r>
                        <a:rPr lang="en-PK" sz="1600" b="0" i="0" kern="1200" dirty="0">
                          <a:solidFill>
                            <a:schemeClr val="dk1"/>
                          </a:solidFill>
                          <a:effectLst/>
                          <a:latin typeface="+mn-lt"/>
                          <a:ea typeface="+mn-ea"/>
                          <a:cs typeface="+mn-cs"/>
                        </a:rPr>
                        <a:t>, 10% fewer dangerous events</a:t>
                      </a:r>
                      <a:endParaRPr lang="en-PK" sz="1600" dirty="0"/>
                    </a:p>
                  </a:txBody>
                  <a:tcPr/>
                </a:tc>
                <a:tc>
                  <a:txBody>
                    <a:bodyPr/>
                    <a:lstStyle/>
                    <a:p>
                      <a:r>
                        <a:rPr lang="en-PK" sz="1600" b="1" i="0" kern="1200" dirty="0">
                          <a:solidFill>
                            <a:schemeClr val="dk1"/>
                          </a:solidFill>
                          <a:effectLst/>
                          <a:latin typeface="+mn-lt"/>
                          <a:ea typeface="+mn-ea"/>
                          <a:cs typeface="+mn-cs"/>
                        </a:rPr>
                        <a:t>No target assignment — drones have no goals</a:t>
                      </a:r>
                      <a:endParaRPr lang="en-PK" sz="1600" dirty="0"/>
                    </a:p>
                  </a:txBody>
                  <a:tcPr/>
                </a:tc>
                <a:extLst>
                  <a:ext uri="{0D108BD9-81ED-4DB2-BD59-A6C34878D82A}">
                    <a16:rowId xmlns:a16="http://schemas.microsoft.com/office/drawing/2014/main" val="3701047231"/>
                  </a:ext>
                </a:extLst>
              </a:tr>
              <a:tr h="1382576">
                <a:tc>
                  <a:txBody>
                    <a:bodyPr/>
                    <a:lstStyle/>
                    <a:p>
                      <a:r>
                        <a:rPr lang="en-PK" sz="1600" b="1" i="0" kern="1200" dirty="0">
                          <a:solidFill>
                            <a:schemeClr val="dk1"/>
                          </a:solidFill>
                          <a:effectLst/>
                          <a:latin typeface="+mn-lt"/>
                          <a:ea typeface="+mn-ea"/>
                          <a:cs typeface="+mn-cs"/>
                        </a:rPr>
                        <a:t>Sheng et al. (2026) — DA-MAPPO</a:t>
                      </a:r>
                      <a:endParaRPr lang="en-PK" sz="1600" dirty="0"/>
                    </a:p>
                  </a:txBody>
                  <a:tcPr/>
                </a:tc>
                <a:tc>
                  <a:txBody>
                    <a:bodyPr/>
                    <a:lstStyle/>
                    <a:p>
                      <a:r>
                        <a:rPr lang="en-PK" sz="1600" b="0" i="0" kern="1200" dirty="0">
                          <a:solidFill>
                            <a:schemeClr val="dk1"/>
                          </a:solidFill>
                          <a:effectLst/>
                          <a:latin typeface="+mn-lt"/>
                          <a:ea typeface="+mn-ea"/>
                          <a:cs typeface="+mn-cs"/>
                        </a:rPr>
                        <a:t>Real-time dynamic target assignment embedded in drone observation</a:t>
                      </a:r>
                      <a:endParaRPr lang="en-PK" sz="1600" dirty="0"/>
                    </a:p>
                  </a:txBody>
                  <a:tcPr/>
                </a:tc>
                <a:tc>
                  <a:txBody>
                    <a:bodyPr/>
                    <a:lstStyle/>
                    <a:p>
                      <a:r>
                        <a:rPr lang="en-PK" sz="1600" b="0" i="0" kern="1200" dirty="0">
                          <a:solidFill>
                            <a:schemeClr val="dk1"/>
                          </a:solidFill>
                          <a:effectLst/>
                          <a:latin typeface="+mn-lt"/>
                          <a:ea typeface="+mn-ea"/>
                          <a:cs typeface="+mn-cs"/>
                        </a:rPr>
                        <a:t>Hungarian algorithm at every step + MAPPO + 4-tier reward + curriculum</a:t>
                      </a:r>
                      <a:endParaRPr lang="en-PK" sz="1600" dirty="0"/>
                    </a:p>
                  </a:txBody>
                  <a:tcPr/>
                </a:tc>
                <a:tc>
                  <a:txBody>
                    <a:bodyPr/>
                    <a:lstStyle/>
                    <a:p>
                      <a:r>
                        <a:rPr lang="en-PK" sz="1600" b="0" i="0" kern="1200" dirty="0">
                          <a:solidFill>
                            <a:schemeClr val="dk1"/>
                          </a:solidFill>
                          <a:effectLst/>
                          <a:latin typeface="+mn-lt"/>
                          <a:ea typeface="+mn-ea"/>
                          <a:cs typeface="+mn-cs"/>
                        </a:rPr>
                        <a:t>Custom sim, 3 UAVs, 3 dynamic targets, 30–50 static obstacles</a:t>
                      </a:r>
                      <a:endParaRPr lang="en-PK" sz="1600" dirty="0"/>
                    </a:p>
                  </a:txBody>
                  <a:tcPr/>
                </a:tc>
                <a:tc>
                  <a:txBody>
                    <a:bodyPr/>
                    <a:lstStyle/>
                    <a:p>
                      <a:r>
                        <a:rPr lang="en-PK" sz="1600" b="1" i="0" kern="1200" dirty="0">
                          <a:solidFill>
                            <a:schemeClr val="dk1"/>
                          </a:solidFill>
                          <a:effectLst/>
                          <a:latin typeface="+mn-lt"/>
                          <a:ea typeface="+mn-ea"/>
                          <a:cs typeface="+mn-cs"/>
                        </a:rPr>
                        <a:t>90–99% mission success</a:t>
                      </a:r>
                      <a:r>
                        <a:rPr lang="en-PK" sz="1600" b="0" i="0" kern="1200" dirty="0">
                          <a:solidFill>
                            <a:schemeClr val="dk1"/>
                          </a:solidFill>
                          <a:effectLst/>
                          <a:latin typeface="+mn-lt"/>
                          <a:ea typeface="+mn-ea"/>
                          <a:cs typeface="+mn-cs"/>
                        </a:rPr>
                        <a:t>, robust to 50% packet loss and 6-step delay</a:t>
                      </a:r>
                      <a:endParaRPr lang="en-PK" sz="1600" dirty="0"/>
                    </a:p>
                  </a:txBody>
                  <a:tcPr/>
                </a:tc>
                <a:tc>
                  <a:txBody>
                    <a:bodyPr/>
                    <a:lstStyle/>
                    <a:p>
                      <a:r>
                        <a:rPr lang="en-PK" sz="1600" b="1" i="0" kern="1200" dirty="0">
                          <a:solidFill>
                            <a:schemeClr val="dk1"/>
                          </a:solidFill>
                          <a:effectLst/>
                          <a:latin typeface="+mn-lt"/>
                          <a:ea typeface="+mn-ea"/>
                          <a:cs typeface="+mn-cs"/>
                        </a:rPr>
                        <a:t>2D only, 3 drones only, no inter-drone collision avoidance</a:t>
                      </a:r>
                      <a:endParaRPr lang="en-PK" sz="1600" dirty="0"/>
                    </a:p>
                  </a:txBody>
                  <a:tcPr/>
                </a:tc>
                <a:extLst>
                  <a:ext uri="{0D108BD9-81ED-4DB2-BD59-A6C34878D82A}">
                    <a16:rowId xmlns:a16="http://schemas.microsoft.com/office/drawing/2014/main" val="4191060957"/>
                  </a:ext>
                </a:extLst>
              </a:tr>
              <a:tr h="1164274">
                <a:tc>
                  <a:txBody>
                    <a:bodyPr/>
                    <a:lstStyle/>
                    <a:p>
                      <a:r>
                        <a:rPr lang="en-PK" sz="1600" b="0" i="0" kern="1200" dirty="0">
                          <a:solidFill>
                            <a:schemeClr val="dk1"/>
                          </a:solidFill>
                          <a:effectLst/>
                          <a:latin typeface="+mn-lt"/>
                          <a:ea typeface="+mn-ea"/>
                          <a:cs typeface="+mn-cs"/>
                        </a:rPr>
                        <a:t>Zhang et al. (2025)</a:t>
                      </a:r>
                      <a:endParaRPr lang="en-PK" sz="1600" dirty="0"/>
                    </a:p>
                  </a:txBody>
                  <a:tcPr/>
                </a:tc>
                <a:tc>
                  <a:txBody>
                    <a:bodyPr/>
                    <a:lstStyle/>
                    <a:p>
                      <a:r>
                        <a:rPr lang="en-PK" sz="1600" b="0" i="0" kern="1200" dirty="0">
                          <a:solidFill>
                            <a:schemeClr val="dk1"/>
                          </a:solidFill>
                          <a:effectLst/>
                          <a:latin typeface="+mn-lt"/>
                          <a:ea typeface="+mn-ea"/>
                          <a:cs typeface="+mn-cs"/>
                        </a:rPr>
                        <a:t>Large-scale UAV swarm navigation with mean-field RL</a:t>
                      </a:r>
                      <a:endParaRPr lang="en-PK" sz="1600" dirty="0"/>
                    </a:p>
                  </a:txBody>
                  <a:tcPr/>
                </a:tc>
                <a:tc>
                  <a:txBody>
                    <a:bodyPr/>
                    <a:lstStyle/>
                    <a:p>
                      <a:r>
                        <a:rPr lang="en-PK" sz="1600" b="0" i="0" kern="1200" dirty="0">
                          <a:solidFill>
                            <a:schemeClr val="dk1"/>
                          </a:solidFill>
                          <a:effectLst/>
                          <a:latin typeface="+mn-lt"/>
                          <a:ea typeface="+mn-ea"/>
                          <a:cs typeface="+mn-cs"/>
                        </a:rPr>
                        <a:t>Mean-field DDPG + multi-head attention + CTDE</a:t>
                      </a:r>
                      <a:endParaRPr lang="en-PK" sz="1600" dirty="0"/>
                    </a:p>
                  </a:txBody>
                  <a:tcPr/>
                </a:tc>
                <a:tc>
                  <a:txBody>
                    <a:bodyPr/>
                    <a:lstStyle/>
                    <a:p>
                      <a:r>
                        <a:rPr lang="en-PK" sz="1600" b="0" i="0" kern="1200" dirty="0">
                          <a:solidFill>
                            <a:schemeClr val="dk1"/>
                          </a:solidFill>
                          <a:effectLst/>
                          <a:latin typeface="+mn-lt"/>
                          <a:ea typeface="+mn-ea"/>
                          <a:cs typeface="+mn-cs"/>
                        </a:rPr>
                        <a:t>Custom 2D sim, 20–120 UAVs, static obstacles</a:t>
                      </a:r>
                      <a:endParaRPr lang="en-PK" sz="1600" dirty="0"/>
                    </a:p>
                  </a:txBody>
                  <a:tcPr/>
                </a:tc>
                <a:tc>
                  <a:txBody>
                    <a:bodyPr/>
                    <a:lstStyle/>
                    <a:p>
                      <a:r>
                        <a:rPr lang="en-PK" sz="1600" b="1" i="0" kern="1200" dirty="0">
                          <a:solidFill>
                            <a:schemeClr val="dk1"/>
                          </a:solidFill>
                          <a:effectLst/>
                          <a:latin typeface="+mn-lt"/>
                          <a:ea typeface="+mn-ea"/>
                          <a:cs typeface="+mn-cs"/>
                        </a:rPr>
                        <a:t>&gt;90% success at 120 drones</a:t>
                      </a:r>
                      <a:r>
                        <a:rPr lang="en-PK" sz="1600" b="0" i="0" kern="1200" dirty="0">
                          <a:solidFill>
                            <a:schemeClr val="dk1"/>
                          </a:solidFill>
                          <a:effectLst/>
                          <a:latin typeface="+mn-lt"/>
                          <a:ea typeface="+mn-ea"/>
                          <a:cs typeface="+mn-cs"/>
                        </a:rPr>
                        <a:t> where baselines collapse</a:t>
                      </a:r>
                      <a:endParaRPr lang="en-PK" sz="1600" dirty="0"/>
                    </a:p>
                  </a:txBody>
                  <a:tcPr/>
                </a:tc>
                <a:tc>
                  <a:txBody>
                    <a:bodyPr/>
                    <a:lstStyle/>
                    <a:p>
                      <a:r>
                        <a:rPr lang="en-PK" sz="1600" b="0" i="0" kern="1200" dirty="0">
                          <a:solidFill>
                            <a:schemeClr val="dk1"/>
                          </a:solidFill>
                          <a:effectLst/>
                          <a:latin typeface="+mn-lt"/>
                          <a:ea typeface="+mn-ea"/>
                          <a:cs typeface="+mn-cs"/>
                        </a:rPr>
                        <a:t>2D only, static obstacles, homogeneous drones</a:t>
                      </a:r>
                      <a:endParaRPr lang="en-PK" sz="1600" dirty="0"/>
                    </a:p>
                  </a:txBody>
                  <a:tcPr/>
                </a:tc>
                <a:extLst>
                  <a:ext uri="{0D108BD9-81ED-4DB2-BD59-A6C34878D82A}">
                    <a16:rowId xmlns:a16="http://schemas.microsoft.com/office/drawing/2014/main" val="3666200764"/>
                  </a:ext>
                </a:extLst>
              </a:tr>
              <a:tr h="1382576">
                <a:tc>
                  <a:txBody>
                    <a:bodyPr/>
                    <a:lstStyle/>
                    <a:p>
                      <a:r>
                        <a:rPr lang="en-PK" sz="1600" b="0" i="0" kern="1200" dirty="0">
                          <a:solidFill>
                            <a:schemeClr val="dk1"/>
                          </a:solidFill>
                          <a:effectLst/>
                          <a:latin typeface="+mn-lt"/>
                          <a:ea typeface="+mn-ea"/>
                          <a:cs typeface="+mn-cs"/>
                        </a:rPr>
                        <a:t>Xu et al. (2026) — </a:t>
                      </a:r>
                      <a:r>
                        <a:rPr lang="en-PK" sz="1600" b="0" i="1" kern="1200" dirty="0">
                          <a:solidFill>
                            <a:schemeClr val="dk1"/>
                          </a:solidFill>
                          <a:effectLst/>
                          <a:latin typeface="+mn-lt"/>
                          <a:ea typeface="+mn-ea"/>
                          <a:cs typeface="+mn-cs"/>
                        </a:rPr>
                        <a:t>MRLMN</a:t>
                      </a:r>
                      <a:endParaRPr lang="en-PK" sz="1600" dirty="0"/>
                    </a:p>
                  </a:txBody>
                  <a:tcPr/>
                </a:tc>
                <a:tc>
                  <a:txBody>
                    <a:bodyPr/>
                    <a:lstStyle/>
                    <a:p>
                      <a:r>
                        <a:rPr lang="en-PK" sz="1600" b="0" i="0" kern="1200" dirty="0">
                          <a:solidFill>
                            <a:schemeClr val="dk1"/>
                          </a:solidFill>
                          <a:effectLst/>
                          <a:latin typeface="+mn-lt"/>
                          <a:ea typeface="+mn-ea"/>
                          <a:cs typeface="+mn-cs"/>
                        </a:rPr>
                        <a:t>UAV multi-hop networking with LLM-guided MARL</a:t>
                      </a:r>
                      <a:endParaRPr lang="en-PK" sz="1600" dirty="0"/>
                    </a:p>
                  </a:txBody>
                  <a:tcPr/>
                </a:tc>
                <a:tc>
                  <a:txBody>
                    <a:bodyPr/>
                    <a:lstStyle/>
                    <a:p>
                      <a:r>
                        <a:rPr lang="en-PK" sz="1600" b="0" i="0" kern="1200" dirty="0">
                          <a:solidFill>
                            <a:schemeClr val="dk1"/>
                          </a:solidFill>
                          <a:effectLst/>
                          <a:latin typeface="+mn-lt"/>
                          <a:ea typeface="+mn-ea"/>
                          <a:cs typeface="+mn-cs"/>
                        </a:rPr>
                        <a:t>GPT-4o knowledge distillation + IPPO + role-based reward decomposition</a:t>
                      </a:r>
                      <a:endParaRPr lang="en-PK" sz="1600" dirty="0"/>
                    </a:p>
                  </a:txBody>
                  <a:tcPr/>
                </a:tc>
                <a:tc>
                  <a:txBody>
                    <a:bodyPr/>
                    <a:lstStyle/>
                    <a:p>
                      <a:r>
                        <a:rPr lang="en-PK" sz="1600" b="0" i="0" kern="1200" dirty="0">
                          <a:solidFill>
                            <a:schemeClr val="dk1"/>
                          </a:solidFill>
                          <a:effectLst/>
                          <a:latin typeface="+mn-lt"/>
                          <a:ea typeface="+mn-ea"/>
                          <a:cs typeface="+mn-cs"/>
                        </a:rPr>
                        <a:t>Custom sim, 12–24 UAVs, 150 ground users</a:t>
                      </a:r>
                      <a:endParaRPr lang="en-PK" sz="1600" dirty="0"/>
                    </a:p>
                  </a:txBody>
                  <a:tcPr/>
                </a:tc>
                <a:tc>
                  <a:txBody>
                    <a:bodyPr/>
                    <a:lstStyle/>
                    <a:p>
                      <a:r>
                        <a:rPr lang="en-PK" sz="1600" b="1" i="0" kern="1200" dirty="0">
                          <a:solidFill>
                            <a:schemeClr val="dk1"/>
                          </a:solidFill>
                          <a:effectLst/>
                          <a:latin typeface="+mn-lt"/>
                          <a:ea typeface="+mn-ea"/>
                          <a:cs typeface="+mn-cs"/>
                        </a:rPr>
                        <a:t>52% higher data rate</a:t>
                      </a:r>
                      <a:r>
                        <a:rPr lang="en-PK" sz="1600" b="0" i="0" kern="1200" dirty="0">
                          <a:solidFill>
                            <a:schemeClr val="dk1"/>
                          </a:solidFill>
                          <a:effectLst/>
                          <a:latin typeface="+mn-lt"/>
                          <a:ea typeface="+mn-ea"/>
                          <a:cs typeface="+mn-cs"/>
                        </a:rPr>
                        <a:t>, 27% more user coverage</a:t>
                      </a:r>
                      <a:endParaRPr lang="en-PK" sz="1600" dirty="0"/>
                    </a:p>
                  </a:txBody>
                  <a:tcPr/>
                </a:tc>
                <a:tc>
                  <a:txBody>
                    <a:bodyPr/>
                    <a:lstStyle/>
                    <a:p>
                      <a:r>
                        <a:rPr lang="en-PK" sz="1600" b="0" i="0" kern="1200" dirty="0">
                          <a:solidFill>
                            <a:schemeClr val="dk1"/>
                          </a:solidFill>
                          <a:effectLst/>
                          <a:latin typeface="+mn-lt"/>
                          <a:ea typeface="+mn-ea"/>
                          <a:cs typeface="+mn-cs"/>
                        </a:rPr>
                        <a:t>2D only, GPT-4o dependency, no energy modeling</a:t>
                      </a:r>
                      <a:endParaRPr lang="en-PK" sz="1600" dirty="0"/>
                    </a:p>
                  </a:txBody>
                  <a:tcPr/>
                </a:tc>
                <a:extLst>
                  <a:ext uri="{0D108BD9-81ED-4DB2-BD59-A6C34878D82A}">
                    <a16:rowId xmlns:a16="http://schemas.microsoft.com/office/drawing/2014/main" val="486443372"/>
                  </a:ext>
                </a:extLst>
              </a:tr>
            </a:tbl>
          </a:graphicData>
        </a:graphic>
      </p:graphicFrame>
    </p:spTree>
    <p:extLst>
      <p:ext uri="{BB962C8B-B14F-4D97-AF65-F5344CB8AC3E}">
        <p14:creationId xmlns:p14="http://schemas.microsoft.com/office/powerpoint/2010/main" val="1363513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BAB51-FB50-F65F-D968-A82BB4BFE790}"/>
              </a:ext>
            </a:extLst>
          </p:cNvPr>
          <p:cNvSpPr>
            <a:spLocks noGrp="1"/>
          </p:cNvSpPr>
          <p:nvPr>
            <p:ph type="title"/>
          </p:nvPr>
        </p:nvSpPr>
        <p:spPr>
          <a:xfrm>
            <a:off x="571500" y="342899"/>
            <a:ext cx="10515600" cy="676275"/>
          </a:xfrm>
        </p:spPr>
        <p:txBody>
          <a:bodyPr>
            <a:normAutofit/>
          </a:bodyPr>
          <a:lstStyle/>
          <a:p>
            <a:r>
              <a:rPr lang="en-PK" sz="4000" dirty="0"/>
              <a:t>Gap in existing work:</a:t>
            </a:r>
          </a:p>
        </p:txBody>
      </p:sp>
      <p:sp>
        <p:nvSpPr>
          <p:cNvPr id="3" name="Content Placeholder 2">
            <a:extLst>
              <a:ext uri="{FF2B5EF4-FFF2-40B4-BE49-F238E27FC236}">
                <a16:creationId xmlns:a16="http://schemas.microsoft.com/office/drawing/2014/main" id="{9FC24440-9D97-2A46-9EC3-E7ACE72628BB}"/>
              </a:ext>
            </a:extLst>
          </p:cNvPr>
          <p:cNvSpPr>
            <a:spLocks noGrp="1"/>
          </p:cNvSpPr>
          <p:nvPr>
            <p:ph idx="1"/>
          </p:nvPr>
        </p:nvSpPr>
        <p:spPr>
          <a:xfrm>
            <a:off x="406400" y="1139825"/>
            <a:ext cx="5422900" cy="4892675"/>
          </a:xfrm>
        </p:spPr>
        <p:txBody>
          <a:bodyPr>
            <a:normAutofit fontScale="70000" lnSpcReduction="20000"/>
          </a:bodyPr>
          <a:lstStyle/>
          <a:p>
            <a:pPr>
              <a:lnSpc>
                <a:spcPct val="120000"/>
              </a:lnSpc>
            </a:pPr>
            <a:r>
              <a:rPr lang="en-PK" dirty="0"/>
              <a:t>Researchers studying </a:t>
            </a:r>
            <a:r>
              <a:rPr lang="en-PK" b="1" dirty="0"/>
              <a:t>target assignment</a:t>
            </a:r>
            <a:r>
              <a:rPr lang="en-PK" dirty="0"/>
              <a:t> built methods without collision avoidance</a:t>
            </a:r>
          </a:p>
          <a:p>
            <a:pPr>
              <a:lnSpc>
                <a:spcPct val="120000"/>
              </a:lnSpc>
            </a:pPr>
            <a:r>
              <a:rPr lang="en-PK" dirty="0"/>
              <a:t>Researchers studying </a:t>
            </a:r>
            <a:r>
              <a:rPr lang="en-PK" b="1" dirty="0"/>
              <a:t>collision avoidance</a:t>
            </a:r>
            <a:r>
              <a:rPr lang="en-PK" dirty="0"/>
              <a:t> built methods without any goal/target structure</a:t>
            </a:r>
          </a:p>
          <a:p>
            <a:pPr>
              <a:lnSpc>
                <a:spcPct val="120000"/>
              </a:lnSpc>
            </a:pPr>
            <a:r>
              <a:rPr lang="en-PK" dirty="0"/>
              <a:t>All existing work tested in </a:t>
            </a:r>
            <a:r>
              <a:rPr lang="en-PK" b="1" dirty="0"/>
              <a:t>2D environments only</a:t>
            </a:r>
            <a:endParaRPr lang="en-PK" dirty="0"/>
          </a:p>
          <a:p>
            <a:pPr>
              <a:lnSpc>
                <a:spcPct val="120000"/>
              </a:lnSpc>
            </a:pPr>
            <a:r>
              <a:rPr lang="en-PK" dirty="0"/>
              <a:t>Result: capable but </a:t>
            </a:r>
            <a:r>
              <a:rPr lang="en-PK" b="1" dirty="0"/>
              <a:t>partial</a:t>
            </a:r>
            <a:r>
              <a:rPr lang="en-PK" dirty="0"/>
              <a:t> solutions each solves one piece, ignores the rest</a:t>
            </a:r>
          </a:p>
          <a:p>
            <a:pPr>
              <a:lnSpc>
                <a:spcPct val="120000"/>
              </a:lnSpc>
            </a:pPr>
            <a:r>
              <a:rPr lang="en-PK" dirty="0"/>
              <a:t>The two most advanced recent papers each explicitly cite the other's problem as their </a:t>
            </a:r>
            <a:r>
              <a:rPr lang="en-PK" b="1" dirty="0"/>
              <a:t>own next step</a:t>
            </a:r>
            <a:endParaRPr lang="en-PK" dirty="0"/>
          </a:p>
          <a:p>
            <a:pPr>
              <a:lnSpc>
                <a:spcPct val="120000"/>
              </a:lnSpc>
            </a:pPr>
            <a:endParaRPr lang="en-PK" dirty="0"/>
          </a:p>
        </p:txBody>
      </p:sp>
      <p:pic>
        <p:nvPicPr>
          <p:cNvPr id="5" name="Picture 4">
            <a:extLst>
              <a:ext uri="{FF2B5EF4-FFF2-40B4-BE49-F238E27FC236}">
                <a16:creationId xmlns:a16="http://schemas.microsoft.com/office/drawing/2014/main" id="{700C0DD9-A443-BB32-5CD2-2CB0A34CA085}"/>
              </a:ext>
            </a:extLst>
          </p:cNvPr>
          <p:cNvPicPr>
            <a:picLocks noChangeAspect="1"/>
          </p:cNvPicPr>
          <p:nvPr/>
        </p:nvPicPr>
        <p:blipFill>
          <a:blip r:embed="rId2"/>
          <a:stretch>
            <a:fillRect/>
          </a:stretch>
        </p:blipFill>
        <p:spPr>
          <a:xfrm>
            <a:off x="5829300" y="1769413"/>
            <a:ext cx="6085153" cy="3319174"/>
          </a:xfrm>
          <a:prstGeom prst="rect">
            <a:avLst/>
          </a:prstGeom>
          <a:effectLst>
            <a:outerShdw algn="ctr" rotWithShape="0">
              <a:srgbClr val="000000">
                <a:alpha val="43137"/>
              </a:srgbClr>
            </a:outerShdw>
          </a:effectLst>
        </p:spPr>
      </p:pic>
    </p:spTree>
    <p:extLst>
      <p:ext uri="{BB962C8B-B14F-4D97-AF65-F5344CB8AC3E}">
        <p14:creationId xmlns:p14="http://schemas.microsoft.com/office/powerpoint/2010/main" val="2265985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0949E-70C5-8F40-FA84-D6C01613ED42}"/>
              </a:ext>
            </a:extLst>
          </p:cNvPr>
          <p:cNvSpPr>
            <a:spLocks noGrp="1"/>
          </p:cNvSpPr>
          <p:nvPr>
            <p:ph type="title"/>
          </p:nvPr>
        </p:nvSpPr>
        <p:spPr>
          <a:xfrm>
            <a:off x="339437" y="841621"/>
            <a:ext cx="11513126" cy="929286"/>
          </a:xfrm>
        </p:spPr>
        <p:txBody>
          <a:bodyPr>
            <a:normAutofit/>
          </a:bodyPr>
          <a:lstStyle/>
          <a:p>
            <a:pPr algn="ctr"/>
            <a:r>
              <a:rPr lang="en-PK" dirty="0"/>
              <a:t>Problem Statement:</a:t>
            </a:r>
          </a:p>
        </p:txBody>
      </p:sp>
      <p:sp>
        <p:nvSpPr>
          <p:cNvPr id="3" name="Content Placeholder 2">
            <a:extLst>
              <a:ext uri="{FF2B5EF4-FFF2-40B4-BE49-F238E27FC236}">
                <a16:creationId xmlns:a16="http://schemas.microsoft.com/office/drawing/2014/main" id="{977F8501-E557-FAC7-B745-2C4EFF88AE20}"/>
              </a:ext>
            </a:extLst>
          </p:cNvPr>
          <p:cNvSpPr>
            <a:spLocks noGrp="1"/>
          </p:cNvSpPr>
          <p:nvPr>
            <p:ph idx="1"/>
          </p:nvPr>
        </p:nvSpPr>
        <p:spPr>
          <a:xfrm>
            <a:off x="892134" y="1770907"/>
            <a:ext cx="10407732" cy="3316185"/>
          </a:xfrm>
        </p:spPr>
        <p:txBody>
          <a:bodyPr>
            <a:normAutofit fontScale="92500" lnSpcReduction="10000"/>
          </a:bodyPr>
          <a:lstStyle/>
          <a:p>
            <a:pPr marL="0" indent="0" algn="ctr">
              <a:lnSpc>
                <a:spcPct val="120000"/>
              </a:lnSpc>
              <a:buNone/>
            </a:pPr>
            <a:r>
              <a:rPr lang="en-PK" sz="2000" dirty="0"/>
              <a:t>Existing approaches to multi-UAV coordination treat dynamic target assignment and collision avoidance as separate problems, each developed and validated independently in two-dimensional environments. When both mechanisms operate simultaneously in three-dimensional space, they generate competing navigation signals  the assignment directs each drone toward its target without awareness of active collision conflicts, while the collision avoidance module forces course corrections without awareness of current assignments, a tension that becomes structurally significant when vertical flight paths are introduced. No existing framework has addressed this interference jointly in three-dimensional space, leaving it unknown whether a unified policy can sustain both assignment optimality and collision safety simultaneously, or whether the mechanisms degrade each other when combined.</a:t>
            </a:r>
          </a:p>
        </p:txBody>
      </p:sp>
    </p:spTree>
    <p:extLst>
      <p:ext uri="{BB962C8B-B14F-4D97-AF65-F5344CB8AC3E}">
        <p14:creationId xmlns:p14="http://schemas.microsoft.com/office/powerpoint/2010/main" val="2024015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87FFD-AAC2-A7BE-1B49-657B92D479FB}"/>
              </a:ext>
            </a:extLst>
          </p:cNvPr>
          <p:cNvSpPr>
            <a:spLocks noGrp="1"/>
          </p:cNvSpPr>
          <p:nvPr>
            <p:ph type="title"/>
          </p:nvPr>
        </p:nvSpPr>
        <p:spPr>
          <a:xfrm>
            <a:off x="470065" y="365126"/>
            <a:ext cx="10515600" cy="573026"/>
          </a:xfrm>
        </p:spPr>
        <p:txBody>
          <a:bodyPr>
            <a:normAutofit fontScale="90000"/>
          </a:bodyPr>
          <a:lstStyle/>
          <a:p>
            <a:r>
              <a:rPr lang="en-PK" sz="4000" dirty="0"/>
              <a:t>Research Objective</a:t>
            </a:r>
          </a:p>
        </p:txBody>
      </p:sp>
      <p:sp>
        <p:nvSpPr>
          <p:cNvPr id="3" name="Content Placeholder 2">
            <a:extLst>
              <a:ext uri="{FF2B5EF4-FFF2-40B4-BE49-F238E27FC236}">
                <a16:creationId xmlns:a16="http://schemas.microsoft.com/office/drawing/2014/main" id="{007EBA45-1327-7AB0-2D7B-D25F695BC580}"/>
              </a:ext>
            </a:extLst>
          </p:cNvPr>
          <p:cNvSpPr>
            <a:spLocks noGrp="1"/>
          </p:cNvSpPr>
          <p:nvPr>
            <p:ph idx="1"/>
          </p:nvPr>
        </p:nvSpPr>
        <p:spPr>
          <a:xfrm>
            <a:off x="977735" y="1104404"/>
            <a:ext cx="10236530" cy="5082639"/>
          </a:xfrm>
        </p:spPr>
        <p:txBody>
          <a:bodyPr>
            <a:normAutofit fontScale="92500" lnSpcReduction="20000"/>
          </a:bodyPr>
          <a:lstStyle/>
          <a:p>
            <a:pPr marL="514350" indent="-514350">
              <a:lnSpc>
                <a:spcPct val="150000"/>
              </a:lnSpc>
              <a:buFont typeface="+mj-lt"/>
              <a:buAutoNum type="arabicPeriod"/>
            </a:pPr>
            <a:r>
              <a:rPr lang="en-PK" dirty="0"/>
              <a:t>Design a unified observation vector encoding both the Hungarian-algorithm assignment state and the conflict-aware neighborhood for each drone in a 3D MAPPO policy</a:t>
            </a:r>
          </a:p>
          <a:p>
            <a:pPr marL="514350" indent="-514350">
              <a:lnSpc>
                <a:spcPct val="150000"/>
              </a:lnSpc>
              <a:buFont typeface="+mj-lt"/>
              <a:buAutoNum type="arabicPeriod"/>
            </a:pPr>
            <a:r>
              <a:rPr lang="en-PK" dirty="0"/>
              <a:t>Test scalability across swarm sizes of </a:t>
            </a:r>
            <a:r>
              <a:rPr lang="en-PK" b="1" dirty="0"/>
              <a:t>3, 5, and 8 drones</a:t>
            </a:r>
            <a:r>
              <a:rPr lang="en-PK" dirty="0"/>
              <a:t>  determine if performance degrades as simultaneous assignment-conflict interactions increase</a:t>
            </a:r>
          </a:p>
          <a:p>
            <a:pPr marL="514350" indent="-514350">
              <a:lnSpc>
                <a:spcPct val="150000"/>
              </a:lnSpc>
              <a:buFont typeface="+mj-lt"/>
              <a:buAutoNum type="arabicPeriod"/>
            </a:pPr>
            <a:r>
              <a:rPr lang="en-PK" dirty="0"/>
              <a:t>Find the failure boundary identify swarm size, obstacle density, and target speed conditions where the unified policy fails, and characterize the failure mode</a:t>
            </a:r>
          </a:p>
        </p:txBody>
      </p:sp>
    </p:spTree>
    <p:extLst>
      <p:ext uri="{BB962C8B-B14F-4D97-AF65-F5344CB8AC3E}">
        <p14:creationId xmlns:p14="http://schemas.microsoft.com/office/powerpoint/2010/main" val="3863674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AF4A-C5EE-8090-9029-F5AF6CD6B425}"/>
              </a:ext>
            </a:extLst>
          </p:cNvPr>
          <p:cNvSpPr>
            <a:spLocks noGrp="1"/>
          </p:cNvSpPr>
          <p:nvPr>
            <p:ph type="title"/>
          </p:nvPr>
        </p:nvSpPr>
        <p:spPr>
          <a:xfrm>
            <a:off x="296883" y="303387"/>
            <a:ext cx="11056917" cy="565293"/>
          </a:xfrm>
        </p:spPr>
        <p:txBody>
          <a:bodyPr>
            <a:normAutofit fontScale="90000"/>
          </a:bodyPr>
          <a:lstStyle/>
          <a:p>
            <a:r>
              <a:rPr lang="en-PK" sz="4000" dirty="0"/>
              <a:t>Proposed Methodology:</a:t>
            </a:r>
          </a:p>
        </p:txBody>
      </p:sp>
      <p:graphicFrame>
        <p:nvGraphicFramePr>
          <p:cNvPr id="9" name="Content Placeholder 8">
            <a:extLst>
              <a:ext uri="{FF2B5EF4-FFF2-40B4-BE49-F238E27FC236}">
                <a16:creationId xmlns:a16="http://schemas.microsoft.com/office/drawing/2014/main" id="{18785139-935D-1BBD-F622-3A9C6966AC9C}"/>
              </a:ext>
            </a:extLst>
          </p:cNvPr>
          <p:cNvGraphicFramePr>
            <a:graphicFrameLocks noGrp="1"/>
          </p:cNvGraphicFramePr>
          <p:nvPr>
            <p:ph idx="1"/>
            <p:extLst>
              <p:ext uri="{D42A27DB-BD31-4B8C-83A1-F6EECF244321}">
                <p14:modId xmlns:p14="http://schemas.microsoft.com/office/powerpoint/2010/main" val="1185322649"/>
              </p:ext>
            </p:extLst>
          </p:nvPr>
        </p:nvGraphicFramePr>
        <p:xfrm>
          <a:off x="688770" y="1292728"/>
          <a:ext cx="4763120" cy="2256773"/>
        </p:xfrm>
        <a:graphic>
          <a:graphicData uri="http://schemas.openxmlformats.org/drawingml/2006/table">
            <a:tbl>
              <a:tblPr>
                <a:tableStyleId>{D7AC3CCA-C797-4891-BE02-D94E43425B78}</a:tableStyleId>
              </a:tblPr>
              <a:tblGrid>
                <a:gridCol w="299969">
                  <a:extLst>
                    <a:ext uri="{9D8B030D-6E8A-4147-A177-3AD203B41FA5}">
                      <a16:colId xmlns:a16="http://schemas.microsoft.com/office/drawing/2014/main" val="20076081"/>
                    </a:ext>
                  </a:extLst>
                </a:gridCol>
                <a:gridCol w="1823394">
                  <a:extLst>
                    <a:ext uri="{9D8B030D-6E8A-4147-A177-3AD203B41FA5}">
                      <a16:colId xmlns:a16="http://schemas.microsoft.com/office/drawing/2014/main" val="567228964"/>
                    </a:ext>
                  </a:extLst>
                </a:gridCol>
                <a:gridCol w="2639757">
                  <a:extLst>
                    <a:ext uri="{9D8B030D-6E8A-4147-A177-3AD203B41FA5}">
                      <a16:colId xmlns:a16="http://schemas.microsoft.com/office/drawing/2014/main" val="4191167167"/>
                    </a:ext>
                  </a:extLst>
                </a:gridCol>
              </a:tblGrid>
              <a:tr h="311841">
                <a:tc>
                  <a:txBody>
                    <a:bodyPr/>
                    <a:lstStyle/>
                    <a:p>
                      <a:pPr algn="l">
                        <a:buNone/>
                      </a:pPr>
                      <a:r>
                        <a:rPr lang="en-PK" sz="1200">
                          <a:effectLst/>
                        </a:rPr>
                        <a:t>#</a:t>
                      </a:r>
                    </a:p>
                  </a:txBody>
                  <a:tcPr marL="61530" marR="61530" marT="30765" marB="30765" anchor="ctr"/>
                </a:tc>
                <a:tc>
                  <a:txBody>
                    <a:bodyPr/>
                    <a:lstStyle/>
                    <a:p>
                      <a:pPr algn="l">
                        <a:buNone/>
                      </a:pPr>
                      <a:r>
                        <a:rPr lang="en-PK" sz="1200">
                          <a:effectLst/>
                        </a:rPr>
                        <a:t>Component</a:t>
                      </a:r>
                    </a:p>
                  </a:txBody>
                  <a:tcPr marL="61530" marR="61530" marT="30765" marB="30765" anchor="ctr"/>
                </a:tc>
                <a:tc>
                  <a:txBody>
                    <a:bodyPr/>
                    <a:lstStyle/>
                    <a:p>
                      <a:pPr algn="l">
                        <a:buNone/>
                      </a:pPr>
                      <a:r>
                        <a:rPr lang="en-PK" sz="1200" dirty="0">
                          <a:effectLst/>
                        </a:rPr>
                        <a:t>Source</a:t>
                      </a:r>
                    </a:p>
                  </a:txBody>
                  <a:tcPr marL="61530" marR="61530" marT="30765" marB="30765" anchor="ctr"/>
                </a:tc>
                <a:extLst>
                  <a:ext uri="{0D108BD9-81ED-4DB2-BD59-A6C34878D82A}">
                    <a16:rowId xmlns:a16="http://schemas.microsoft.com/office/drawing/2014/main" val="25752857"/>
                  </a:ext>
                </a:extLst>
              </a:tr>
              <a:tr h="311841">
                <a:tc>
                  <a:txBody>
                    <a:bodyPr/>
                    <a:lstStyle/>
                    <a:p>
                      <a:pPr>
                        <a:buNone/>
                      </a:pPr>
                      <a:r>
                        <a:rPr lang="en-PK" sz="1200">
                          <a:effectLst/>
                        </a:rPr>
                        <a:t>1</a:t>
                      </a:r>
                    </a:p>
                  </a:txBody>
                  <a:tcPr marL="61530" marR="61530" marT="30765" marB="30765" anchor="ctr"/>
                </a:tc>
                <a:tc>
                  <a:txBody>
                    <a:bodyPr/>
                    <a:lstStyle/>
                    <a:p>
                      <a:pPr>
                        <a:buNone/>
                      </a:pPr>
                      <a:r>
                        <a:rPr lang="en-PK" sz="1200">
                          <a:effectLst/>
                        </a:rPr>
                        <a:t>Own 3D position + velocity</a:t>
                      </a:r>
                    </a:p>
                  </a:txBody>
                  <a:tcPr marL="61530" marR="61530" marT="30765" marB="30765" anchor="ctr"/>
                </a:tc>
                <a:tc>
                  <a:txBody>
                    <a:bodyPr/>
                    <a:lstStyle/>
                    <a:p>
                      <a:pPr>
                        <a:buNone/>
                      </a:pPr>
                      <a:r>
                        <a:rPr lang="en-PK" sz="1200" dirty="0">
                          <a:effectLst/>
                        </a:rPr>
                        <a:t>Onboard sensors</a:t>
                      </a:r>
                    </a:p>
                  </a:txBody>
                  <a:tcPr marL="61530" marR="61530" marT="30765" marB="30765" anchor="ctr"/>
                </a:tc>
                <a:extLst>
                  <a:ext uri="{0D108BD9-81ED-4DB2-BD59-A6C34878D82A}">
                    <a16:rowId xmlns:a16="http://schemas.microsoft.com/office/drawing/2014/main" val="3362018491"/>
                  </a:ext>
                </a:extLst>
              </a:tr>
              <a:tr h="545176">
                <a:tc>
                  <a:txBody>
                    <a:bodyPr/>
                    <a:lstStyle/>
                    <a:p>
                      <a:pPr>
                        <a:buNone/>
                      </a:pPr>
                      <a:r>
                        <a:rPr lang="en-PK" sz="1200">
                          <a:effectLst/>
                        </a:rPr>
                        <a:t>2</a:t>
                      </a:r>
                    </a:p>
                  </a:txBody>
                  <a:tcPr marL="61530" marR="61530" marT="30765" marB="30765" anchor="ctr"/>
                </a:tc>
                <a:tc>
                  <a:txBody>
                    <a:bodyPr/>
                    <a:lstStyle/>
                    <a:p>
                      <a:pPr>
                        <a:buNone/>
                      </a:pPr>
                      <a:r>
                        <a:rPr lang="en-PK" sz="1200" dirty="0">
                          <a:effectLst/>
                        </a:rPr>
                        <a:t>Current target position</a:t>
                      </a:r>
                    </a:p>
                  </a:txBody>
                  <a:tcPr marL="61530" marR="61530" marT="30765" marB="30765" anchor="ctr"/>
                </a:tc>
                <a:tc>
                  <a:txBody>
                    <a:bodyPr/>
                    <a:lstStyle/>
                    <a:p>
                      <a:pPr>
                        <a:buNone/>
                      </a:pPr>
                      <a:r>
                        <a:rPr lang="en-PK" sz="1200" dirty="0">
                          <a:effectLst/>
                        </a:rPr>
                        <a:t>Hungarian algorithm (updated every step)</a:t>
                      </a:r>
                    </a:p>
                  </a:txBody>
                  <a:tcPr marL="61530" marR="61530" marT="30765" marB="30765" anchor="ctr"/>
                </a:tc>
                <a:extLst>
                  <a:ext uri="{0D108BD9-81ED-4DB2-BD59-A6C34878D82A}">
                    <a16:rowId xmlns:a16="http://schemas.microsoft.com/office/drawing/2014/main" val="416381703"/>
                  </a:ext>
                </a:extLst>
              </a:tr>
              <a:tr h="545176">
                <a:tc>
                  <a:txBody>
                    <a:bodyPr/>
                    <a:lstStyle/>
                    <a:p>
                      <a:pPr>
                        <a:buNone/>
                      </a:pPr>
                      <a:r>
                        <a:rPr lang="en-PK" sz="1200">
                          <a:effectLst/>
                        </a:rPr>
                        <a:t>3</a:t>
                      </a:r>
                    </a:p>
                  </a:txBody>
                  <a:tcPr marL="61530" marR="61530" marT="30765" marB="30765" anchor="ctr"/>
                </a:tc>
                <a:tc>
                  <a:txBody>
                    <a:bodyPr/>
                    <a:lstStyle/>
                    <a:p>
                      <a:pPr>
                        <a:buNone/>
                      </a:pPr>
                      <a:r>
                        <a:rPr lang="en-PK" sz="1200" dirty="0">
                          <a:effectLst/>
                        </a:rPr>
                        <a:t>Conflict neighbor positions + velocities</a:t>
                      </a:r>
                    </a:p>
                  </a:txBody>
                  <a:tcPr marL="61530" marR="61530" marT="30765" marB="30765" anchor="ctr"/>
                </a:tc>
                <a:tc>
                  <a:txBody>
                    <a:bodyPr/>
                    <a:lstStyle/>
                    <a:p>
                      <a:pPr>
                        <a:buNone/>
                      </a:pPr>
                      <a:r>
                        <a:rPr lang="en-PK" sz="1200" dirty="0">
                          <a:effectLst/>
                        </a:rPr>
                        <a:t>Conflict graph (sparse, collision-risk pairs only)</a:t>
                      </a:r>
                    </a:p>
                  </a:txBody>
                  <a:tcPr marL="61530" marR="61530" marT="30765" marB="30765" anchor="ctr"/>
                </a:tc>
                <a:extLst>
                  <a:ext uri="{0D108BD9-81ED-4DB2-BD59-A6C34878D82A}">
                    <a16:rowId xmlns:a16="http://schemas.microsoft.com/office/drawing/2014/main" val="2595228502"/>
                  </a:ext>
                </a:extLst>
              </a:tr>
              <a:tr h="311841">
                <a:tc>
                  <a:txBody>
                    <a:bodyPr/>
                    <a:lstStyle/>
                    <a:p>
                      <a:pPr>
                        <a:buNone/>
                      </a:pPr>
                      <a:r>
                        <a:rPr lang="en-PK" sz="1200">
                          <a:effectLst/>
                        </a:rPr>
                        <a:t>4</a:t>
                      </a:r>
                    </a:p>
                  </a:txBody>
                  <a:tcPr marL="61530" marR="61530" marT="30765" marB="30765" anchor="ctr"/>
                </a:tc>
                <a:tc>
                  <a:txBody>
                    <a:bodyPr/>
                    <a:lstStyle/>
                    <a:p>
                      <a:pPr>
                        <a:buNone/>
                      </a:pPr>
                      <a:r>
                        <a:rPr lang="en-PK" sz="1200">
                          <a:effectLst/>
                        </a:rPr>
                        <a:t>Obstacle proximity (6 directions)</a:t>
                      </a:r>
                    </a:p>
                  </a:txBody>
                  <a:tcPr marL="61530" marR="61530" marT="30765" marB="30765" anchor="ctr"/>
                </a:tc>
                <a:tc>
                  <a:txBody>
                    <a:bodyPr/>
                    <a:lstStyle/>
                    <a:p>
                      <a:pPr>
                        <a:buNone/>
                      </a:pPr>
                      <a:r>
                        <a:rPr lang="en-PK" sz="1200" dirty="0">
                          <a:effectLst/>
                        </a:rPr>
                        <a:t>Proximity sensors ±x ±y ±z</a:t>
                      </a:r>
                    </a:p>
                  </a:txBody>
                  <a:tcPr marL="61530" marR="61530" marT="30765" marB="30765" anchor="ctr"/>
                </a:tc>
                <a:extLst>
                  <a:ext uri="{0D108BD9-81ED-4DB2-BD59-A6C34878D82A}">
                    <a16:rowId xmlns:a16="http://schemas.microsoft.com/office/drawing/2014/main" val="655793290"/>
                  </a:ext>
                </a:extLst>
              </a:tr>
            </a:tbl>
          </a:graphicData>
        </a:graphic>
      </p:graphicFrame>
      <p:sp>
        <p:nvSpPr>
          <p:cNvPr id="10" name="TextBox 9">
            <a:extLst>
              <a:ext uri="{FF2B5EF4-FFF2-40B4-BE49-F238E27FC236}">
                <a16:creationId xmlns:a16="http://schemas.microsoft.com/office/drawing/2014/main" id="{C862CD42-64B7-07BA-4407-DC553015229D}"/>
              </a:ext>
            </a:extLst>
          </p:cNvPr>
          <p:cNvSpPr txBox="1"/>
          <p:nvPr/>
        </p:nvSpPr>
        <p:spPr>
          <a:xfrm>
            <a:off x="296884" y="911427"/>
            <a:ext cx="4763120" cy="338554"/>
          </a:xfrm>
          <a:prstGeom prst="rect">
            <a:avLst/>
          </a:prstGeom>
          <a:noFill/>
        </p:spPr>
        <p:txBody>
          <a:bodyPr wrap="square" rtlCol="0">
            <a:spAutoFit/>
          </a:bodyPr>
          <a:lstStyle/>
          <a:p>
            <a:r>
              <a:rPr lang="en-PK" sz="1600" dirty="0"/>
              <a:t>Each drone's observation includes 4 components:</a:t>
            </a:r>
          </a:p>
        </p:txBody>
      </p:sp>
      <p:pic>
        <p:nvPicPr>
          <p:cNvPr id="12" name="Picture 11">
            <a:extLst>
              <a:ext uri="{FF2B5EF4-FFF2-40B4-BE49-F238E27FC236}">
                <a16:creationId xmlns:a16="http://schemas.microsoft.com/office/drawing/2014/main" id="{B325EEC1-4747-1457-3A6D-BB78968099CF}"/>
              </a:ext>
            </a:extLst>
          </p:cNvPr>
          <p:cNvPicPr>
            <a:picLocks noChangeAspect="1"/>
          </p:cNvPicPr>
          <p:nvPr/>
        </p:nvPicPr>
        <p:blipFill>
          <a:blip r:embed="rId2"/>
          <a:stretch>
            <a:fillRect/>
          </a:stretch>
        </p:blipFill>
        <p:spPr>
          <a:xfrm>
            <a:off x="688768" y="3672588"/>
            <a:ext cx="4763119" cy="2598065"/>
          </a:xfrm>
          <a:prstGeom prst="rect">
            <a:avLst/>
          </a:prstGeom>
        </p:spPr>
      </p:pic>
      <p:pic>
        <p:nvPicPr>
          <p:cNvPr id="14" name="Picture 13">
            <a:extLst>
              <a:ext uri="{FF2B5EF4-FFF2-40B4-BE49-F238E27FC236}">
                <a16:creationId xmlns:a16="http://schemas.microsoft.com/office/drawing/2014/main" id="{2E8AAB01-33AF-01A0-110C-047F32267317}"/>
              </a:ext>
            </a:extLst>
          </p:cNvPr>
          <p:cNvPicPr>
            <a:picLocks noChangeAspect="1"/>
          </p:cNvPicPr>
          <p:nvPr/>
        </p:nvPicPr>
        <p:blipFill>
          <a:blip r:embed="rId3"/>
          <a:srcRect l="6334"/>
          <a:stretch>
            <a:fillRect/>
          </a:stretch>
        </p:blipFill>
        <p:spPr>
          <a:xfrm>
            <a:off x="5825341" y="1815728"/>
            <a:ext cx="5954517" cy="3884428"/>
          </a:xfrm>
          <a:prstGeom prst="rect">
            <a:avLst/>
          </a:prstGeom>
        </p:spPr>
      </p:pic>
    </p:spTree>
    <p:extLst>
      <p:ext uri="{BB962C8B-B14F-4D97-AF65-F5344CB8AC3E}">
        <p14:creationId xmlns:p14="http://schemas.microsoft.com/office/powerpoint/2010/main" val="1892725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5CC1-2530-D607-F829-90B6801E4DE4}"/>
              </a:ext>
            </a:extLst>
          </p:cNvPr>
          <p:cNvSpPr>
            <a:spLocks noGrp="1"/>
          </p:cNvSpPr>
          <p:nvPr>
            <p:ph type="title"/>
          </p:nvPr>
        </p:nvSpPr>
        <p:spPr>
          <a:xfrm>
            <a:off x="458190" y="305459"/>
            <a:ext cx="11476510" cy="917699"/>
          </a:xfrm>
        </p:spPr>
        <p:txBody>
          <a:bodyPr>
            <a:normAutofit/>
          </a:bodyPr>
          <a:lstStyle/>
          <a:p>
            <a:r>
              <a:rPr lang="en-PK" sz="3600" dirty="0"/>
              <a:t>Training Strategy:</a:t>
            </a:r>
          </a:p>
        </p:txBody>
      </p:sp>
      <p:graphicFrame>
        <p:nvGraphicFramePr>
          <p:cNvPr id="4" name="Content Placeholder 3">
            <a:extLst>
              <a:ext uri="{FF2B5EF4-FFF2-40B4-BE49-F238E27FC236}">
                <a16:creationId xmlns:a16="http://schemas.microsoft.com/office/drawing/2014/main" id="{356E708A-8383-3A00-79F9-02DA4DA99AFB}"/>
              </a:ext>
            </a:extLst>
          </p:cNvPr>
          <p:cNvGraphicFramePr>
            <a:graphicFrameLocks noGrp="1"/>
          </p:cNvGraphicFramePr>
          <p:nvPr>
            <p:ph idx="1"/>
            <p:extLst>
              <p:ext uri="{D42A27DB-BD31-4B8C-83A1-F6EECF244321}">
                <p14:modId xmlns:p14="http://schemas.microsoft.com/office/powerpoint/2010/main" val="788977979"/>
              </p:ext>
            </p:extLst>
          </p:nvPr>
        </p:nvGraphicFramePr>
        <p:xfrm>
          <a:off x="419595" y="1785406"/>
          <a:ext cx="5986455" cy="3427863"/>
        </p:xfrm>
        <a:graphic>
          <a:graphicData uri="http://schemas.openxmlformats.org/drawingml/2006/table">
            <a:tbl>
              <a:tblPr>
                <a:tableStyleId>{D7AC3CCA-C797-4891-BE02-D94E43425B78}</a:tableStyleId>
              </a:tblPr>
              <a:tblGrid>
                <a:gridCol w="663477">
                  <a:extLst>
                    <a:ext uri="{9D8B030D-6E8A-4147-A177-3AD203B41FA5}">
                      <a16:colId xmlns:a16="http://schemas.microsoft.com/office/drawing/2014/main" val="1615018604"/>
                    </a:ext>
                  </a:extLst>
                </a:gridCol>
                <a:gridCol w="1039569">
                  <a:extLst>
                    <a:ext uri="{9D8B030D-6E8A-4147-A177-3AD203B41FA5}">
                      <a16:colId xmlns:a16="http://schemas.microsoft.com/office/drawing/2014/main" val="4118362553"/>
                    </a:ext>
                  </a:extLst>
                </a:gridCol>
                <a:gridCol w="1235911">
                  <a:extLst>
                    <a:ext uri="{9D8B030D-6E8A-4147-A177-3AD203B41FA5}">
                      <a16:colId xmlns:a16="http://schemas.microsoft.com/office/drawing/2014/main" val="3726695516"/>
                    </a:ext>
                  </a:extLst>
                </a:gridCol>
                <a:gridCol w="3047498">
                  <a:extLst>
                    <a:ext uri="{9D8B030D-6E8A-4147-A177-3AD203B41FA5}">
                      <a16:colId xmlns:a16="http://schemas.microsoft.com/office/drawing/2014/main" val="3791880373"/>
                    </a:ext>
                  </a:extLst>
                </a:gridCol>
              </a:tblGrid>
              <a:tr h="606288">
                <a:tc>
                  <a:txBody>
                    <a:bodyPr/>
                    <a:lstStyle/>
                    <a:p>
                      <a:pPr algn="l">
                        <a:buNone/>
                      </a:pPr>
                      <a:r>
                        <a:rPr lang="en-PK" sz="1600" dirty="0">
                          <a:effectLst/>
                        </a:rPr>
                        <a:t>Stage</a:t>
                      </a:r>
                    </a:p>
                  </a:txBody>
                  <a:tcPr marL="95250" marR="95250" marT="47625" marB="47625" anchor="ctr"/>
                </a:tc>
                <a:tc>
                  <a:txBody>
                    <a:bodyPr/>
                    <a:lstStyle/>
                    <a:p>
                      <a:pPr algn="l">
                        <a:buNone/>
                      </a:pPr>
                      <a:r>
                        <a:rPr lang="en-PK" sz="1600">
                          <a:effectLst/>
                        </a:rPr>
                        <a:t>Drones</a:t>
                      </a:r>
                    </a:p>
                  </a:txBody>
                  <a:tcPr marL="95250" marR="95250" marT="47625" marB="47625" anchor="ctr"/>
                </a:tc>
                <a:tc>
                  <a:txBody>
                    <a:bodyPr/>
                    <a:lstStyle/>
                    <a:p>
                      <a:pPr algn="l">
                        <a:buNone/>
                      </a:pPr>
                      <a:r>
                        <a:rPr lang="en-PK" sz="1600">
                          <a:effectLst/>
                        </a:rPr>
                        <a:t>Obstacles</a:t>
                      </a:r>
                    </a:p>
                  </a:txBody>
                  <a:tcPr marL="95250" marR="95250" marT="47625" marB="47625" anchor="ctr"/>
                </a:tc>
                <a:tc>
                  <a:txBody>
                    <a:bodyPr/>
                    <a:lstStyle/>
                    <a:p>
                      <a:pPr algn="l">
                        <a:buNone/>
                      </a:pPr>
                      <a:r>
                        <a:rPr lang="en-PK" sz="1600">
                          <a:effectLst/>
                        </a:rPr>
                        <a:t>Goal</a:t>
                      </a:r>
                    </a:p>
                  </a:txBody>
                  <a:tcPr marL="95250" marR="95250" marT="47625" marB="47625" anchor="ctr"/>
                </a:tc>
                <a:extLst>
                  <a:ext uri="{0D108BD9-81ED-4DB2-BD59-A6C34878D82A}">
                    <a16:rowId xmlns:a16="http://schemas.microsoft.com/office/drawing/2014/main" val="1849304719"/>
                  </a:ext>
                </a:extLst>
              </a:tr>
              <a:tr h="606288">
                <a:tc>
                  <a:txBody>
                    <a:bodyPr/>
                    <a:lstStyle/>
                    <a:p>
                      <a:pPr>
                        <a:buNone/>
                      </a:pPr>
                      <a:r>
                        <a:rPr lang="en-PK" sz="1600">
                          <a:effectLst/>
                        </a:rPr>
                        <a:t>1</a:t>
                      </a:r>
                    </a:p>
                  </a:txBody>
                  <a:tcPr marL="95250" marR="95250" marT="47625" marB="47625" anchor="ctr"/>
                </a:tc>
                <a:tc>
                  <a:txBody>
                    <a:bodyPr/>
                    <a:lstStyle/>
                    <a:p>
                      <a:pPr>
                        <a:buNone/>
                      </a:pPr>
                      <a:r>
                        <a:rPr lang="en-PK" sz="1600">
                          <a:effectLst/>
                        </a:rPr>
                        <a:t>3</a:t>
                      </a:r>
                    </a:p>
                  </a:txBody>
                  <a:tcPr marL="95250" marR="95250" marT="47625" marB="47625" anchor="ctr"/>
                </a:tc>
                <a:tc>
                  <a:txBody>
                    <a:bodyPr/>
                    <a:lstStyle/>
                    <a:p>
                      <a:pPr>
                        <a:buNone/>
                      </a:pPr>
                      <a:r>
                        <a:rPr lang="en-PK" sz="1600" dirty="0">
                          <a:effectLst/>
                        </a:rPr>
                        <a:t>Low</a:t>
                      </a:r>
                    </a:p>
                  </a:txBody>
                  <a:tcPr marL="95250" marR="95250" marT="47625" marB="47625" anchor="ctr"/>
                </a:tc>
                <a:tc>
                  <a:txBody>
                    <a:bodyPr/>
                    <a:lstStyle/>
                    <a:p>
                      <a:pPr>
                        <a:buNone/>
                      </a:pPr>
                      <a:r>
                        <a:rPr lang="en-PK" sz="1600" dirty="0">
                          <a:effectLst/>
                        </a:rPr>
                        <a:t>Replicate DA-MAPPO baseline in 3D</a:t>
                      </a:r>
                    </a:p>
                  </a:txBody>
                  <a:tcPr marL="95250" marR="95250" marT="47625" marB="47625" anchor="ctr"/>
                </a:tc>
                <a:extLst>
                  <a:ext uri="{0D108BD9-81ED-4DB2-BD59-A6C34878D82A}">
                    <a16:rowId xmlns:a16="http://schemas.microsoft.com/office/drawing/2014/main" val="60394038"/>
                  </a:ext>
                </a:extLst>
              </a:tr>
              <a:tr h="606288">
                <a:tc>
                  <a:txBody>
                    <a:bodyPr/>
                    <a:lstStyle/>
                    <a:p>
                      <a:pPr>
                        <a:buNone/>
                      </a:pPr>
                      <a:r>
                        <a:rPr lang="en-PK" sz="1600">
                          <a:effectLst/>
                        </a:rPr>
                        <a:t>2</a:t>
                      </a:r>
                    </a:p>
                  </a:txBody>
                  <a:tcPr marL="95250" marR="95250" marT="47625" marB="47625" anchor="ctr"/>
                </a:tc>
                <a:tc>
                  <a:txBody>
                    <a:bodyPr/>
                    <a:lstStyle/>
                    <a:p>
                      <a:pPr>
                        <a:buNone/>
                      </a:pPr>
                      <a:r>
                        <a:rPr lang="en-PK" sz="1600" dirty="0">
                          <a:effectLst/>
                        </a:rPr>
                        <a:t>5</a:t>
                      </a:r>
                    </a:p>
                  </a:txBody>
                  <a:tcPr marL="95250" marR="95250" marT="47625" marB="47625" anchor="ctr"/>
                </a:tc>
                <a:tc>
                  <a:txBody>
                    <a:bodyPr/>
                    <a:lstStyle/>
                    <a:p>
                      <a:pPr>
                        <a:buNone/>
                      </a:pPr>
                      <a:r>
                        <a:rPr lang="en-PK" sz="1600">
                          <a:effectLst/>
                        </a:rPr>
                        <a:t>Medium</a:t>
                      </a:r>
                    </a:p>
                  </a:txBody>
                  <a:tcPr marL="95250" marR="95250" marT="47625" marB="47625" anchor="ctr"/>
                </a:tc>
                <a:tc>
                  <a:txBody>
                    <a:bodyPr/>
                    <a:lstStyle/>
                    <a:p>
                      <a:pPr>
                        <a:buNone/>
                      </a:pPr>
                      <a:r>
                        <a:rPr lang="en-PK" sz="1600" dirty="0">
                          <a:effectLst/>
                        </a:rPr>
                        <a:t>Assignment + avoidance together</a:t>
                      </a:r>
                    </a:p>
                  </a:txBody>
                  <a:tcPr marL="95250" marR="95250" marT="47625" marB="47625" anchor="ctr"/>
                </a:tc>
                <a:extLst>
                  <a:ext uri="{0D108BD9-81ED-4DB2-BD59-A6C34878D82A}">
                    <a16:rowId xmlns:a16="http://schemas.microsoft.com/office/drawing/2014/main" val="4012176745"/>
                  </a:ext>
                </a:extLst>
              </a:tr>
              <a:tr h="591739">
                <a:tc>
                  <a:txBody>
                    <a:bodyPr/>
                    <a:lstStyle/>
                    <a:p>
                      <a:pPr>
                        <a:buNone/>
                      </a:pPr>
                      <a:r>
                        <a:rPr lang="en-PK" sz="1600">
                          <a:effectLst/>
                        </a:rPr>
                        <a:t>3</a:t>
                      </a:r>
                    </a:p>
                  </a:txBody>
                  <a:tcPr marL="95250" marR="95250" marT="47625" marB="47625" anchor="ctr"/>
                </a:tc>
                <a:tc>
                  <a:txBody>
                    <a:bodyPr/>
                    <a:lstStyle/>
                    <a:p>
                      <a:pPr>
                        <a:buNone/>
                      </a:pPr>
                      <a:r>
                        <a:rPr lang="en-PK" sz="1600">
                          <a:effectLst/>
                        </a:rPr>
                        <a:t>8</a:t>
                      </a:r>
                    </a:p>
                  </a:txBody>
                  <a:tcPr marL="95250" marR="95250" marT="47625" marB="47625" anchor="ctr"/>
                </a:tc>
                <a:tc>
                  <a:txBody>
                    <a:bodyPr/>
                    <a:lstStyle/>
                    <a:p>
                      <a:pPr>
                        <a:buNone/>
                      </a:pPr>
                      <a:r>
                        <a:rPr lang="en-PK" sz="1600" dirty="0">
                          <a:effectLst/>
                        </a:rPr>
                        <a:t>50 (high)</a:t>
                      </a:r>
                    </a:p>
                  </a:txBody>
                  <a:tcPr marL="95250" marR="95250" marT="47625" marB="47625" anchor="ctr"/>
                </a:tc>
                <a:tc>
                  <a:txBody>
                    <a:bodyPr/>
                    <a:lstStyle/>
                    <a:p>
                      <a:pPr>
                        <a:buNone/>
                      </a:pPr>
                      <a:r>
                        <a:rPr lang="en-PK" sz="1600" dirty="0">
                          <a:effectLst/>
                        </a:rPr>
                        <a:t>Full challenge</a:t>
                      </a:r>
                    </a:p>
                  </a:txBody>
                  <a:tcPr marL="95250" marR="95250" marT="47625" marB="47625" anchor="ctr"/>
                </a:tc>
                <a:extLst>
                  <a:ext uri="{0D108BD9-81ED-4DB2-BD59-A6C34878D82A}">
                    <a16:rowId xmlns:a16="http://schemas.microsoft.com/office/drawing/2014/main" val="571320750"/>
                  </a:ext>
                </a:extLst>
              </a:tr>
              <a:tr h="1017260">
                <a:tc>
                  <a:txBody>
                    <a:bodyPr/>
                    <a:lstStyle/>
                    <a:p>
                      <a:pPr>
                        <a:buNone/>
                      </a:pPr>
                      <a:r>
                        <a:rPr lang="en-PK" sz="1600">
                          <a:effectLst/>
                        </a:rPr>
                        <a:t>4</a:t>
                      </a:r>
                    </a:p>
                  </a:txBody>
                  <a:tcPr marL="95250" marR="95250" marT="47625" marB="47625" anchor="ctr"/>
                </a:tc>
                <a:tc>
                  <a:txBody>
                    <a:bodyPr/>
                    <a:lstStyle/>
                    <a:p>
                      <a:pPr>
                        <a:buNone/>
                      </a:pPr>
                      <a:r>
                        <a:rPr lang="en-PK" sz="1600">
                          <a:effectLst/>
                        </a:rPr>
                        <a:t>Unseen sizes</a:t>
                      </a:r>
                    </a:p>
                  </a:txBody>
                  <a:tcPr marL="95250" marR="95250" marT="47625" marB="47625" anchor="ctr"/>
                </a:tc>
                <a:tc>
                  <a:txBody>
                    <a:bodyPr/>
                    <a:lstStyle/>
                    <a:p>
                      <a:pPr>
                        <a:buNone/>
                      </a:pPr>
                      <a:r>
                        <a:rPr lang="en-PK" sz="1600" dirty="0">
                          <a:effectLst/>
                        </a:rPr>
                        <a:t>Various</a:t>
                      </a:r>
                    </a:p>
                  </a:txBody>
                  <a:tcPr marL="95250" marR="95250" marT="47625" marB="47625" anchor="ctr"/>
                </a:tc>
                <a:tc>
                  <a:txBody>
                    <a:bodyPr/>
                    <a:lstStyle/>
                    <a:p>
                      <a:pPr>
                        <a:buNone/>
                      </a:pPr>
                      <a:r>
                        <a:rPr lang="en-PK" sz="1600" dirty="0">
                          <a:effectLst/>
                        </a:rPr>
                        <a:t>Generalization</a:t>
                      </a:r>
                    </a:p>
                  </a:txBody>
                  <a:tcPr marL="95250" marR="95250" marT="47625" marB="47625" anchor="ctr"/>
                </a:tc>
                <a:extLst>
                  <a:ext uri="{0D108BD9-81ED-4DB2-BD59-A6C34878D82A}">
                    <a16:rowId xmlns:a16="http://schemas.microsoft.com/office/drawing/2014/main" val="865892870"/>
                  </a:ext>
                </a:extLst>
              </a:tr>
            </a:tbl>
          </a:graphicData>
        </a:graphic>
      </p:graphicFrame>
      <p:pic>
        <p:nvPicPr>
          <p:cNvPr id="6" name="Picture 5">
            <a:extLst>
              <a:ext uri="{FF2B5EF4-FFF2-40B4-BE49-F238E27FC236}">
                <a16:creationId xmlns:a16="http://schemas.microsoft.com/office/drawing/2014/main" id="{7BE69C88-B7E6-EA06-D9B4-B5A988B4A415}"/>
              </a:ext>
            </a:extLst>
          </p:cNvPr>
          <p:cNvPicPr>
            <a:picLocks noChangeAspect="1"/>
          </p:cNvPicPr>
          <p:nvPr/>
        </p:nvPicPr>
        <p:blipFill>
          <a:blip r:embed="rId2"/>
          <a:stretch>
            <a:fillRect/>
          </a:stretch>
        </p:blipFill>
        <p:spPr>
          <a:xfrm>
            <a:off x="6495802" y="1935679"/>
            <a:ext cx="5395881" cy="2992581"/>
          </a:xfrm>
          <a:prstGeom prst="rect">
            <a:avLst/>
          </a:prstGeom>
        </p:spPr>
      </p:pic>
    </p:spTree>
    <p:extLst>
      <p:ext uri="{BB962C8B-B14F-4D97-AF65-F5344CB8AC3E}">
        <p14:creationId xmlns:p14="http://schemas.microsoft.com/office/powerpoint/2010/main" val="1741702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2B344-A464-2697-F1BA-57B78D5DC376}"/>
              </a:ext>
            </a:extLst>
          </p:cNvPr>
          <p:cNvSpPr>
            <a:spLocks noGrp="1"/>
          </p:cNvSpPr>
          <p:nvPr>
            <p:ph type="title"/>
          </p:nvPr>
        </p:nvSpPr>
        <p:spPr>
          <a:xfrm>
            <a:off x="285008" y="244102"/>
            <a:ext cx="11068792" cy="632402"/>
          </a:xfrm>
        </p:spPr>
        <p:txBody>
          <a:bodyPr>
            <a:normAutofit fontScale="90000"/>
          </a:bodyPr>
          <a:lstStyle/>
          <a:p>
            <a:r>
              <a:rPr lang="en-PK" sz="4000" dirty="0"/>
              <a:t>References:</a:t>
            </a:r>
          </a:p>
        </p:txBody>
      </p:sp>
      <p:sp>
        <p:nvSpPr>
          <p:cNvPr id="3" name="Content Placeholder 2">
            <a:extLst>
              <a:ext uri="{FF2B5EF4-FFF2-40B4-BE49-F238E27FC236}">
                <a16:creationId xmlns:a16="http://schemas.microsoft.com/office/drawing/2014/main" id="{1EC21850-96D8-C13B-71D8-229419A2F009}"/>
              </a:ext>
            </a:extLst>
          </p:cNvPr>
          <p:cNvSpPr>
            <a:spLocks noGrp="1"/>
          </p:cNvSpPr>
          <p:nvPr>
            <p:ph idx="1"/>
          </p:nvPr>
        </p:nvSpPr>
        <p:spPr>
          <a:xfrm>
            <a:off x="285008" y="997528"/>
            <a:ext cx="11621984" cy="5726001"/>
          </a:xfrm>
        </p:spPr>
        <p:txBody>
          <a:bodyPr>
            <a:normAutofit/>
          </a:bodyPr>
          <a:lstStyle/>
          <a:p>
            <a:pPr>
              <a:lnSpc>
                <a:spcPct val="120000"/>
              </a:lnSpc>
            </a:pPr>
            <a:r>
              <a:rPr lang="en-PK" sz="1600" dirty="0"/>
              <a:t> S. Govinda, B. Brik, and S. Harous, "A survey on deep reinforcement learning applications in autonomous systems," IEEE Trans. Intell. Transp. Syst., vol. 26, no. 7, 2025.</a:t>
            </a:r>
          </a:p>
          <a:p>
            <a:pPr>
              <a:lnSpc>
                <a:spcPct val="120000"/>
              </a:lnSpc>
            </a:pPr>
            <a:r>
              <a:rPr lang="en-PK" sz="1600" dirty="0"/>
              <a:t> J. Tang, Y. Liang, and K. Li, "Dynamic scene path planning of UAVs based on deep reinforcement learning," Drones, vol. 8, no. 2, p. 60, 2024.</a:t>
            </a:r>
          </a:p>
          <a:p>
            <a:pPr>
              <a:lnSpc>
                <a:spcPct val="120000"/>
              </a:lnSpc>
            </a:pPr>
            <a:r>
              <a:rPr lang="en-PK" sz="1600" dirty="0"/>
              <a:t>X. Kong, Y. Zhou, Z. Li, and S. Wang, "Multi-UAV simultaneous target assignment and path planning based on deep reinforcement learning in dynamic multiple obstacles environments," Front.Neurorobot., vol. 17, p. 1302898, 2024.</a:t>
            </a:r>
          </a:p>
          <a:p>
            <a:pPr>
              <a:lnSpc>
                <a:spcPct val="120000"/>
              </a:lnSpc>
            </a:pPr>
            <a:r>
              <a:rPr lang="en-PK" sz="1600" dirty="0"/>
              <a:t>R. Jarray, I. Zaghbani, and S. Bouallègue, "Dynamic reward-based deep reinforcement learning algorithm for UAV path planning in large-scale environments," Procedia Comput. Sci., vol.270, pp. 692–702, 2025.</a:t>
            </a:r>
          </a:p>
          <a:p>
            <a:pPr>
              <a:lnSpc>
                <a:spcPct val="120000"/>
              </a:lnSpc>
            </a:pPr>
            <a:r>
              <a:rPr lang="en-PK" sz="1600" dirty="0"/>
              <a:t>M. R. Rezaee, N. A. W. A. Hamid, M. Hussin, and Z. A. Zukarnain, "Efficient multi-agent deep reinforcement learning algorithm for multi-UAV collision avoidance," Appl. Soft Comput., vol.197, p. 115145, 2026.</a:t>
            </a:r>
          </a:p>
          <a:p>
            <a:pPr>
              <a:lnSpc>
                <a:spcPct val="120000"/>
              </a:lnSpc>
            </a:pPr>
            <a:r>
              <a:rPr lang="en-PK" sz="1600" dirty="0"/>
              <a:t>Y. Sheng, X. Xie, H. Liu, and J. Li, "Dynamic target assignment and cooperative decision-making for UAV swarms based on multi-agent reinforcement learning," IEEE Internet Things J., doi:10.1109/JIOT.2026.3686066, 2026.</a:t>
            </a:r>
          </a:p>
          <a:p>
            <a:pPr>
              <a:lnSpc>
                <a:spcPct val="120000"/>
              </a:lnSpc>
            </a:pPr>
            <a:r>
              <a:rPr lang="en-PK" sz="1600" dirty="0"/>
              <a:t> Y. Zhang et al., "Large-scale UAV swarm path planning based on mean-field reinforcement learning," Chin. J. Aeronaut., vol. 38, no. 9, p. 103484, 2025.</a:t>
            </a:r>
          </a:p>
          <a:p>
            <a:pPr>
              <a:lnSpc>
                <a:spcPct val="120000"/>
              </a:lnSpc>
            </a:pPr>
            <a:r>
              <a:rPr lang="en-PK" sz="1600" dirty="0"/>
              <a:t>Y. Xu et al., "Scalable UAV multi-hop networking via multi-agent reinforcement learning with large language models," arXiv:2505.08448, 2026.</a:t>
            </a:r>
          </a:p>
        </p:txBody>
      </p:sp>
    </p:spTree>
    <p:extLst>
      <p:ext uri="{BB962C8B-B14F-4D97-AF65-F5344CB8AC3E}">
        <p14:creationId xmlns:p14="http://schemas.microsoft.com/office/powerpoint/2010/main" val="312212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pct20">
          <a:fgClr>
            <a:schemeClr val="accent1"/>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26991-8F86-640F-C145-2A659C5986F5}"/>
              </a:ext>
            </a:extLst>
          </p:cNvPr>
          <p:cNvSpPr txBox="1"/>
          <p:nvPr/>
        </p:nvSpPr>
        <p:spPr>
          <a:xfrm>
            <a:off x="0" y="2413337"/>
            <a:ext cx="12192000" cy="2215991"/>
          </a:xfrm>
          <a:prstGeom prst="rect">
            <a:avLst/>
          </a:prstGeom>
          <a:noFill/>
        </p:spPr>
        <p:txBody>
          <a:bodyPr wrap="square" rtlCol="0">
            <a:spAutoFit/>
          </a:bodyPr>
          <a:lstStyle/>
          <a:p>
            <a:pPr algn="ctr"/>
            <a:r>
              <a:rPr lang="en-PK" sz="13800" dirty="0">
                <a:latin typeface="Dreaming Outloud Script Pro" panose="03050502040304050704" pitchFamily="66" charset="77"/>
                <a:cs typeface="Dreaming Outloud Script Pro" panose="03050502040304050704" pitchFamily="66" charset="77"/>
              </a:rPr>
              <a:t>Thank you!</a:t>
            </a:r>
          </a:p>
        </p:txBody>
      </p:sp>
    </p:spTree>
    <p:extLst>
      <p:ext uri="{BB962C8B-B14F-4D97-AF65-F5344CB8AC3E}">
        <p14:creationId xmlns:p14="http://schemas.microsoft.com/office/powerpoint/2010/main" val="1357600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1409</Words>
  <Application>Microsoft Macintosh PowerPoint</Application>
  <PresentationFormat>Widescreen</PresentationFormat>
  <Paragraphs>149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Dreaming Outloud Script Pro</vt:lpstr>
      <vt:lpstr>Times New Roman</vt:lpstr>
      <vt:lpstr>Office Theme</vt:lpstr>
      <vt:lpstr>Dynamic Target Assignment and Collision Avoidance for Multi-UAV Coordination in 3D using MARL</vt:lpstr>
      <vt:lpstr>Introduction:</vt:lpstr>
      <vt:lpstr>Introduction cont… Multi-UAV Coordination</vt:lpstr>
      <vt:lpstr>Introduction cont… DRL &amp; MARL</vt:lpstr>
      <vt:lpstr>Motivation:</vt:lpstr>
      <vt:lpstr>Related Work:</vt:lpstr>
      <vt:lpstr>Related Work Cont…</vt:lpstr>
      <vt:lpstr>Gap in existing work:</vt:lpstr>
      <vt:lpstr>Problem Statement:</vt:lpstr>
      <vt:lpstr>Research Objective</vt:lpstr>
      <vt:lpstr>Proposed Methodology:</vt:lpstr>
      <vt:lpstr>Training Strategy: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SP25-RCS-009(Ayesha Khalil)</dc:creator>
  <cp:lastModifiedBy>SP25-RCS-009(Ayesha Khalil)</cp:lastModifiedBy>
  <cp:revision>20</cp:revision>
  <dcterms:created xsi:type="dcterms:W3CDTF">2026-06-08T18:24:17Z</dcterms:created>
  <dcterms:modified xsi:type="dcterms:W3CDTF">2026-06-08T21:06:49Z</dcterms:modified>
</cp:coreProperties>
</file>