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4" r:id="rId9"/>
    <p:sldId id="265" r:id="rId10"/>
    <p:sldId id="266" r:id="rId11"/>
    <p:sldId id="268" r:id="rId12"/>
    <p:sldId id="269" r:id="rId13"/>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10"/>
    <p:restoredTop sz="94651"/>
  </p:normalViewPr>
  <p:slideViewPr>
    <p:cSldViewPr snapToGrid="0">
      <p:cViewPr varScale="1">
        <p:scale>
          <a:sx n="111" d="100"/>
          <a:sy n="111" d="100"/>
        </p:scale>
        <p:origin x="240"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6CB12D-185D-5344-9B71-AEDA2526EDBC}" type="datetimeFigureOut">
              <a:rPr lang="en-PK" smtClean="0"/>
              <a:t>21/06/2026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6ED561-9D6B-9B49-9281-818B0567734D}" type="slidenum">
              <a:rPr lang="en-PK" smtClean="0"/>
              <a:t>‹#›</a:t>
            </a:fld>
            <a:endParaRPr lang="en-PK"/>
          </a:p>
        </p:txBody>
      </p:sp>
    </p:spTree>
    <p:extLst>
      <p:ext uri="{BB962C8B-B14F-4D97-AF65-F5344CB8AC3E}">
        <p14:creationId xmlns:p14="http://schemas.microsoft.com/office/powerpoint/2010/main" val="159596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19342-CB32-1C41-53DE-FB109FAF025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K"/>
          </a:p>
        </p:txBody>
      </p:sp>
      <p:sp>
        <p:nvSpPr>
          <p:cNvPr id="3" name="Subtitle 2">
            <a:extLst>
              <a:ext uri="{FF2B5EF4-FFF2-40B4-BE49-F238E27FC236}">
                <a16:creationId xmlns:a16="http://schemas.microsoft.com/office/drawing/2014/main" id="{4DB8B053-9343-827D-2DEA-FED0289BA7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K"/>
          </a:p>
        </p:txBody>
      </p:sp>
      <p:sp>
        <p:nvSpPr>
          <p:cNvPr id="4" name="Date Placeholder 3">
            <a:extLst>
              <a:ext uri="{FF2B5EF4-FFF2-40B4-BE49-F238E27FC236}">
                <a16:creationId xmlns:a16="http://schemas.microsoft.com/office/drawing/2014/main" id="{190142F0-1846-83DD-F7FD-B2004147D187}"/>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B1481369-C8FE-95AF-641B-4AECF63B00C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E3BDF77-FE29-1FCD-E8A4-C1AF2117EE08}"/>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05349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0F1D1-D396-A99F-34A2-4BCAFC602DA6}"/>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382AED5B-D445-9B5D-7E72-099058D25E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C1643C33-5F78-BB90-63FF-14F18A7CEB62}"/>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6EFCD9C4-8F88-548F-46DC-E7836363DD9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1E72886-D30E-6CC1-B3DF-3EC0C5C1A541}"/>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224204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45A1-B8A2-5055-7F03-9FCC52AA359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E9A345D9-6A43-7BBD-FA65-476492FAB5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0E2899B-B108-BD21-2CE0-7254D9A4828A}"/>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F6892B65-9FD6-DFEF-AF6D-4AB8F188D08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630DDD0-B231-16D7-61B7-436952EE01BE}"/>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1880781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583B-1218-84F1-5732-E5E8FBFB1073}"/>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98CB27AF-11BF-335A-C3D5-E121CE90030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9F67422D-DBFF-1C1A-E0EC-9A87ED1340F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EA8BBF57-B156-E527-27F5-C391D84B7A6E}"/>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6" name="Footer Placeholder 5">
            <a:extLst>
              <a:ext uri="{FF2B5EF4-FFF2-40B4-BE49-F238E27FC236}">
                <a16:creationId xmlns:a16="http://schemas.microsoft.com/office/drawing/2014/main" id="{62497E72-F9B0-4530-C0AB-247E41517FC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16459EB-3F51-D0CC-EEBD-E1E3951F6BC4}"/>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832147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E22C3-FE1A-514B-C20A-4A5CCAA9063A}"/>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9239F501-6DEB-FD9D-01A8-BA6BC484D1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7A5264F-AE8C-81FD-D3D3-D02BAE5557B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7F6EB07-0E5B-DF11-DE38-5B250E71A0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26B87D-FEB2-9D32-F95E-D51EDFA435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BA9E8FA-4DA3-EC0B-06FE-23A929FC551C}"/>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8" name="Footer Placeholder 7">
            <a:extLst>
              <a:ext uri="{FF2B5EF4-FFF2-40B4-BE49-F238E27FC236}">
                <a16:creationId xmlns:a16="http://schemas.microsoft.com/office/drawing/2014/main" id="{CBC9C562-C8BC-C387-265A-24D86B53B5EF}"/>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33FC9178-70D0-8630-6D7F-A43E7AF0BDE9}"/>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408754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799-9EC1-6A57-624F-F604FBB01B09}"/>
              </a:ext>
            </a:extLst>
          </p:cNvPr>
          <p:cNvSpPr>
            <a:spLocks noGrp="1"/>
          </p:cNvSpPr>
          <p:nvPr>
            <p:ph type="title"/>
          </p:nvPr>
        </p:nvSpPr>
        <p:spPr/>
        <p:txBody>
          <a:bodyPr/>
          <a:lstStyle/>
          <a:p>
            <a:r>
              <a:rPr lang="en-GB"/>
              <a:t>Click to edit Master title style</a:t>
            </a:r>
            <a:endParaRPr lang="en-PK"/>
          </a:p>
        </p:txBody>
      </p:sp>
      <p:sp>
        <p:nvSpPr>
          <p:cNvPr id="3" name="Date Placeholder 2">
            <a:extLst>
              <a:ext uri="{FF2B5EF4-FFF2-40B4-BE49-F238E27FC236}">
                <a16:creationId xmlns:a16="http://schemas.microsoft.com/office/drawing/2014/main" id="{AA178A77-72A0-B7E1-92C0-FFFEA2E36181}"/>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4" name="Footer Placeholder 3">
            <a:extLst>
              <a:ext uri="{FF2B5EF4-FFF2-40B4-BE49-F238E27FC236}">
                <a16:creationId xmlns:a16="http://schemas.microsoft.com/office/drawing/2014/main" id="{4FC65BBA-02AC-C010-4714-579948423857}"/>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C1F8D9AB-CBAC-ED02-3FD0-79998EF3599C}"/>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60139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57B96E-1C43-6044-2967-DD941C112A09}"/>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3" name="Footer Placeholder 2">
            <a:extLst>
              <a:ext uri="{FF2B5EF4-FFF2-40B4-BE49-F238E27FC236}">
                <a16:creationId xmlns:a16="http://schemas.microsoft.com/office/drawing/2014/main" id="{1F14F0A3-B804-DD0B-DB18-9E8AEB64C90B}"/>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2828B1B4-6BF4-A280-EADA-D4BF44BE061D}"/>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201978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64176-4ADA-100F-51CB-9D1345BE9F6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8C40565D-9ACF-A073-AF07-4F11298E41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93C8B628-3E19-A6AD-8D00-2B8DD64D1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6BAFE3-4583-85AD-18F2-05261663C323}"/>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6" name="Footer Placeholder 5">
            <a:extLst>
              <a:ext uri="{FF2B5EF4-FFF2-40B4-BE49-F238E27FC236}">
                <a16:creationId xmlns:a16="http://schemas.microsoft.com/office/drawing/2014/main" id="{ED50FCE0-23F1-4526-F61B-32F936C66682}"/>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78818B9A-8B61-6F2B-9F5B-D2D48401140E}"/>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70603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360F-16B1-A056-B36E-D7361784E6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B8A0AE8E-B2F9-5654-6C70-6030BB4233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F7FB390-DBDC-E97C-512E-BBA5C4535F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EC8650-724B-99C9-A9F8-D0D3DD492E34}"/>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6" name="Footer Placeholder 5">
            <a:extLst>
              <a:ext uri="{FF2B5EF4-FFF2-40B4-BE49-F238E27FC236}">
                <a16:creationId xmlns:a16="http://schemas.microsoft.com/office/drawing/2014/main" id="{DDBC19F0-F192-893F-C985-ED850F5D83C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C7EE72A-9FBC-29ED-40E2-83B19D24C473}"/>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886129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352E-5072-DEB5-13D2-D7034432A2C7}"/>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48160522-ECC9-96C4-E255-4BEB0F27D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2214297C-806F-3597-ABEA-1345CEFB5886}"/>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E954B8BD-458F-3AD8-7A19-7D04CA9A02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6DF1660-1E09-D7E0-0EAF-E48456A768A5}"/>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938468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C68548-0AE1-5D21-F12A-A14B7C3BDCE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B828600-D791-1772-6F82-151217EBCE2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BB9B7C38-F5F5-CBDD-51C7-8BAE84CD93C7}"/>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EB116DDD-33F1-91C0-4F7F-F7C4FF7DB9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442F4DC-7AEE-99B8-88C5-6D8B5A249D85}"/>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295477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D3570F-BE1C-241F-20EB-2FC83365C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K"/>
          </a:p>
        </p:txBody>
      </p:sp>
      <p:sp>
        <p:nvSpPr>
          <p:cNvPr id="3" name="Text Placeholder 2">
            <a:extLst>
              <a:ext uri="{FF2B5EF4-FFF2-40B4-BE49-F238E27FC236}">
                <a16:creationId xmlns:a16="http://schemas.microsoft.com/office/drawing/2014/main" id="{0CA22F1E-A722-197E-87F9-3DA540DED6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E275CC02-0F83-6B99-EC01-84B915AA3A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4323390B-8200-B1AA-45F6-1C38B27D22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3D192171-8034-485A-0DB2-0F7C37CCC2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774DBC-A55C-C145-83F3-9DE204FF4A46}" type="slidenum">
              <a:rPr lang="en-PK" smtClean="0"/>
              <a:t>‹#›</a:t>
            </a:fld>
            <a:endParaRPr lang="en-PK"/>
          </a:p>
        </p:txBody>
      </p:sp>
    </p:spTree>
    <p:extLst>
      <p:ext uri="{BB962C8B-B14F-4D97-AF65-F5344CB8AC3E}">
        <p14:creationId xmlns:p14="http://schemas.microsoft.com/office/powerpoint/2010/main" val="2533404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7842"/>
            <a:lum/>
          </a:blip>
          <a:srcRect/>
          <a:stretch>
            <a:fillRect l="-2000" r="-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FBB98-8CE3-A478-4339-9AA8AACD6600}"/>
              </a:ext>
            </a:extLst>
          </p:cNvPr>
          <p:cNvSpPr>
            <a:spLocks noGrp="1"/>
          </p:cNvSpPr>
          <p:nvPr>
            <p:ph type="ctrTitle"/>
          </p:nvPr>
        </p:nvSpPr>
        <p:spPr>
          <a:xfrm>
            <a:off x="853928" y="939800"/>
            <a:ext cx="10484143" cy="2349500"/>
          </a:xfrm>
          <a:blipFill dpi="0" rotWithShape="1">
            <a:blip r:embed="rId3">
              <a:alphaModFix amt="0"/>
            </a:blip>
            <a:srcRect/>
            <a:tile tx="0" ty="0" sx="100000" sy="100000" flip="none" algn="tl"/>
          </a:blipFill>
        </p:spPr>
        <p:txBody>
          <a:bodyPr>
            <a:noAutofit/>
          </a:bodyPr>
          <a:lstStyle/>
          <a:p>
            <a:r>
              <a:rPr lang="en-US" sz="4400" dirty="0">
                <a:latin typeface="+mn-lt"/>
                <a:cs typeface="Times New Roman" panose="02020603050405020304" pitchFamily="18" charset="0"/>
              </a:rPr>
              <a:t>MAPPO Framework for Joint Dynamic Target Assignment and Conflict-Aware Collision Avoidance in Multi-UAV Systems</a:t>
            </a:r>
            <a:r>
              <a:rPr lang="en-PK" sz="2800" dirty="0">
                <a:latin typeface="+mn-lt"/>
                <a:cs typeface="Times New Roman" panose="02020603050405020304" pitchFamily="18" charset="0"/>
              </a:rPr>
              <a:t> </a:t>
            </a:r>
          </a:p>
        </p:txBody>
      </p:sp>
      <p:sp>
        <p:nvSpPr>
          <p:cNvPr id="3" name="Subtitle 2">
            <a:extLst>
              <a:ext uri="{FF2B5EF4-FFF2-40B4-BE49-F238E27FC236}">
                <a16:creationId xmlns:a16="http://schemas.microsoft.com/office/drawing/2014/main" id="{86F65ED9-1AD6-19E3-27B1-6EAF9EA8637C}"/>
              </a:ext>
            </a:extLst>
          </p:cNvPr>
          <p:cNvSpPr>
            <a:spLocks noGrp="1"/>
          </p:cNvSpPr>
          <p:nvPr>
            <p:ph type="subTitle" idx="1"/>
          </p:nvPr>
        </p:nvSpPr>
        <p:spPr>
          <a:xfrm>
            <a:off x="1523999" y="3733801"/>
            <a:ext cx="9144000" cy="1346200"/>
          </a:xfrm>
        </p:spPr>
        <p:txBody>
          <a:bodyPr>
            <a:normAutofit/>
          </a:bodyPr>
          <a:lstStyle/>
          <a:p>
            <a:r>
              <a:rPr lang="en-PK" dirty="0">
                <a:cs typeface="Times New Roman" panose="02020603050405020304" pitchFamily="18" charset="0"/>
              </a:rPr>
              <a:t>Ayesha Khalil, CIIT/SP25-RCS-009/ATD</a:t>
            </a:r>
            <a:endParaRPr lang="en-PK" b="0" dirty="0">
              <a:effectLst/>
              <a:cs typeface="Times New Roman" panose="02020603050405020304" pitchFamily="18" charset="0"/>
            </a:endParaRPr>
          </a:p>
          <a:p>
            <a:r>
              <a:rPr lang="en-PK" dirty="0">
                <a:cs typeface="Times New Roman" panose="02020603050405020304" pitchFamily="18" charset="0"/>
              </a:rPr>
              <a:t>Supervisor: Dr. Faisal Rehman</a:t>
            </a:r>
            <a:br>
              <a:rPr lang="en-PK" dirty="0">
                <a:cs typeface="Times New Roman" panose="02020603050405020304" pitchFamily="18" charset="0"/>
              </a:rPr>
            </a:br>
            <a:r>
              <a:rPr lang="en-PK" dirty="0">
                <a:cs typeface="Times New Roman" panose="02020603050405020304" pitchFamily="18" charset="0"/>
              </a:rPr>
              <a:t>Co-supervisor: Dr. Ehzaz Mustafa</a:t>
            </a:r>
            <a:endParaRPr lang="en-PK" b="0" dirty="0">
              <a:effectLst/>
              <a:cs typeface="Times New Roman" panose="02020603050405020304" pitchFamily="18" charset="0"/>
            </a:endParaRPr>
          </a:p>
          <a:p>
            <a:endParaRPr lang="en-PK" dirty="0">
              <a:cs typeface="Times New Roman" panose="02020603050405020304" pitchFamily="18" charset="0"/>
            </a:endParaRPr>
          </a:p>
        </p:txBody>
      </p:sp>
    </p:spTree>
    <p:extLst>
      <p:ext uri="{BB962C8B-B14F-4D97-AF65-F5344CB8AC3E}">
        <p14:creationId xmlns:p14="http://schemas.microsoft.com/office/powerpoint/2010/main" val="87644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CC0D-F80E-A57D-6E1C-B5B86EC63451}"/>
              </a:ext>
            </a:extLst>
          </p:cNvPr>
          <p:cNvSpPr>
            <a:spLocks noGrp="1"/>
          </p:cNvSpPr>
          <p:nvPr>
            <p:ph type="title"/>
          </p:nvPr>
        </p:nvSpPr>
        <p:spPr>
          <a:xfrm>
            <a:off x="838200" y="365125"/>
            <a:ext cx="10515600" cy="1039929"/>
          </a:xfrm>
        </p:spPr>
        <p:txBody>
          <a:bodyPr>
            <a:noAutofit/>
          </a:bodyPr>
          <a:lstStyle/>
          <a:p>
            <a:r>
              <a:rPr lang="en-PK" dirty="0">
                <a:latin typeface="+mn-lt"/>
                <a:cs typeface="Times New Roman" panose="02020603050405020304" pitchFamily="18" charset="0"/>
              </a:rPr>
              <a:t>Introduction:</a:t>
            </a:r>
            <a:r>
              <a:rPr lang="en-PK" sz="2800" dirty="0">
                <a:latin typeface="+mn-lt"/>
                <a:cs typeface="Times New Roman" panose="02020603050405020304" pitchFamily="18" charset="0"/>
              </a:rPr>
              <a:t> </a:t>
            </a:r>
            <a:r>
              <a:rPr lang="en-PK" sz="4000" b="1" dirty="0"/>
              <a:t>Why UAVs?</a:t>
            </a:r>
            <a:endParaRPr lang="en-PK" sz="2800" b="1" dirty="0">
              <a:solidFill>
                <a:schemeClr val="tx2">
                  <a:lumMod val="75000"/>
                  <a:lumOff val="25000"/>
                </a:schemeClr>
              </a:solidFill>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0B5ACC6A-91B0-E69F-EF5C-D30231B950ED}"/>
              </a:ext>
            </a:extLst>
          </p:cNvPr>
          <p:cNvSpPr>
            <a:spLocks noGrp="1"/>
          </p:cNvSpPr>
          <p:nvPr>
            <p:ph idx="1"/>
          </p:nvPr>
        </p:nvSpPr>
        <p:spPr>
          <a:xfrm>
            <a:off x="838200" y="2164468"/>
            <a:ext cx="5462116" cy="3396540"/>
          </a:xfrm>
        </p:spPr>
        <p:txBody>
          <a:bodyPr>
            <a:normAutofit/>
          </a:bodyPr>
          <a:lstStyle/>
          <a:p>
            <a:pPr>
              <a:lnSpc>
                <a:spcPct val="100000"/>
              </a:lnSpc>
            </a:pPr>
            <a:r>
              <a:rPr lang="en-PK" sz="2200" dirty="0"/>
              <a:t>UAVs are frequently used in disaster response, agriculture and inspection.</a:t>
            </a:r>
          </a:p>
          <a:p>
            <a:pPr>
              <a:lnSpc>
                <a:spcPct val="100000"/>
              </a:lnSpc>
            </a:pPr>
            <a:r>
              <a:rPr lang="en-PK" sz="2200" dirty="0"/>
              <a:t>Single drone cannot cover complex and large-scale missions.</a:t>
            </a:r>
          </a:p>
          <a:p>
            <a:pPr>
              <a:lnSpc>
                <a:spcPct val="100000"/>
              </a:lnSpc>
            </a:pPr>
            <a:r>
              <a:rPr lang="en-PK" sz="2200" dirty="0"/>
              <a:t>Teams of drones are faster, redundant and more effective.</a:t>
            </a:r>
          </a:p>
          <a:p>
            <a:pPr>
              <a:lnSpc>
                <a:spcPct val="100000"/>
              </a:lnSpc>
            </a:pPr>
            <a:r>
              <a:rPr lang="en-PK" sz="2200" dirty="0"/>
              <a:t>Hardware is ready, coordination is the unsolved problem.</a:t>
            </a:r>
          </a:p>
        </p:txBody>
      </p:sp>
      <p:pic>
        <p:nvPicPr>
          <p:cNvPr id="5" name="Picture 4">
            <a:extLst>
              <a:ext uri="{FF2B5EF4-FFF2-40B4-BE49-F238E27FC236}">
                <a16:creationId xmlns:a16="http://schemas.microsoft.com/office/drawing/2014/main" id="{6CB3E76F-D6AA-9491-F863-499085562BFE}"/>
              </a:ext>
            </a:extLst>
          </p:cNvPr>
          <p:cNvPicPr>
            <a:picLocks noChangeAspect="1"/>
          </p:cNvPicPr>
          <p:nvPr/>
        </p:nvPicPr>
        <p:blipFill>
          <a:blip r:embed="rId2"/>
          <a:stretch>
            <a:fillRect/>
          </a:stretch>
        </p:blipFill>
        <p:spPr>
          <a:xfrm>
            <a:off x="6300316" y="2164468"/>
            <a:ext cx="5257800" cy="3128936"/>
          </a:xfrm>
          <a:prstGeom prst="rect">
            <a:avLst/>
          </a:prstGeom>
        </p:spPr>
      </p:pic>
      <p:sp>
        <p:nvSpPr>
          <p:cNvPr id="4" name="TextBox 3">
            <a:extLst>
              <a:ext uri="{FF2B5EF4-FFF2-40B4-BE49-F238E27FC236}">
                <a16:creationId xmlns:a16="http://schemas.microsoft.com/office/drawing/2014/main" id="{8FDFE5CA-289B-CA95-C787-4C7032F3B8DF}"/>
              </a:ext>
            </a:extLst>
          </p:cNvPr>
          <p:cNvSpPr txBox="1"/>
          <p:nvPr/>
        </p:nvSpPr>
        <p:spPr>
          <a:xfrm>
            <a:off x="838200" y="1277246"/>
            <a:ext cx="8854070" cy="523220"/>
          </a:xfrm>
          <a:prstGeom prst="rect">
            <a:avLst/>
          </a:prstGeom>
          <a:noFill/>
        </p:spPr>
        <p:txBody>
          <a:bodyPr wrap="square" rtlCol="0">
            <a:spAutoFit/>
          </a:bodyPr>
          <a:lstStyle/>
          <a:p>
            <a:r>
              <a:rPr lang="en-PK" sz="2800" b="1" dirty="0">
                <a:solidFill>
                  <a:schemeClr val="tx2">
                    <a:lumMod val="75000"/>
                    <a:lumOff val="25000"/>
                  </a:schemeClr>
                </a:solidFill>
              </a:rPr>
              <a:t>From military tools to critical civilian infrastructure</a:t>
            </a:r>
            <a:endParaRPr lang="en-PK" sz="2800" dirty="0"/>
          </a:p>
        </p:txBody>
      </p:sp>
    </p:spTree>
    <p:extLst>
      <p:ext uri="{BB962C8B-B14F-4D97-AF65-F5344CB8AC3E}">
        <p14:creationId xmlns:p14="http://schemas.microsoft.com/office/powerpoint/2010/main" val="2909608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7A03C-B6A3-9936-1B48-D661B48A67E6}"/>
              </a:ext>
            </a:extLst>
          </p:cNvPr>
          <p:cNvSpPr>
            <a:spLocks noGrp="1"/>
          </p:cNvSpPr>
          <p:nvPr>
            <p:ph type="title"/>
          </p:nvPr>
        </p:nvSpPr>
        <p:spPr>
          <a:xfrm>
            <a:off x="838200" y="365125"/>
            <a:ext cx="10515600" cy="790575"/>
          </a:xfrm>
        </p:spPr>
        <p:txBody>
          <a:bodyPr/>
          <a:lstStyle/>
          <a:p>
            <a:r>
              <a:rPr lang="en-PK" dirty="0"/>
              <a:t>Introduction: Multi-UAV Coordination</a:t>
            </a:r>
          </a:p>
        </p:txBody>
      </p:sp>
      <p:sp>
        <p:nvSpPr>
          <p:cNvPr id="3" name="Content Placeholder 2">
            <a:extLst>
              <a:ext uri="{FF2B5EF4-FFF2-40B4-BE49-F238E27FC236}">
                <a16:creationId xmlns:a16="http://schemas.microsoft.com/office/drawing/2014/main" id="{83E57823-C230-C001-40EE-B52215BCF398}"/>
              </a:ext>
            </a:extLst>
          </p:cNvPr>
          <p:cNvSpPr>
            <a:spLocks noGrp="1"/>
          </p:cNvSpPr>
          <p:nvPr>
            <p:ph idx="1"/>
          </p:nvPr>
        </p:nvSpPr>
        <p:spPr>
          <a:xfrm>
            <a:off x="822539" y="2219093"/>
            <a:ext cx="5273460" cy="3256156"/>
          </a:xfrm>
        </p:spPr>
        <p:txBody>
          <a:bodyPr>
            <a:normAutofit/>
          </a:bodyPr>
          <a:lstStyle/>
          <a:p>
            <a:pPr>
              <a:lnSpc>
                <a:spcPct val="100000"/>
              </a:lnSpc>
            </a:pPr>
            <a:r>
              <a:rPr lang="en-PK" sz="2200" dirty="0"/>
              <a:t>Classical planners compute one global solution, too slow.</a:t>
            </a:r>
          </a:p>
          <a:p>
            <a:pPr>
              <a:lnSpc>
                <a:spcPct val="100000"/>
              </a:lnSpc>
            </a:pPr>
            <a:r>
              <a:rPr lang="en-PK" sz="2200" dirty="0"/>
              <a:t>Dynamic environments break pre-planned paths instantly.</a:t>
            </a:r>
          </a:p>
          <a:p>
            <a:pPr>
              <a:lnSpc>
                <a:spcPct val="100000"/>
              </a:lnSpc>
            </a:pPr>
            <a:r>
              <a:rPr lang="en-PK" sz="2200" dirty="0"/>
              <a:t>Drones need to adapt in real-time independently.</a:t>
            </a:r>
          </a:p>
          <a:p>
            <a:pPr>
              <a:lnSpc>
                <a:spcPct val="100000"/>
              </a:lnSpc>
            </a:pPr>
            <a:r>
              <a:rPr lang="en-PK" sz="2200" dirty="0"/>
              <a:t>Solution: let drones learn coordination through experience.</a:t>
            </a:r>
          </a:p>
        </p:txBody>
      </p:sp>
      <p:pic>
        <p:nvPicPr>
          <p:cNvPr id="5" name="Picture 4">
            <a:extLst>
              <a:ext uri="{FF2B5EF4-FFF2-40B4-BE49-F238E27FC236}">
                <a16:creationId xmlns:a16="http://schemas.microsoft.com/office/drawing/2014/main" id="{4DE97005-90EB-7547-52BA-4683F2A9EE57}"/>
              </a:ext>
            </a:extLst>
          </p:cNvPr>
          <p:cNvPicPr>
            <a:picLocks noChangeAspect="1"/>
          </p:cNvPicPr>
          <p:nvPr/>
        </p:nvPicPr>
        <p:blipFill>
          <a:blip r:embed="rId2"/>
          <a:stretch>
            <a:fillRect/>
          </a:stretch>
        </p:blipFill>
        <p:spPr>
          <a:xfrm>
            <a:off x="6095999" y="2219093"/>
            <a:ext cx="5515627" cy="3008525"/>
          </a:xfrm>
          <a:prstGeom prst="rect">
            <a:avLst/>
          </a:prstGeom>
          <a:effectLst>
            <a:outerShdw sx="1000" sy="1000" algn="ctr" rotWithShape="0">
              <a:srgbClr val="000000"/>
            </a:outerShdw>
          </a:effectLst>
        </p:spPr>
      </p:pic>
      <p:sp>
        <p:nvSpPr>
          <p:cNvPr id="4" name="TextBox 3">
            <a:extLst>
              <a:ext uri="{FF2B5EF4-FFF2-40B4-BE49-F238E27FC236}">
                <a16:creationId xmlns:a16="http://schemas.microsoft.com/office/drawing/2014/main" id="{A98AA677-A621-32A9-6588-1E2CE9128476}"/>
              </a:ext>
            </a:extLst>
          </p:cNvPr>
          <p:cNvSpPr txBox="1"/>
          <p:nvPr/>
        </p:nvSpPr>
        <p:spPr>
          <a:xfrm>
            <a:off x="838200" y="1268411"/>
            <a:ext cx="10515600" cy="523220"/>
          </a:xfrm>
          <a:prstGeom prst="rect">
            <a:avLst/>
          </a:prstGeom>
          <a:noFill/>
        </p:spPr>
        <p:txBody>
          <a:bodyPr wrap="square" rtlCol="0">
            <a:spAutoFit/>
          </a:bodyPr>
          <a:lstStyle/>
          <a:p>
            <a:r>
              <a:rPr lang="en-PK" sz="2800" b="1" dirty="0">
                <a:solidFill>
                  <a:schemeClr val="tx2">
                    <a:lumMod val="75000"/>
                    <a:lumOff val="25000"/>
                  </a:schemeClr>
                </a:solidFill>
              </a:rPr>
              <a:t>Multiple drones, shared airspace, conflicting decisions</a:t>
            </a:r>
          </a:p>
        </p:txBody>
      </p:sp>
    </p:spTree>
    <p:extLst>
      <p:ext uri="{BB962C8B-B14F-4D97-AF65-F5344CB8AC3E}">
        <p14:creationId xmlns:p14="http://schemas.microsoft.com/office/powerpoint/2010/main" val="3773359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6C0AB-636A-9C98-F14D-BF44C31CF0AC}"/>
              </a:ext>
            </a:extLst>
          </p:cNvPr>
          <p:cNvSpPr>
            <a:spLocks noGrp="1"/>
          </p:cNvSpPr>
          <p:nvPr>
            <p:ph type="title"/>
          </p:nvPr>
        </p:nvSpPr>
        <p:spPr>
          <a:xfrm>
            <a:off x="838200" y="365125"/>
            <a:ext cx="10515600" cy="917575"/>
          </a:xfrm>
        </p:spPr>
        <p:txBody>
          <a:bodyPr/>
          <a:lstStyle/>
          <a:p>
            <a:r>
              <a:rPr lang="en-PK" dirty="0"/>
              <a:t>Introduction: DRL &amp; MARL</a:t>
            </a:r>
          </a:p>
        </p:txBody>
      </p:sp>
      <p:sp>
        <p:nvSpPr>
          <p:cNvPr id="3" name="Content Placeholder 2">
            <a:extLst>
              <a:ext uri="{FF2B5EF4-FFF2-40B4-BE49-F238E27FC236}">
                <a16:creationId xmlns:a16="http://schemas.microsoft.com/office/drawing/2014/main" id="{18178360-8404-27FC-9704-5AC0DCC71CF8}"/>
              </a:ext>
            </a:extLst>
          </p:cNvPr>
          <p:cNvSpPr>
            <a:spLocks noGrp="1"/>
          </p:cNvSpPr>
          <p:nvPr>
            <p:ph idx="1"/>
          </p:nvPr>
        </p:nvSpPr>
        <p:spPr>
          <a:xfrm>
            <a:off x="838200" y="1918263"/>
            <a:ext cx="4686300" cy="3889664"/>
          </a:xfrm>
        </p:spPr>
        <p:txBody>
          <a:bodyPr>
            <a:normAutofit fontScale="77500" lnSpcReduction="20000"/>
          </a:bodyPr>
          <a:lstStyle/>
          <a:p>
            <a:pPr>
              <a:lnSpc>
                <a:spcPct val="120000"/>
              </a:lnSpc>
            </a:pPr>
            <a:r>
              <a:rPr lang="en-PK" b="1" dirty="0"/>
              <a:t>DRL:</a:t>
            </a:r>
            <a:r>
              <a:rPr lang="en-PK" dirty="0"/>
              <a:t> agent receives reward, learns optimal policy.</a:t>
            </a:r>
          </a:p>
          <a:p>
            <a:pPr>
              <a:lnSpc>
                <a:spcPct val="120000"/>
              </a:lnSpc>
            </a:pPr>
            <a:r>
              <a:rPr lang="en-PK" b="1" dirty="0"/>
              <a:t>MARL: </a:t>
            </a:r>
            <a:r>
              <a:rPr lang="en-PK" dirty="0"/>
              <a:t>extends DRL to teams of cooperating agents.</a:t>
            </a:r>
          </a:p>
          <a:p>
            <a:pPr>
              <a:lnSpc>
                <a:spcPct val="120000"/>
              </a:lnSpc>
            </a:pPr>
            <a:r>
              <a:rPr lang="en-PK" b="1" dirty="0"/>
              <a:t>CTDE Architecture: </a:t>
            </a:r>
            <a:r>
              <a:rPr lang="en-PK" dirty="0"/>
              <a:t>train with shared info, execute independently.</a:t>
            </a:r>
          </a:p>
          <a:p>
            <a:pPr>
              <a:lnSpc>
                <a:spcPct val="120000"/>
              </a:lnSpc>
            </a:pPr>
            <a:r>
              <a:rPr lang="en-PK" b="1" dirty="0"/>
              <a:t>MAPPO (Multi-Agent PPO): </a:t>
            </a:r>
            <a:r>
              <a:rPr lang="en-PK" dirty="0"/>
              <a:t>best-performing cooperative MARL algorithm.</a:t>
            </a:r>
            <a:br>
              <a:rPr lang="en-PK" dirty="0"/>
            </a:br>
            <a:endParaRPr lang="en-PK" dirty="0"/>
          </a:p>
        </p:txBody>
      </p:sp>
      <p:pic>
        <p:nvPicPr>
          <p:cNvPr id="8" name="Picture 7">
            <a:extLst>
              <a:ext uri="{FF2B5EF4-FFF2-40B4-BE49-F238E27FC236}">
                <a16:creationId xmlns:a16="http://schemas.microsoft.com/office/drawing/2014/main" id="{BA7F61E2-4A35-BA45-A26D-8E45BA272EA2}"/>
              </a:ext>
            </a:extLst>
          </p:cNvPr>
          <p:cNvPicPr>
            <a:picLocks noChangeAspect="1"/>
          </p:cNvPicPr>
          <p:nvPr/>
        </p:nvPicPr>
        <p:blipFill>
          <a:blip r:embed="rId2"/>
          <a:stretch>
            <a:fillRect/>
          </a:stretch>
        </p:blipFill>
        <p:spPr>
          <a:xfrm>
            <a:off x="5524500" y="1873911"/>
            <a:ext cx="6438900" cy="3512127"/>
          </a:xfrm>
          <a:prstGeom prst="rect">
            <a:avLst/>
          </a:prstGeom>
        </p:spPr>
      </p:pic>
      <p:sp>
        <p:nvSpPr>
          <p:cNvPr id="4" name="TextBox 3">
            <a:extLst>
              <a:ext uri="{FF2B5EF4-FFF2-40B4-BE49-F238E27FC236}">
                <a16:creationId xmlns:a16="http://schemas.microsoft.com/office/drawing/2014/main" id="{6821EB7D-EF8A-91B0-2E53-2461486D3EBB}"/>
              </a:ext>
            </a:extLst>
          </p:cNvPr>
          <p:cNvSpPr txBox="1"/>
          <p:nvPr/>
        </p:nvSpPr>
        <p:spPr>
          <a:xfrm>
            <a:off x="838200" y="1149716"/>
            <a:ext cx="7073796" cy="523220"/>
          </a:xfrm>
          <a:prstGeom prst="rect">
            <a:avLst/>
          </a:prstGeom>
          <a:noFill/>
        </p:spPr>
        <p:txBody>
          <a:bodyPr wrap="none" rtlCol="0">
            <a:spAutoFit/>
          </a:bodyPr>
          <a:lstStyle/>
          <a:p>
            <a:r>
              <a:rPr lang="en-PK" sz="2800" b="1" dirty="0">
                <a:solidFill>
                  <a:schemeClr val="tx2">
                    <a:lumMod val="75000"/>
                    <a:lumOff val="25000"/>
                  </a:schemeClr>
                </a:solidFill>
              </a:rPr>
              <a:t>Learning-based coordination how it works</a:t>
            </a:r>
          </a:p>
        </p:txBody>
      </p:sp>
    </p:spTree>
    <p:extLst>
      <p:ext uri="{BB962C8B-B14F-4D97-AF65-F5344CB8AC3E}">
        <p14:creationId xmlns:p14="http://schemas.microsoft.com/office/powerpoint/2010/main" val="1170402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35D18-D43C-B17C-31E3-67B988E82355}"/>
              </a:ext>
            </a:extLst>
          </p:cNvPr>
          <p:cNvSpPr>
            <a:spLocks noGrp="1"/>
          </p:cNvSpPr>
          <p:nvPr>
            <p:ph type="title"/>
          </p:nvPr>
        </p:nvSpPr>
        <p:spPr>
          <a:xfrm>
            <a:off x="838200" y="561184"/>
            <a:ext cx="10515600" cy="752475"/>
          </a:xfrm>
        </p:spPr>
        <p:txBody>
          <a:bodyPr/>
          <a:lstStyle/>
          <a:p>
            <a:r>
              <a:rPr lang="en-PK" dirty="0"/>
              <a:t>Motivation:</a:t>
            </a:r>
          </a:p>
        </p:txBody>
      </p:sp>
      <p:pic>
        <p:nvPicPr>
          <p:cNvPr id="6" name="Content Placeholder 5">
            <a:extLst>
              <a:ext uri="{FF2B5EF4-FFF2-40B4-BE49-F238E27FC236}">
                <a16:creationId xmlns:a16="http://schemas.microsoft.com/office/drawing/2014/main" id="{73387800-B939-F1F9-D681-21096E46638A}"/>
              </a:ext>
            </a:extLst>
          </p:cNvPr>
          <p:cNvPicPr>
            <a:picLocks noGrp="1" noChangeAspect="1"/>
          </p:cNvPicPr>
          <p:nvPr>
            <p:ph idx="1"/>
          </p:nvPr>
        </p:nvPicPr>
        <p:blipFill>
          <a:blip r:embed="rId2"/>
          <a:stretch>
            <a:fillRect/>
          </a:stretch>
        </p:blipFill>
        <p:spPr>
          <a:xfrm>
            <a:off x="6096000" y="896944"/>
            <a:ext cx="5317320" cy="5064112"/>
          </a:xfrm>
          <a:prstGeom prst="rect">
            <a:avLst/>
          </a:prstGeom>
          <a:effectLst>
            <a:outerShdw blurRad="173835" dist="44915" dir="1500000" sx="98120" sy="98120" algn="ctr" rotWithShape="0">
              <a:srgbClr val="000000"/>
            </a:outerShdw>
            <a:reflection endPos="0" dir="5400000" sy="-100000" algn="bl" rotWithShape="0"/>
          </a:effectLst>
        </p:spPr>
      </p:pic>
      <p:sp>
        <p:nvSpPr>
          <p:cNvPr id="5" name="TextBox 4">
            <a:extLst>
              <a:ext uri="{FF2B5EF4-FFF2-40B4-BE49-F238E27FC236}">
                <a16:creationId xmlns:a16="http://schemas.microsoft.com/office/drawing/2014/main" id="{88330DD8-0111-A7CF-63CE-36183F171A95}"/>
              </a:ext>
            </a:extLst>
          </p:cNvPr>
          <p:cNvSpPr txBox="1"/>
          <p:nvPr/>
        </p:nvSpPr>
        <p:spPr>
          <a:xfrm>
            <a:off x="838200" y="1313659"/>
            <a:ext cx="3549433" cy="461665"/>
          </a:xfrm>
          <a:prstGeom prst="rect">
            <a:avLst/>
          </a:prstGeom>
          <a:noFill/>
        </p:spPr>
        <p:txBody>
          <a:bodyPr wrap="none" rtlCol="0">
            <a:spAutoFit/>
          </a:bodyPr>
          <a:lstStyle/>
          <a:p>
            <a:r>
              <a:rPr lang="en-GB" sz="2400" b="1" dirty="0">
                <a:solidFill>
                  <a:schemeClr val="tx2">
                    <a:lumMod val="75000"/>
                    <a:lumOff val="25000"/>
                  </a:schemeClr>
                </a:solidFill>
              </a:rPr>
              <a:t>Why Joint Optimization?</a:t>
            </a:r>
            <a:endParaRPr lang="en-PK" sz="2400" b="1" dirty="0">
              <a:solidFill>
                <a:schemeClr val="tx2">
                  <a:lumMod val="75000"/>
                  <a:lumOff val="25000"/>
                </a:schemeClr>
              </a:solidFill>
            </a:endParaRPr>
          </a:p>
        </p:txBody>
      </p:sp>
      <p:sp>
        <p:nvSpPr>
          <p:cNvPr id="7" name="TextBox 6">
            <a:extLst>
              <a:ext uri="{FF2B5EF4-FFF2-40B4-BE49-F238E27FC236}">
                <a16:creationId xmlns:a16="http://schemas.microsoft.com/office/drawing/2014/main" id="{BC15AA5B-2F4B-4CA9-F7CA-C40DD8BD8AB7}"/>
              </a:ext>
            </a:extLst>
          </p:cNvPr>
          <p:cNvSpPr txBox="1"/>
          <p:nvPr/>
        </p:nvSpPr>
        <p:spPr>
          <a:xfrm>
            <a:off x="838200" y="2066134"/>
            <a:ext cx="4896729" cy="20748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200" dirty="0"/>
              <a:t>One obstacle,  swarm-wide conflict.</a:t>
            </a:r>
          </a:p>
          <a:p>
            <a:pPr marL="285750" indent="-285750">
              <a:lnSpc>
                <a:spcPct val="150000"/>
              </a:lnSpc>
              <a:buFont typeface="Arial" panose="020B0604020202020204" pitchFamily="34" charset="0"/>
              <a:buChar char="•"/>
            </a:pPr>
            <a:r>
              <a:rPr lang="en-GB" sz="2200" dirty="0"/>
              <a:t>Assignment and avoidance are coupled.</a:t>
            </a:r>
          </a:p>
          <a:p>
            <a:pPr marL="285750" indent="-285750">
              <a:lnSpc>
                <a:spcPct val="150000"/>
              </a:lnSpc>
              <a:buFont typeface="Arial" panose="020B0604020202020204" pitchFamily="34" charset="0"/>
              <a:buChar char="•"/>
            </a:pPr>
            <a:r>
              <a:rPr lang="en-GB" sz="2200" dirty="0"/>
              <a:t>Separate solutions are not enough.</a:t>
            </a:r>
            <a:endParaRPr lang="en-PK" sz="2200" dirty="0"/>
          </a:p>
        </p:txBody>
      </p:sp>
    </p:spTree>
    <p:extLst>
      <p:ext uri="{BB962C8B-B14F-4D97-AF65-F5344CB8AC3E}">
        <p14:creationId xmlns:p14="http://schemas.microsoft.com/office/powerpoint/2010/main" val="3774325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95BB-A565-9090-9397-8FA16C7A64FE}"/>
              </a:ext>
            </a:extLst>
          </p:cNvPr>
          <p:cNvSpPr>
            <a:spLocks noGrp="1"/>
          </p:cNvSpPr>
          <p:nvPr>
            <p:ph type="title"/>
          </p:nvPr>
        </p:nvSpPr>
        <p:spPr>
          <a:xfrm>
            <a:off x="808140" y="416047"/>
            <a:ext cx="11015560" cy="647699"/>
          </a:xfrm>
        </p:spPr>
        <p:txBody>
          <a:bodyPr>
            <a:normAutofit/>
          </a:bodyPr>
          <a:lstStyle/>
          <a:p>
            <a:r>
              <a:rPr lang="en-PK" sz="3600" dirty="0"/>
              <a:t>Related Work:</a:t>
            </a:r>
          </a:p>
        </p:txBody>
      </p:sp>
      <p:sp>
        <p:nvSpPr>
          <p:cNvPr id="5" name="TextBox 4">
            <a:extLst>
              <a:ext uri="{FF2B5EF4-FFF2-40B4-BE49-F238E27FC236}">
                <a16:creationId xmlns:a16="http://schemas.microsoft.com/office/drawing/2014/main" id="{651BACD1-B299-E590-BF12-BE91F992A98F}"/>
              </a:ext>
            </a:extLst>
          </p:cNvPr>
          <p:cNvSpPr txBox="1"/>
          <p:nvPr/>
        </p:nvSpPr>
        <p:spPr>
          <a:xfrm>
            <a:off x="101600" y="1346200"/>
            <a:ext cx="184731" cy="369332"/>
          </a:xfrm>
          <a:prstGeom prst="rect">
            <a:avLst/>
          </a:prstGeom>
          <a:noFill/>
        </p:spPr>
        <p:txBody>
          <a:bodyPr wrap="none" rtlCol="0">
            <a:spAutoFit/>
          </a:bodyPr>
          <a:lstStyle/>
          <a:p>
            <a:endParaRPr lang="en-PK" dirty="0"/>
          </a:p>
        </p:txBody>
      </p:sp>
      <p:sp>
        <p:nvSpPr>
          <p:cNvPr id="7" name="Content Placeholder 6">
            <a:extLst>
              <a:ext uri="{FF2B5EF4-FFF2-40B4-BE49-F238E27FC236}">
                <a16:creationId xmlns:a16="http://schemas.microsoft.com/office/drawing/2014/main" id="{D5594371-FF12-BB76-578B-D86681B86B4C}"/>
              </a:ext>
            </a:extLst>
          </p:cNvPr>
          <p:cNvSpPr>
            <a:spLocks noGrp="1"/>
          </p:cNvSpPr>
          <p:nvPr>
            <p:ph idx="1"/>
          </p:nvPr>
        </p:nvSpPr>
        <p:spPr>
          <a:xfrm flipV="1">
            <a:off x="11317951" y="-35912"/>
            <a:ext cx="754443" cy="45719"/>
          </a:xfrm>
        </p:spPr>
        <p:txBody>
          <a:bodyPr>
            <a:normAutofit fontScale="25000" lnSpcReduction="20000"/>
          </a:bodyPr>
          <a:lstStyle/>
          <a:p>
            <a:pPr marL="0" indent="0">
              <a:buNone/>
            </a:pPr>
            <a:r>
              <a:rPr lang="en-PK" sz="1000" dirty="0"/>
              <a:t>.</a:t>
            </a:r>
          </a:p>
        </p:txBody>
      </p:sp>
      <p:graphicFrame>
        <p:nvGraphicFramePr>
          <p:cNvPr id="9" name="Table 8">
            <a:extLst>
              <a:ext uri="{FF2B5EF4-FFF2-40B4-BE49-F238E27FC236}">
                <a16:creationId xmlns:a16="http://schemas.microsoft.com/office/drawing/2014/main" id="{AF6B4213-9F94-FCAD-4EB6-681F03D6F48D}"/>
              </a:ext>
            </a:extLst>
          </p:cNvPr>
          <p:cNvGraphicFramePr>
            <a:graphicFrameLocks noGrp="1"/>
          </p:cNvGraphicFramePr>
          <p:nvPr>
            <p:extLst>
              <p:ext uri="{D42A27DB-BD31-4B8C-83A1-F6EECF244321}">
                <p14:modId xmlns:p14="http://schemas.microsoft.com/office/powerpoint/2010/main" val="1084831571"/>
              </p:ext>
            </p:extLst>
          </p:nvPr>
        </p:nvGraphicFramePr>
        <p:xfrm>
          <a:off x="808140" y="1063746"/>
          <a:ext cx="10509811" cy="5059680"/>
        </p:xfrm>
        <a:graphic>
          <a:graphicData uri="http://schemas.openxmlformats.org/drawingml/2006/table">
            <a:tbl>
              <a:tblPr firstRow="1" bandRow="1">
                <a:tableStyleId>{5940675A-B579-460E-94D1-54222C63F5DA}</a:tableStyleId>
              </a:tblPr>
              <a:tblGrid>
                <a:gridCol w="1244327">
                  <a:extLst>
                    <a:ext uri="{9D8B030D-6E8A-4147-A177-3AD203B41FA5}">
                      <a16:colId xmlns:a16="http://schemas.microsoft.com/office/drawing/2014/main" val="20000"/>
                    </a:ext>
                  </a:extLst>
                </a:gridCol>
                <a:gridCol w="2415361">
                  <a:extLst>
                    <a:ext uri="{9D8B030D-6E8A-4147-A177-3AD203B41FA5}">
                      <a16:colId xmlns:a16="http://schemas.microsoft.com/office/drawing/2014/main" val="20001"/>
                    </a:ext>
                  </a:extLst>
                </a:gridCol>
                <a:gridCol w="1261640">
                  <a:extLst>
                    <a:ext uri="{9D8B030D-6E8A-4147-A177-3AD203B41FA5}">
                      <a16:colId xmlns:a16="http://schemas.microsoft.com/office/drawing/2014/main" val="20002"/>
                    </a:ext>
                  </a:extLst>
                </a:gridCol>
                <a:gridCol w="1412112">
                  <a:extLst>
                    <a:ext uri="{9D8B030D-6E8A-4147-A177-3AD203B41FA5}">
                      <a16:colId xmlns:a16="http://schemas.microsoft.com/office/drawing/2014/main" val="20003"/>
                    </a:ext>
                  </a:extLst>
                </a:gridCol>
                <a:gridCol w="1284790">
                  <a:extLst>
                    <a:ext uri="{9D8B030D-6E8A-4147-A177-3AD203B41FA5}">
                      <a16:colId xmlns:a16="http://schemas.microsoft.com/office/drawing/2014/main" val="20004"/>
                    </a:ext>
                  </a:extLst>
                </a:gridCol>
                <a:gridCol w="1418243">
                  <a:extLst>
                    <a:ext uri="{9D8B030D-6E8A-4147-A177-3AD203B41FA5}">
                      <a16:colId xmlns:a16="http://schemas.microsoft.com/office/drawing/2014/main" val="20005"/>
                    </a:ext>
                  </a:extLst>
                </a:gridCol>
                <a:gridCol w="1473338">
                  <a:extLst>
                    <a:ext uri="{9D8B030D-6E8A-4147-A177-3AD203B41FA5}">
                      <a16:colId xmlns:a16="http://schemas.microsoft.com/office/drawing/2014/main" val="20006"/>
                    </a:ext>
                  </a:extLst>
                </a:gridCol>
              </a:tblGrid>
              <a:tr h="545135">
                <a:tc>
                  <a:txBody>
                    <a:bodyPr/>
                    <a:lstStyle/>
                    <a:p>
                      <a:pPr algn="ctr"/>
                      <a:r>
                        <a:rPr sz="1600" b="1" dirty="0">
                          <a:solidFill>
                            <a:schemeClr val="tx1"/>
                          </a:solidFill>
                        </a:rPr>
                        <a:t>Author</a:t>
                      </a:r>
                    </a:p>
                  </a:txBody>
                  <a:tcPr/>
                </a:tc>
                <a:tc>
                  <a:txBody>
                    <a:bodyPr/>
                    <a:lstStyle/>
                    <a:p>
                      <a:pPr algn="ctr"/>
                      <a:r>
                        <a:rPr sz="1600" b="1" dirty="0">
                          <a:solidFill>
                            <a:schemeClr val="tx1"/>
                          </a:solidFill>
                        </a:rPr>
                        <a:t>Method</a:t>
                      </a:r>
                    </a:p>
                  </a:txBody>
                  <a:tcPr/>
                </a:tc>
                <a:tc>
                  <a:txBody>
                    <a:bodyPr/>
                    <a:lstStyle/>
                    <a:p>
                      <a:pPr algn="ctr"/>
                      <a:r>
                        <a:rPr sz="1600" b="1" dirty="0">
                          <a:solidFill>
                            <a:schemeClr val="tx1"/>
                          </a:solidFill>
                        </a:rPr>
                        <a:t>Dynamic
Obstacles</a:t>
                      </a:r>
                    </a:p>
                  </a:txBody>
                  <a:tcPr/>
                </a:tc>
                <a:tc>
                  <a:txBody>
                    <a:bodyPr/>
                    <a:lstStyle/>
                    <a:p>
                      <a:pPr algn="ctr"/>
                      <a:r>
                        <a:rPr sz="1600" b="1" dirty="0">
                          <a:solidFill>
                            <a:schemeClr val="tx1"/>
                          </a:solidFill>
                        </a:rPr>
                        <a:t>Target
Assignment</a:t>
                      </a:r>
                    </a:p>
                  </a:txBody>
                  <a:tcPr/>
                </a:tc>
                <a:tc>
                  <a:txBody>
                    <a:bodyPr/>
                    <a:lstStyle/>
                    <a:p>
                      <a:pPr algn="ctr"/>
                      <a:r>
                        <a:rPr sz="1600" b="1" dirty="0">
                          <a:solidFill>
                            <a:schemeClr val="tx1"/>
                          </a:solidFill>
                        </a:rPr>
                        <a:t>Collision
Avoidance</a:t>
                      </a:r>
                    </a:p>
                  </a:txBody>
                  <a:tcPr/>
                </a:tc>
                <a:tc>
                  <a:txBody>
                    <a:bodyPr/>
                    <a:lstStyle/>
                    <a:p>
                      <a:pPr algn="ctr"/>
                      <a:r>
                        <a:rPr sz="1600" b="1" dirty="0">
                          <a:solidFill>
                            <a:schemeClr val="tx1"/>
                          </a:solidFill>
                        </a:rPr>
                        <a:t>Path
Optimization</a:t>
                      </a:r>
                    </a:p>
                  </a:txBody>
                  <a:tcPr/>
                </a:tc>
                <a:tc>
                  <a:txBody>
                    <a:bodyPr/>
                    <a:lstStyle/>
                    <a:p>
                      <a:pPr algn="ctr"/>
                      <a:r>
                        <a:rPr sz="1600" b="1" dirty="0">
                          <a:solidFill>
                            <a:schemeClr val="tx1"/>
                          </a:solidFill>
                        </a:rPr>
                        <a:t>Weights</a:t>
                      </a:r>
                    </a:p>
                  </a:txBody>
                  <a:tcPr/>
                </a:tc>
                <a:extLst>
                  <a:ext uri="{0D108BD9-81ED-4DB2-BD59-A6C34878D82A}">
                    <a16:rowId xmlns:a16="http://schemas.microsoft.com/office/drawing/2014/main" val="10000"/>
                  </a:ext>
                </a:extLst>
              </a:tr>
              <a:tr h="650240">
                <a:tc>
                  <a:txBody>
                    <a:bodyPr/>
                    <a:lstStyle/>
                    <a:p>
                      <a:pPr algn="l"/>
                      <a:r>
                        <a:rPr sz="1600" b="1" dirty="0">
                          <a:solidFill>
                            <a:schemeClr val="tx1"/>
                          </a:solidFill>
                        </a:rPr>
                        <a:t>Tang et al. [1]</a:t>
                      </a:r>
                    </a:p>
                  </a:txBody>
                  <a:tcPr/>
                </a:tc>
                <a:tc>
                  <a:txBody>
                    <a:bodyPr/>
                    <a:lstStyle/>
                    <a:p>
                      <a:pPr algn="l"/>
                      <a:r>
                        <a:rPr sz="1800" b="0" dirty="0">
                          <a:solidFill>
                            <a:schemeClr val="tx1"/>
                          </a:solidFill>
                        </a:rPr>
                        <a:t>Improved D3QN</a:t>
                      </a:r>
                    </a:p>
                  </a:txBody>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a:r>
                        <a:rPr sz="1800" b="0" dirty="0">
                          <a:solidFill>
                            <a:schemeClr val="tx1"/>
                          </a:solidFill>
                        </a:rPr>
                        <a:t>Fixed</a:t>
                      </a:r>
                    </a:p>
                  </a:txBody>
                  <a:tcPr/>
                </a:tc>
                <a:extLst>
                  <a:ext uri="{0D108BD9-81ED-4DB2-BD59-A6C34878D82A}">
                    <a16:rowId xmlns:a16="http://schemas.microsoft.com/office/drawing/2014/main" val="10001"/>
                  </a:ext>
                </a:extLst>
              </a:tr>
              <a:tr h="472472">
                <a:tc>
                  <a:txBody>
                    <a:bodyPr/>
                    <a:lstStyle/>
                    <a:p>
                      <a:pPr algn="l"/>
                      <a:r>
                        <a:rPr sz="1600" b="1" dirty="0">
                          <a:solidFill>
                            <a:schemeClr val="tx1"/>
                          </a:solidFill>
                        </a:rPr>
                        <a:t>Kong et al. [2]</a:t>
                      </a:r>
                    </a:p>
                  </a:txBody>
                  <a:tcPr/>
                </a:tc>
                <a:tc>
                  <a:txBody>
                    <a:bodyPr/>
                    <a:lstStyle/>
                    <a:p>
                      <a:pPr algn="l"/>
                      <a:r>
                        <a:rPr sz="1800" b="0" dirty="0">
                          <a:solidFill>
                            <a:schemeClr val="tx1"/>
                          </a:solidFill>
                        </a:rPr>
                        <a:t>TANet-TD3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PK" sz="2200" b="1" dirty="0">
                          <a:solidFill>
                            <a:schemeClr val="accent6">
                              <a:lumMod val="50000"/>
                            </a:schemeClr>
                          </a:solidFill>
                        </a:rPr>
                        <a:t>✓</a:t>
                      </a:r>
                    </a:p>
                  </a:txBody>
                  <a:tcPr>
                    <a:solidFill>
                      <a:schemeClr val="accent6">
                        <a:lumMod val="20000"/>
                        <a:lumOff val="80000"/>
                      </a:schemeClr>
                    </a:solidFill>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a:r>
                        <a:rPr sz="1800" b="0" dirty="0">
                          <a:solidFill>
                            <a:schemeClr val="tx1"/>
                          </a:solidFill>
                        </a:rPr>
                        <a:t>Fixed</a:t>
                      </a:r>
                    </a:p>
                  </a:txBody>
                  <a:tcPr/>
                </a:tc>
                <a:extLst>
                  <a:ext uri="{0D108BD9-81ED-4DB2-BD59-A6C34878D82A}">
                    <a16:rowId xmlns:a16="http://schemas.microsoft.com/office/drawing/2014/main" val="10002"/>
                  </a:ext>
                </a:extLst>
              </a:tr>
              <a:tr h="650240">
                <a:tc>
                  <a:txBody>
                    <a:bodyPr/>
                    <a:lstStyle/>
                    <a:p>
                      <a:pPr algn="l"/>
                      <a:r>
                        <a:rPr sz="1600" b="1" dirty="0" err="1">
                          <a:solidFill>
                            <a:schemeClr val="tx1"/>
                          </a:solidFill>
                        </a:rPr>
                        <a:t>Jarray</a:t>
                      </a:r>
                      <a:r>
                        <a:rPr sz="1600" b="1" dirty="0">
                          <a:solidFill>
                            <a:schemeClr val="tx1"/>
                          </a:solidFill>
                        </a:rPr>
                        <a:t> et al. [3]</a:t>
                      </a:r>
                    </a:p>
                  </a:txBody>
                  <a:tcPr/>
                </a:tc>
                <a:tc>
                  <a:txBody>
                    <a:bodyPr/>
                    <a:lstStyle/>
                    <a:p>
                      <a:pPr algn="l"/>
                      <a:r>
                        <a:rPr sz="1800" b="0" dirty="0">
                          <a:solidFill>
                            <a:schemeClr val="tx1"/>
                          </a:solidFill>
                        </a:rPr>
                        <a:t>Dynamic Reward DQN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PK" sz="2200" b="1" dirty="0">
                          <a:solidFill>
                            <a:schemeClr val="accent6">
                              <a:lumMod val="50000"/>
                            </a:schemeClr>
                          </a:solidFill>
                        </a:rPr>
                        <a:t>✓</a:t>
                      </a:r>
                    </a:p>
                  </a:txBody>
                  <a:tcPr>
                    <a:solidFill>
                      <a:schemeClr val="accent6">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a:r>
                        <a:rPr sz="1800" b="0" dirty="0">
                          <a:solidFill>
                            <a:schemeClr val="tx1"/>
                          </a:solidFill>
                        </a:rPr>
                        <a:t>Dynamic</a:t>
                      </a:r>
                    </a:p>
                  </a:txBody>
                  <a:tcPr/>
                </a:tc>
                <a:extLst>
                  <a:ext uri="{0D108BD9-81ED-4DB2-BD59-A6C34878D82A}">
                    <a16:rowId xmlns:a16="http://schemas.microsoft.com/office/drawing/2014/main" val="10003"/>
                  </a:ext>
                </a:extLst>
              </a:tr>
              <a:tr h="650240">
                <a:tc>
                  <a:txBody>
                    <a:bodyPr/>
                    <a:lstStyle/>
                    <a:p>
                      <a:pPr algn="l"/>
                      <a:r>
                        <a:rPr sz="1600" b="1" dirty="0">
                          <a:solidFill>
                            <a:schemeClr val="tx1"/>
                          </a:solidFill>
                        </a:rPr>
                        <a:t>Zhang et al. [4]</a:t>
                      </a:r>
                    </a:p>
                  </a:txBody>
                  <a:tcPr/>
                </a:tc>
                <a:tc>
                  <a:txBody>
                    <a:bodyPr/>
                    <a:lstStyle/>
                    <a:p>
                      <a:pPr algn="l"/>
                      <a:r>
                        <a:rPr sz="1800" b="0" dirty="0">
                          <a:solidFill>
                            <a:schemeClr val="tx1"/>
                          </a:solidFill>
                        </a:rPr>
                        <a:t>Mean-Field DDPG</a:t>
                      </a:r>
                    </a:p>
                  </a:txBody>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a:r>
                        <a:rPr sz="1800" b="0" dirty="0">
                          <a:solidFill>
                            <a:schemeClr val="tx1"/>
                          </a:solidFill>
                        </a:rPr>
                        <a:t>Fixed</a:t>
                      </a:r>
                    </a:p>
                  </a:txBody>
                  <a:tcPr/>
                </a:tc>
                <a:extLst>
                  <a:ext uri="{0D108BD9-81ED-4DB2-BD59-A6C34878D82A}">
                    <a16:rowId xmlns:a16="http://schemas.microsoft.com/office/drawing/2014/main" val="10004"/>
                  </a:ext>
                </a:extLst>
              </a:tr>
              <a:tr h="650240">
                <a:tc>
                  <a:txBody>
                    <a:bodyPr/>
                    <a:lstStyle/>
                    <a:p>
                      <a:pPr algn="l"/>
                      <a:r>
                        <a:rPr sz="1600" b="1" dirty="0">
                          <a:solidFill>
                            <a:schemeClr val="tx1"/>
                          </a:solidFill>
                        </a:rPr>
                        <a:t>Poudel &amp; Moh [5]</a:t>
                      </a:r>
                    </a:p>
                  </a:txBody>
                  <a:tcPr/>
                </a:tc>
                <a:tc>
                  <a:txBody>
                    <a:bodyPr/>
                    <a:lstStyle/>
                    <a:p>
                      <a:pPr algn="l"/>
                      <a:r>
                        <a:rPr sz="1800" b="0" dirty="0">
                          <a:solidFill>
                            <a:schemeClr val="tx1"/>
                          </a:solidFill>
                        </a:rPr>
                        <a:t>MAML-MARL</a:t>
                      </a:r>
                    </a:p>
                  </a:txBody>
                  <a:tcPr/>
                </a:tc>
                <a:tc>
                  <a:txBody>
                    <a:bodyPr/>
                    <a:lstStyle/>
                    <a:p>
                      <a:pPr algn="ctr" rtl="0"/>
                      <a:r>
                        <a:rPr lang="en-PK" sz="2200" b="1" u="none" dirty="0">
                          <a:solidFill>
                            <a:schemeClr val="accent6">
                              <a:lumMod val="50000"/>
                            </a:schemeClr>
                          </a:solidFill>
                        </a:rPr>
                        <a:t>✓</a:t>
                      </a:r>
                    </a:p>
                  </a:txBody>
                  <a:tcPr>
                    <a:solidFill>
                      <a:schemeClr val="accent6">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a:r>
                        <a:rPr sz="1800" b="0" dirty="0">
                          <a:solidFill>
                            <a:schemeClr val="tx1"/>
                          </a:solidFill>
                        </a:rPr>
                        <a:t>Fixed</a:t>
                      </a:r>
                    </a:p>
                  </a:txBody>
                  <a:tcPr/>
                </a:tc>
                <a:extLst>
                  <a:ext uri="{0D108BD9-81ED-4DB2-BD59-A6C34878D82A}">
                    <a16:rowId xmlns:a16="http://schemas.microsoft.com/office/drawing/2014/main" val="10005"/>
                  </a:ext>
                </a:extLst>
              </a:tr>
              <a:tr h="650240">
                <a:tc>
                  <a:txBody>
                    <a:bodyPr/>
                    <a:lstStyle/>
                    <a:p>
                      <a:pPr algn="l"/>
                      <a:r>
                        <a:rPr sz="1600" b="1" dirty="0">
                          <a:solidFill>
                            <a:schemeClr val="tx1"/>
                          </a:solidFill>
                        </a:rPr>
                        <a:t>Rezaee et al. [</a:t>
                      </a:r>
                      <a:r>
                        <a:rPr lang="en-US" sz="1600" b="1" dirty="0">
                          <a:solidFill>
                            <a:schemeClr val="tx1"/>
                          </a:solidFill>
                        </a:rPr>
                        <a:t>6</a:t>
                      </a:r>
                      <a:r>
                        <a:rPr sz="1600" b="1" dirty="0">
                          <a:solidFill>
                            <a:schemeClr val="tx1"/>
                          </a:solidFill>
                        </a:rPr>
                        <a:t>]</a:t>
                      </a:r>
                    </a:p>
                  </a:txBody>
                  <a:tcPr/>
                </a:tc>
                <a:tc>
                  <a:txBody>
                    <a:bodyPr/>
                    <a:lstStyle/>
                    <a:p>
                      <a:pPr algn="l"/>
                      <a:r>
                        <a:rPr sz="1800" b="0" dirty="0">
                          <a:solidFill>
                            <a:schemeClr val="tx1"/>
                          </a:solidFill>
                        </a:rPr>
                        <a:t>IGAT-MARL</a:t>
                      </a:r>
                    </a:p>
                  </a:txBody>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a:r>
                        <a:rPr sz="1800" b="0" dirty="0">
                          <a:solidFill>
                            <a:schemeClr val="tx1"/>
                          </a:solidFill>
                        </a:rPr>
                        <a:t>Fixed</a:t>
                      </a:r>
                    </a:p>
                  </a:txBody>
                  <a:tcPr/>
                </a:tc>
                <a:extLst>
                  <a:ext uri="{0D108BD9-81ED-4DB2-BD59-A6C34878D82A}">
                    <a16:rowId xmlns:a16="http://schemas.microsoft.com/office/drawing/2014/main" val="10006"/>
                  </a:ext>
                </a:extLst>
              </a:tr>
              <a:tr h="650240">
                <a:tc>
                  <a:txBody>
                    <a:bodyPr/>
                    <a:lstStyle/>
                    <a:p>
                      <a:pPr algn="l"/>
                      <a:r>
                        <a:rPr sz="1600" b="1" dirty="0">
                          <a:solidFill>
                            <a:schemeClr val="tx1"/>
                          </a:solidFill>
                        </a:rPr>
                        <a:t>Sheng et al. [</a:t>
                      </a:r>
                      <a:r>
                        <a:rPr lang="en-US" sz="1600" b="1" dirty="0">
                          <a:solidFill>
                            <a:schemeClr val="tx1"/>
                          </a:solidFill>
                        </a:rPr>
                        <a:t>7</a:t>
                      </a:r>
                      <a:r>
                        <a:rPr sz="1600" b="1" dirty="0">
                          <a:solidFill>
                            <a:schemeClr val="tx1"/>
                          </a:solidFill>
                        </a:rPr>
                        <a:t>]</a:t>
                      </a:r>
                    </a:p>
                  </a:txBody>
                  <a:tcPr/>
                </a:tc>
                <a:tc>
                  <a:txBody>
                    <a:bodyPr/>
                    <a:lstStyle/>
                    <a:p>
                      <a:pPr algn="l"/>
                      <a:r>
                        <a:rPr sz="1800" b="0" dirty="0">
                          <a:solidFill>
                            <a:schemeClr val="tx1"/>
                          </a:solidFill>
                        </a:rPr>
                        <a:t>DA-MAPPO</a:t>
                      </a:r>
                    </a:p>
                  </a:txBody>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rtl="0"/>
                      <a:r>
                        <a:rPr sz="2200" b="1" dirty="0">
                          <a:solidFill>
                            <a:srgbClr val="C00000"/>
                          </a:solidFill>
                        </a:rPr>
                        <a:t>✗</a:t>
                      </a:r>
                    </a:p>
                  </a:txBody>
                  <a:tcPr>
                    <a:solidFill>
                      <a:schemeClr val="accent2">
                        <a:lumMod val="20000"/>
                        <a:lumOff val="80000"/>
                      </a:schemeClr>
                    </a:solidFill>
                  </a:tcPr>
                </a:tc>
                <a:tc>
                  <a:txBody>
                    <a:bodyPr/>
                    <a:lstStyle/>
                    <a:p>
                      <a:pPr algn="ctr" rtl="0"/>
                      <a:r>
                        <a:rPr sz="2200" b="1" dirty="0">
                          <a:solidFill>
                            <a:schemeClr val="accent6">
                              <a:lumMod val="50000"/>
                            </a:schemeClr>
                          </a:solidFill>
                        </a:rPr>
                        <a:t>✓</a:t>
                      </a:r>
                    </a:p>
                  </a:txBody>
                  <a:tcPr>
                    <a:solidFill>
                      <a:schemeClr val="accent6">
                        <a:lumMod val="20000"/>
                        <a:lumOff val="80000"/>
                      </a:schemeClr>
                    </a:solidFill>
                  </a:tcPr>
                </a:tc>
                <a:tc>
                  <a:txBody>
                    <a:bodyPr/>
                    <a:lstStyle/>
                    <a:p>
                      <a:pPr algn="ctr"/>
                      <a:r>
                        <a:rPr sz="1800" b="0" dirty="0">
                          <a:solidFill>
                            <a:schemeClr val="tx1"/>
                          </a:solidFill>
                        </a:rPr>
                        <a:t>Fixed</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86766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BAB51-FB50-F65F-D968-A82BB4BFE790}"/>
              </a:ext>
            </a:extLst>
          </p:cNvPr>
          <p:cNvSpPr>
            <a:spLocks noGrp="1"/>
          </p:cNvSpPr>
          <p:nvPr>
            <p:ph type="title"/>
          </p:nvPr>
        </p:nvSpPr>
        <p:spPr>
          <a:xfrm>
            <a:off x="593802" y="956261"/>
            <a:ext cx="10515600" cy="676275"/>
          </a:xfrm>
        </p:spPr>
        <p:txBody>
          <a:bodyPr>
            <a:normAutofit/>
          </a:bodyPr>
          <a:lstStyle/>
          <a:p>
            <a:r>
              <a:rPr lang="en-PK" sz="4000" dirty="0"/>
              <a:t>Gap in existing work:</a:t>
            </a:r>
          </a:p>
        </p:txBody>
      </p:sp>
      <p:sp>
        <p:nvSpPr>
          <p:cNvPr id="3" name="Content Placeholder 2">
            <a:extLst>
              <a:ext uri="{FF2B5EF4-FFF2-40B4-BE49-F238E27FC236}">
                <a16:creationId xmlns:a16="http://schemas.microsoft.com/office/drawing/2014/main" id="{9FC24440-9D97-2A46-9EC3-E7ACE72628BB}"/>
              </a:ext>
            </a:extLst>
          </p:cNvPr>
          <p:cNvSpPr>
            <a:spLocks noGrp="1"/>
          </p:cNvSpPr>
          <p:nvPr>
            <p:ph idx="1"/>
          </p:nvPr>
        </p:nvSpPr>
        <p:spPr>
          <a:xfrm>
            <a:off x="1064871" y="2087465"/>
            <a:ext cx="9902818" cy="2924373"/>
          </a:xfrm>
        </p:spPr>
        <p:txBody>
          <a:bodyPr>
            <a:noAutofit/>
          </a:bodyPr>
          <a:lstStyle/>
          <a:p>
            <a:pPr>
              <a:lnSpc>
                <a:spcPct val="150000"/>
              </a:lnSpc>
            </a:pPr>
            <a:r>
              <a:rPr lang="en-GB" sz="2200" b="1" dirty="0"/>
              <a:t>Assignment only:  </a:t>
            </a:r>
            <a:r>
              <a:rPr lang="en-GB" sz="2200" dirty="0"/>
              <a:t>UAV reaches target but collides with other UAVs.</a:t>
            </a:r>
          </a:p>
          <a:p>
            <a:pPr>
              <a:lnSpc>
                <a:spcPct val="150000"/>
              </a:lnSpc>
            </a:pPr>
            <a:r>
              <a:rPr lang="en-GB" sz="2200" b="1" dirty="0"/>
              <a:t>Avoidance only:  </a:t>
            </a:r>
            <a:r>
              <a:rPr lang="en-GB" sz="2200" dirty="0"/>
              <a:t>UAV avoids collision but target stays uncovered.</a:t>
            </a:r>
          </a:p>
          <a:p>
            <a:pPr>
              <a:lnSpc>
                <a:spcPct val="150000"/>
              </a:lnSpc>
            </a:pPr>
            <a:r>
              <a:rPr lang="en-GB" sz="2200" dirty="0"/>
              <a:t>Both together with fixed weights, one always overrides the other.</a:t>
            </a:r>
          </a:p>
          <a:p>
            <a:pPr>
              <a:lnSpc>
                <a:spcPct val="150000"/>
              </a:lnSpc>
            </a:pPr>
            <a:r>
              <a:rPr lang="en-GB" sz="2200" dirty="0"/>
              <a:t>No framework learns when assignment must lead and when avoidance must lead.</a:t>
            </a:r>
            <a:endParaRPr lang="en-PK" sz="2200" dirty="0"/>
          </a:p>
        </p:txBody>
      </p:sp>
    </p:spTree>
    <p:extLst>
      <p:ext uri="{BB962C8B-B14F-4D97-AF65-F5344CB8AC3E}">
        <p14:creationId xmlns:p14="http://schemas.microsoft.com/office/powerpoint/2010/main" val="2265985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0949E-70C5-8F40-FA84-D6C01613ED42}"/>
              </a:ext>
            </a:extLst>
          </p:cNvPr>
          <p:cNvSpPr>
            <a:spLocks noGrp="1"/>
          </p:cNvSpPr>
          <p:nvPr>
            <p:ph type="title"/>
          </p:nvPr>
        </p:nvSpPr>
        <p:spPr>
          <a:xfrm>
            <a:off x="339437" y="1571437"/>
            <a:ext cx="11513126" cy="929286"/>
          </a:xfrm>
        </p:spPr>
        <p:txBody>
          <a:bodyPr>
            <a:normAutofit/>
          </a:bodyPr>
          <a:lstStyle/>
          <a:p>
            <a:pPr algn="ctr"/>
            <a:r>
              <a:rPr lang="en-PK" sz="4800" dirty="0"/>
              <a:t>Problem Statement:</a:t>
            </a:r>
          </a:p>
        </p:txBody>
      </p:sp>
      <p:sp>
        <p:nvSpPr>
          <p:cNvPr id="3" name="Content Placeholder 2">
            <a:extLst>
              <a:ext uri="{FF2B5EF4-FFF2-40B4-BE49-F238E27FC236}">
                <a16:creationId xmlns:a16="http://schemas.microsoft.com/office/drawing/2014/main" id="{977F8501-E557-FAC7-B745-2C4EFF88AE20}"/>
              </a:ext>
            </a:extLst>
          </p:cNvPr>
          <p:cNvSpPr>
            <a:spLocks noGrp="1"/>
          </p:cNvSpPr>
          <p:nvPr>
            <p:ph idx="1"/>
          </p:nvPr>
        </p:nvSpPr>
        <p:spPr>
          <a:xfrm>
            <a:off x="892134" y="2630466"/>
            <a:ext cx="10407732" cy="2656097"/>
          </a:xfrm>
        </p:spPr>
        <p:txBody>
          <a:bodyPr>
            <a:normAutofit/>
          </a:bodyPr>
          <a:lstStyle/>
          <a:p>
            <a:pPr marL="0" indent="0" algn="ctr">
              <a:lnSpc>
                <a:spcPct val="100000"/>
              </a:lnSpc>
              <a:buNone/>
            </a:pPr>
            <a:r>
              <a:rPr lang="en-US" dirty="0"/>
              <a:t>In multi-UAV missions, task allocation and collision avoidance are inherently interdependent, as assignment decisions influence trajectories and avoidance maneuvers can invalidate assigned tasks. This coupling can lead to uncovered targets, reassignment conflicts and new collision risks</a:t>
            </a:r>
            <a:r>
              <a:rPr lang="en-PK" sz="2000" dirty="0"/>
              <a:t> </a:t>
            </a:r>
            <a:r>
              <a:rPr lang="en-US" sz="2000" dirty="0"/>
              <a:t>.</a:t>
            </a:r>
            <a:endParaRPr lang="en-PK" sz="2000" dirty="0"/>
          </a:p>
        </p:txBody>
      </p:sp>
    </p:spTree>
    <p:extLst>
      <p:ext uri="{BB962C8B-B14F-4D97-AF65-F5344CB8AC3E}">
        <p14:creationId xmlns:p14="http://schemas.microsoft.com/office/powerpoint/2010/main" val="2024015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87FFD-AAC2-A7BE-1B49-657B92D479FB}"/>
              </a:ext>
            </a:extLst>
          </p:cNvPr>
          <p:cNvSpPr>
            <a:spLocks noGrp="1"/>
          </p:cNvSpPr>
          <p:nvPr>
            <p:ph type="title"/>
          </p:nvPr>
        </p:nvSpPr>
        <p:spPr>
          <a:xfrm>
            <a:off x="838200" y="822094"/>
            <a:ext cx="10515600" cy="573026"/>
          </a:xfrm>
        </p:spPr>
        <p:txBody>
          <a:bodyPr>
            <a:noAutofit/>
          </a:bodyPr>
          <a:lstStyle/>
          <a:p>
            <a:r>
              <a:rPr lang="en-PK" sz="4000" dirty="0"/>
              <a:t>Research Objective</a:t>
            </a:r>
          </a:p>
        </p:txBody>
      </p:sp>
      <p:sp>
        <p:nvSpPr>
          <p:cNvPr id="3" name="Content Placeholder 2">
            <a:extLst>
              <a:ext uri="{FF2B5EF4-FFF2-40B4-BE49-F238E27FC236}">
                <a16:creationId xmlns:a16="http://schemas.microsoft.com/office/drawing/2014/main" id="{007EBA45-1327-7AB0-2D7B-D25F695BC580}"/>
              </a:ext>
            </a:extLst>
          </p:cNvPr>
          <p:cNvSpPr>
            <a:spLocks noGrp="1"/>
          </p:cNvSpPr>
          <p:nvPr>
            <p:ph idx="1"/>
          </p:nvPr>
        </p:nvSpPr>
        <p:spPr>
          <a:xfrm>
            <a:off x="1420637" y="1918011"/>
            <a:ext cx="9764036" cy="3544870"/>
          </a:xfrm>
        </p:spPr>
        <p:txBody>
          <a:bodyPr>
            <a:normAutofit/>
          </a:bodyPr>
          <a:lstStyle/>
          <a:p>
            <a:pPr>
              <a:lnSpc>
                <a:spcPct val="150000"/>
              </a:lnSpc>
            </a:pPr>
            <a:r>
              <a:rPr lang="en-GB" sz="2200" dirty="0"/>
              <a:t>Design a learned mechanism to balance assignment and avoidance jointly.</a:t>
            </a:r>
          </a:p>
          <a:p>
            <a:pPr>
              <a:lnSpc>
                <a:spcPct val="150000"/>
              </a:lnSpc>
            </a:pPr>
            <a:r>
              <a:rPr lang="en-GB" sz="2200" dirty="0"/>
              <a:t>Test scalability across 3, 5, and 8 drones.</a:t>
            </a:r>
          </a:p>
          <a:p>
            <a:pPr>
              <a:lnSpc>
                <a:spcPct val="150000"/>
              </a:lnSpc>
            </a:pPr>
            <a:r>
              <a:rPr lang="en-GB" sz="2200" dirty="0"/>
              <a:t>Compare learned </a:t>
            </a:r>
            <a:r>
              <a:rPr lang="el-GR" sz="2200" dirty="0"/>
              <a:t>α </a:t>
            </a:r>
            <a:r>
              <a:rPr lang="en-GB" sz="2200" dirty="0"/>
              <a:t>against fixed reward weights.</a:t>
            </a:r>
          </a:p>
          <a:p>
            <a:pPr>
              <a:lnSpc>
                <a:spcPct val="150000"/>
              </a:lnSpc>
            </a:pPr>
            <a:r>
              <a:rPr lang="en-GB" sz="2200" dirty="0"/>
              <a:t>Find where and how the framework fails.</a:t>
            </a:r>
            <a:endParaRPr lang="en-PK" sz="2200" dirty="0"/>
          </a:p>
        </p:txBody>
      </p:sp>
    </p:spTree>
    <p:extLst>
      <p:ext uri="{BB962C8B-B14F-4D97-AF65-F5344CB8AC3E}">
        <p14:creationId xmlns:p14="http://schemas.microsoft.com/office/powerpoint/2010/main" val="3863674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AF4A-C5EE-8090-9029-F5AF6CD6B425}"/>
              </a:ext>
            </a:extLst>
          </p:cNvPr>
          <p:cNvSpPr>
            <a:spLocks noGrp="1"/>
          </p:cNvSpPr>
          <p:nvPr>
            <p:ph type="title"/>
          </p:nvPr>
        </p:nvSpPr>
        <p:spPr>
          <a:xfrm>
            <a:off x="567541" y="526005"/>
            <a:ext cx="6829721" cy="565293"/>
          </a:xfrm>
        </p:spPr>
        <p:txBody>
          <a:bodyPr>
            <a:normAutofit fontScale="90000"/>
          </a:bodyPr>
          <a:lstStyle/>
          <a:p>
            <a:r>
              <a:rPr lang="en-PK" sz="4000" dirty="0"/>
              <a:t>Proposed Methodology:</a:t>
            </a:r>
          </a:p>
        </p:txBody>
      </p:sp>
      <p:sp>
        <p:nvSpPr>
          <p:cNvPr id="4" name="Content Placeholder 3">
            <a:extLst>
              <a:ext uri="{FF2B5EF4-FFF2-40B4-BE49-F238E27FC236}">
                <a16:creationId xmlns:a16="http://schemas.microsoft.com/office/drawing/2014/main" id="{DECD119F-90EF-D2B2-A497-A3DD53A3AF8F}"/>
              </a:ext>
            </a:extLst>
          </p:cNvPr>
          <p:cNvSpPr>
            <a:spLocks noGrp="1"/>
          </p:cNvSpPr>
          <p:nvPr>
            <p:ph idx="1"/>
          </p:nvPr>
        </p:nvSpPr>
        <p:spPr>
          <a:xfrm rot="5400000">
            <a:off x="11696826" y="30830"/>
            <a:ext cx="523259" cy="467090"/>
          </a:xfrm>
        </p:spPr>
        <p:txBody>
          <a:bodyPr>
            <a:normAutofit lnSpcReduction="10000"/>
          </a:bodyPr>
          <a:lstStyle/>
          <a:p>
            <a:pPr marL="0" indent="0">
              <a:buNone/>
            </a:pPr>
            <a:r>
              <a:rPr lang="en-PK" dirty="0">
                <a:solidFill>
                  <a:schemeClr val="bg1"/>
                </a:solidFill>
              </a:rPr>
              <a:t>.</a:t>
            </a:r>
          </a:p>
        </p:txBody>
      </p:sp>
      <p:pic>
        <p:nvPicPr>
          <p:cNvPr id="5" name="Picture 4">
            <a:extLst>
              <a:ext uri="{FF2B5EF4-FFF2-40B4-BE49-F238E27FC236}">
                <a16:creationId xmlns:a16="http://schemas.microsoft.com/office/drawing/2014/main" id="{20ED7036-1F74-7976-5E3C-3BFC27D46D73}"/>
              </a:ext>
            </a:extLst>
          </p:cNvPr>
          <p:cNvPicPr>
            <a:picLocks noChangeAspect="1"/>
          </p:cNvPicPr>
          <p:nvPr/>
        </p:nvPicPr>
        <p:blipFill>
          <a:blip r:embed="rId2"/>
          <a:stretch>
            <a:fillRect/>
          </a:stretch>
        </p:blipFill>
        <p:spPr>
          <a:xfrm>
            <a:off x="562715" y="1670572"/>
            <a:ext cx="11162195" cy="3516856"/>
          </a:xfrm>
          <a:prstGeom prst="rect">
            <a:avLst/>
          </a:prstGeom>
        </p:spPr>
      </p:pic>
    </p:spTree>
    <p:extLst>
      <p:ext uri="{BB962C8B-B14F-4D97-AF65-F5344CB8AC3E}">
        <p14:creationId xmlns:p14="http://schemas.microsoft.com/office/powerpoint/2010/main" val="1892725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2B344-A464-2697-F1BA-57B78D5DC376}"/>
              </a:ext>
            </a:extLst>
          </p:cNvPr>
          <p:cNvSpPr>
            <a:spLocks noGrp="1"/>
          </p:cNvSpPr>
          <p:nvPr>
            <p:ph type="title"/>
          </p:nvPr>
        </p:nvSpPr>
        <p:spPr>
          <a:xfrm>
            <a:off x="1373457" y="533832"/>
            <a:ext cx="9445084" cy="632402"/>
          </a:xfrm>
        </p:spPr>
        <p:txBody>
          <a:bodyPr>
            <a:normAutofit fontScale="90000"/>
          </a:bodyPr>
          <a:lstStyle/>
          <a:p>
            <a:r>
              <a:rPr lang="en-PK" sz="4000" dirty="0"/>
              <a:t>References:</a:t>
            </a:r>
          </a:p>
        </p:txBody>
      </p:sp>
      <p:sp>
        <p:nvSpPr>
          <p:cNvPr id="3" name="Content Placeholder 2">
            <a:extLst>
              <a:ext uri="{FF2B5EF4-FFF2-40B4-BE49-F238E27FC236}">
                <a16:creationId xmlns:a16="http://schemas.microsoft.com/office/drawing/2014/main" id="{1EC21850-96D8-C13B-71D8-229419A2F009}"/>
              </a:ext>
            </a:extLst>
          </p:cNvPr>
          <p:cNvSpPr>
            <a:spLocks noGrp="1"/>
          </p:cNvSpPr>
          <p:nvPr>
            <p:ph idx="1"/>
          </p:nvPr>
        </p:nvSpPr>
        <p:spPr>
          <a:xfrm>
            <a:off x="1248135" y="1228405"/>
            <a:ext cx="9695727" cy="4401189"/>
          </a:xfrm>
        </p:spPr>
        <p:txBody>
          <a:bodyPr>
            <a:normAutofit fontScale="85000" lnSpcReduction="20000"/>
          </a:bodyPr>
          <a:lstStyle/>
          <a:p>
            <a:pPr algn="just">
              <a:lnSpc>
                <a:spcPct val="110000"/>
              </a:lnSpc>
              <a:spcBef>
                <a:spcPts val="800"/>
              </a:spcBef>
              <a:spcAft>
                <a:spcPts val="800"/>
              </a:spcAft>
            </a:pPr>
            <a:r>
              <a:rPr lang="en-PK" sz="1800" dirty="0"/>
              <a:t> </a:t>
            </a:r>
            <a:r>
              <a:rPr lang="en-GB" sz="1800" dirty="0">
                <a:solidFill>
                  <a:srgbClr val="424242"/>
                </a:solidFill>
              </a:rPr>
              <a:t>[1]  J. Tang, Y. Liang, and K. Li, "Dynamic scene path planning of UAVs based on deep reinforcement learning," Drones, vol. 8, no. 2, p. 60, 2024.</a:t>
            </a:r>
          </a:p>
          <a:p>
            <a:pPr algn="just">
              <a:lnSpc>
                <a:spcPct val="110000"/>
              </a:lnSpc>
              <a:spcBef>
                <a:spcPts val="800"/>
              </a:spcBef>
              <a:spcAft>
                <a:spcPts val="800"/>
              </a:spcAft>
            </a:pPr>
            <a:r>
              <a:rPr lang="en-GB" sz="1800" dirty="0">
                <a:solidFill>
                  <a:srgbClr val="424242"/>
                </a:solidFill>
              </a:rPr>
              <a:t>[2]  X. Kong, Y. Zhou, Z. Li, and S. Wang, "Multi-UAV simultaneous target assignment and path planning based on deep reinforcement learning in dynamic multiple obstacles environments," Front. </a:t>
            </a:r>
            <a:r>
              <a:rPr lang="en-GB" sz="1800" dirty="0" err="1">
                <a:solidFill>
                  <a:srgbClr val="424242"/>
                </a:solidFill>
              </a:rPr>
              <a:t>Neurorobot</a:t>
            </a:r>
            <a:r>
              <a:rPr lang="en-GB" sz="1800" dirty="0">
                <a:solidFill>
                  <a:srgbClr val="424242"/>
                </a:solidFill>
              </a:rPr>
              <a:t>., vol. 17, p. 1302898, 2024.</a:t>
            </a:r>
          </a:p>
          <a:p>
            <a:pPr algn="just">
              <a:lnSpc>
                <a:spcPct val="110000"/>
              </a:lnSpc>
              <a:spcBef>
                <a:spcPts val="800"/>
              </a:spcBef>
              <a:spcAft>
                <a:spcPts val="800"/>
              </a:spcAft>
            </a:pPr>
            <a:r>
              <a:rPr lang="en-GB" sz="1800" dirty="0">
                <a:solidFill>
                  <a:srgbClr val="424242"/>
                </a:solidFill>
              </a:rPr>
              <a:t>[3]  R. </a:t>
            </a:r>
            <a:r>
              <a:rPr lang="en-GB" sz="1800" dirty="0" err="1">
                <a:solidFill>
                  <a:srgbClr val="424242"/>
                </a:solidFill>
              </a:rPr>
              <a:t>Jarray</a:t>
            </a:r>
            <a:r>
              <a:rPr lang="en-GB" sz="1800" dirty="0">
                <a:solidFill>
                  <a:srgbClr val="424242"/>
                </a:solidFill>
              </a:rPr>
              <a:t>, I. </a:t>
            </a:r>
            <a:r>
              <a:rPr lang="en-GB" sz="1800" dirty="0" err="1">
                <a:solidFill>
                  <a:srgbClr val="424242"/>
                </a:solidFill>
              </a:rPr>
              <a:t>Zaghbani</a:t>
            </a:r>
            <a:r>
              <a:rPr lang="en-GB" sz="1800" dirty="0">
                <a:solidFill>
                  <a:srgbClr val="424242"/>
                </a:solidFill>
              </a:rPr>
              <a:t>, and S. </a:t>
            </a:r>
            <a:r>
              <a:rPr lang="en-GB" sz="1800" dirty="0" err="1">
                <a:solidFill>
                  <a:srgbClr val="424242"/>
                </a:solidFill>
              </a:rPr>
              <a:t>Bouallègue</a:t>
            </a:r>
            <a:r>
              <a:rPr lang="en-GB" sz="1800" dirty="0">
                <a:solidFill>
                  <a:srgbClr val="424242"/>
                </a:solidFill>
              </a:rPr>
              <a:t>, "Dynamic reward-based deep reinforcement learning algorithm for UAV path planning in large-scale environments," Procedia </a:t>
            </a:r>
            <a:r>
              <a:rPr lang="en-GB" sz="1800" dirty="0" err="1">
                <a:solidFill>
                  <a:srgbClr val="424242"/>
                </a:solidFill>
              </a:rPr>
              <a:t>Comput</a:t>
            </a:r>
            <a:r>
              <a:rPr lang="en-GB" sz="1800" dirty="0">
                <a:solidFill>
                  <a:srgbClr val="424242"/>
                </a:solidFill>
              </a:rPr>
              <a:t>. Sci., vol. 270, pp. 692-702, 2025.</a:t>
            </a:r>
          </a:p>
          <a:p>
            <a:pPr algn="just">
              <a:lnSpc>
                <a:spcPct val="110000"/>
              </a:lnSpc>
              <a:spcBef>
                <a:spcPts val="800"/>
              </a:spcBef>
              <a:spcAft>
                <a:spcPts val="800"/>
              </a:spcAft>
            </a:pPr>
            <a:r>
              <a:rPr lang="en-GB" sz="1800" dirty="0">
                <a:solidFill>
                  <a:srgbClr val="424242"/>
                </a:solidFill>
              </a:rPr>
              <a:t>[4]  Y. Zhang et al., "Large-scale UAV swarm path planning based on mean-field reinforcement learning," Chin. J. Aeronaut., vol. 38, no. 9, p. 103484, 2025.</a:t>
            </a:r>
          </a:p>
          <a:p>
            <a:pPr algn="just">
              <a:lnSpc>
                <a:spcPct val="110000"/>
              </a:lnSpc>
              <a:spcBef>
                <a:spcPts val="800"/>
              </a:spcBef>
              <a:spcAft>
                <a:spcPts val="800"/>
              </a:spcAft>
            </a:pPr>
            <a:r>
              <a:rPr lang="en-GB" sz="1800" dirty="0">
                <a:solidFill>
                  <a:srgbClr val="424242"/>
                </a:solidFill>
              </a:rPr>
              <a:t>[5]  S. Poudel and S. Moh, "MAML-integrated multi-agent reinforcement learning for adaptive coalition-based UAV coordination in disaster scenarios," Internet of Things, vol. 37, p. 101930, 2026.</a:t>
            </a:r>
          </a:p>
          <a:p>
            <a:pPr algn="just">
              <a:lnSpc>
                <a:spcPct val="110000"/>
              </a:lnSpc>
              <a:spcBef>
                <a:spcPts val="800"/>
              </a:spcBef>
              <a:spcAft>
                <a:spcPts val="800"/>
              </a:spcAft>
            </a:pPr>
            <a:r>
              <a:rPr lang="en-GB" sz="1800" dirty="0">
                <a:solidFill>
                  <a:srgbClr val="424242"/>
                </a:solidFill>
              </a:rPr>
              <a:t>[6]  M. R. Rezaee et al., "Efficient multi-agent deep reinforcement learning algorithm for multi-UAV collision avoidance," Appl. Soft </a:t>
            </a:r>
            <a:r>
              <a:rPr lang="en-GB" sz="1800" dirty="0" err="1">
                <a:solidFill>
                  <a:srgbClr val="424242"/>
                </a:solidFill>
              </a:rPr>
              <a:t>Comput</a:t>
            </a:r>
            <a:r>
              <a:rPr lang="en-GB" sz="1800" dirty="0">
                <a:solidFill>
                  <a:srgbClr val="424242"/>
                </a:solidFill>
              </a:rPr>
              <a:t>., vol. 197, p. 115145, 2026.</a:t>
            </a:r>
          </a:p>
          <a:p>
            <a:pPr algn="just">
              <a:lnSpc>
                <a:spcPct val="110000"/>
              </a:lnSpc>
              <a:spcBef>
                <a:spcPts val="800"/>
              </a:spcBef>
              <a:spcAft>
                <a:spcPts val="800"/>
              </a:spcAft>
            </a:pPr>
            <a:r>
              <a:rPr lang="en-GB" sz="1800" dirty="0">
                <a:solidFill>
                  <a:srgbClr val="424242"/>
                </a:solidFill>
              </a:rPr>
              <a:t>[7] Y. Sheng, X. Xie, H. Liu, and J. Li, "Dynamic target assignment and cooperative decision-making for UAV swarms based on multi-agent reinforcement learning," IEEE Internet Things J., </a:t>
            </a:r>
            <a:r>
              <a:rPr lang="en-GB" sz="1800" dirty="0" err="1">
                <a:solidFill>
                  <a:srgbClr val="424242"/>
                </a:solidFill>
              </a:rPr>
              <a:t>doi</a:t>
            </a:r>
            <a:r>
              <a:rPr lang="en-GB" sz="1800" dirty="0">
                <a:solidFill>
                  <a:srgbClr val="424242"/>
                </a:solidFill>
              </a:rPr>
              <a:t>: 10.1109/JIOT.2026.3686066, 2026.</a:t>
            </a:r>
          </a:p>
        </p:txBody>
      </p:sp>
    </p:spTree>
    <p:extLst>
      <p:ext uri="{BB962C8B-B14F-4D97-AF65-F5344CB8AC3E}">
        <p14:creationId xmlns:p14="http://schemas.microsoft.com/office/powerpoint/2010/main" val="312212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20">
          <a:fgClr>
            <a:schemeClr val="accent1"/>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26991-8F86-640F-C145-2A659C5986F5}"/>
              </a:ext>
            </a:extLst>
          </p:cNvPr>
          <p:cNvSpPr txBox="1"/>
          <p:nvPr/>
        </p:nvSpPr>
        <p:spPr>
          <a:xfrm>
            <a:off x="0" y="2413337"/>
            <a:ext cx="12192000" cy="2215991"/>
          </a:xfrm>
          <a:prstGeom prst="rect">
            <a:avLst/>
          </a:prstGeom>
          <a:noFill/>
        </p:spPr>
        <p:txBody>
          <a:bodyPr wrap="square" rtlCol="0">
            <a:spAutoFit/>
          </a:bodyPr>
          <a:lstStyle/>
          <a:p>
            <a:pPr algn="ctr"/>
            <a:r>
              <a:rPr lang="en-PK" sz="13800" dirty="0">
                <a:latin typeface="Dreaming Outloud Script Pro" panose="03050502040304050704" pitchFamily="66" charset="77"/>
                <a:cs typeface="Dreaming Outloud Script Pro" panose="03050502040304050704" pitchFamily="66" charset="77"/>
              </a:rPr>
              <a:t>Thank you!</a:t>
            </a:r>
          </a:p>
        </p:txBody>
      </p:sp>
    </p:spTree>
    <p:extLst>
      <p:ext uri="{BB962C8B-B14F-4D97-AF65-F5344CB8AC3E}">
        <p14:creationId xmlns:p14="http://schemas.microsoft.com/office/powerpoint/2010/main" val="1357600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891</TotalTime>
  <Words>784</Words>
  <Application>Microsoft Macintosh PowerPoint</Application>
  <PresentationFormat>Widescreen</PresentationFormat>
  <Paragraphs>107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Dreaming Outloud Script Pro</vt:lpstr>
      <vt:lpstr>Times New Roman</vt:lpstr>
      <vt:lpstr>Office Theme</vt:lpstr>
      <vt:lpstr>MAPPO Framework for Joint Dynamic Target Assignment and Conflict-Aware Collision Avoidance in Multi-UAV Systems </vt:lpstr>
      <vt:lpstr>Introduction: Why UAVs?</vt:lpstr>
      <vt:lpstr>Introduction: Multi-UAV Coordination</vt:lpstr>
      <vt:lpstr>Introduction: DRL &amp; MARL</vt:lpstr>
      <vt:lpstr>Motivation:</vt:lpstr>
      <vt:lpstr>Related Work:</vt:lpstr>
      <vt:lpstr>Gap in existing work:</vt:lpstr>
      <vt:lpstr>Problem Statement:</vt:lpstr>
      <vt:lpstr>Research Objective</vt:lpstr>
      <vt:lpstr>Proposed Methodology: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SP25-RCS-009(Ayesha Khalil)</dc:creator>
  <cp:lastModifiedBy>SP25-RCS-009(Ayesha Khalil)</cp:lastModifiedBy>
  <cp:revision>121</cp:revision>
  <dcterms:created xsi:type="dcterms:W3CDTF">2026-06-08T18:24:17Z</dcterms:created>
  <dcterms:modified xsi:type="dcterms:W3CDTF">2026-06-21T13:42:47Z</dcterms:modified>
</cp:coreProperties>
</file>