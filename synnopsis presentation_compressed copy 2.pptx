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0" r:id="rId5"/>
    <p:sldId id="261" r:id="rId6"/>
    <p:sldId id="263" r:id="rId7"/>
    <p:sldId id="264" r:id="rId8"/>
    <p:sldId id="265" r:id="rId9"/>
    <p:sldId id="266" r:id="rId10"/>
    <p:sldId id="268" r:id="rId11"/>
    <p:sldId id="269" r:id="rId12"/>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044"/>
    <p:restoredTop sz="94722"/>
  </p:normalViewPr>
  <p:slideViewPr>
    <p:cSldViewPr snapToGrid="0">
      <p:cViewPr>
        <p:scale>
          <a:sx n="101" d="100"/>
          <a:sy n="101" d="100"/>
        </p:scale>
        <p:origin x="608"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6CB12D-185D-5344-9B71-AEDA2526EDBC}" type="datetimeFigureOut">
              <a:rPr lang="en-PK" smtClean="0"/>
              <a:t>21/06/2026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6ED561-9D6B-9B49-9281-818B0567734D}" type="slidenum">
              <a:rPr lang="en-PK" smtClean="0"/>
              <a:t>‹#›</a:t>
            </a:fld>
            <a:endParaRPr lang="en-PK"/>
          </a:p>
        </p:txBody>
      </p:sp>
    </p:spTree>
    <p:extLst>
      <p:ext uri="{BB962C8B-B14F-4D97-AF65-F5344CB8AC3E}">
        <p14:creationId xmlns:p14="http://schemas.microsoft.com/office/powerpoint/2010/main" val="1595964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19342-CB32-1C41-53DE-FB109FAF025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PK"/>
          </a:p>
        </p:txBody>
      </p:sp>
      <p:sp>
        <p:nvSpPr>
          <p:cNvPr id="3" name="Subtitle 2">
            <a:extLst>
              <a:ext uri="{FF2B5EF4-FFF2-40B4-BE49-F238E27FC236}">
                <a16:creationId xmlns:a16="http://schemas.microsoft.com/office/drawing/2014/main" id="{4DB8B053-9343-827D-2DEA-FED0289BA7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PK"/>
          </a:p>
        </p:txBody>
      </p:sp>
      <p:sp>
        <p:nvSpPr>
          <p:cNvPr id="4" name="Date Placeholder 3">
            <a:extLst>
              <a:ext uri="{FF2B5EF4-FFF2-40B4-BE49-F238E27FC236}">
                <a16:creationId xmlns:a16="http://schemas.microsoft.com/office/drawing/2014/main" id="{190142F0-1846-83DD-F7FD-B2004147D187}"/>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B1481369-C8FE-95AF-641B-4AECF63B00C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E3BDF77-FE29-1FCD-E8A4-C1AF2117EE08}"/>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05349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0F1D1-D396-A99F-34A2-4BCAFC602DA6}"/>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382AED5B-D445-9B5D-7E72-099058D25E9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C1643C33-5F78-BB90-63FF-14F18A7CEB62}"/>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6EFCD9C4-8F88-548F-46DC-E7836363DD9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1E72886-D30E-6CC1-B3DF-3EC0C5C1A541}"/>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224204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445A1-B8A2-5055-7F03-9FCC52AA359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E9A345D9-6A43-7BBD-FA65-476492FAB5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0E2899B-B108-BD21-2CE0-7254D9A4828A}"/>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F6892B65-9FD6-DFEF-AF6D-4AB8F188D08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630DDD0-B231-16D7-61B7-436952EE01BE}"/>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1880781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6583B-1218-84F1-5732-E5E8FBFB1073}"/>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98CB27AF-11BF-335A-C3D5-E121CE90030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9F67422D-DBFF-1C1A-E0EC-9A87ED1340F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EA8BBF57-B156-E527-27F5-C391D84B7A6E}"/>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6" name="Footer Placeholder 5">
            <a:extLst>
              <a:ext uri="{FF2B5EF4-FFF2-40B4-BE49-F238E27FC236}">
                <a16:creationId xmlns:a16="http://schemas.microsoft.com/office/drawing/2014/main" id="{62497E72-F9B0-4530-C0AB-247E41517FC0}"/>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16459EB-3F51-D0CC-EEBD-E1E3951F6BC4}"/>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832147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E22C3-FE1A-514B-C20A-4A5CCAA9063A}"/>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9239F501-6DEB-FD9D-01A8-BA6BC484D1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7A5264F-AE8C-81FD-D3D3-D02BAE5557B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17F6EB07-0E5B-DF11-DE38-5B250E71A0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426B87D-FEB2-9D32-F95E-D51EDFA435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6BA9E8FA-4DA3-EC0B-06FE-23A929FC551C}"/>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8" name="Footer Placeholder 7">
            <a:extLst>
              <a:ext uri="{FF2B5EF4-FFF2-40B4-BE49-F238E27FC236}">
                <a16:creationId xmlns:a16="http://schemas.microsoft.com/office/drawing/2014/main" id="{CBC9C562-C8BC-C387-265A-24D86B53B5EF}"/>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33FC9178-70D0-8630-6D7F-A43E7AF0BDE9}"/>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408754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6799-9EC1-6A57-624F-F604FBB01B09}"/>
              </a:ext>
            </a:extLst>
          </p:cNvPr>
          <p:cNvSpPr>
            <a:spLocks noGrp="1"/>
          </p:cNvSpPr>
          <p:nvPr>
            <p:ph type="title"/>
          </p:nvPr>
        </p:nvSpPr>
        <p:spPr/>
        <p:txBody>
          <a:bodyPr/>
          <a:lstStyle/>
          <a:p>
            <a:r>
              <a:rPr lang="en-GB"/>
              <a:t>Click to edit Master title style</a:t>
            </a:r>
            <a:endParaRPr lang="en-PK"/>
          </a:p>
        </p:txBody>
      </p:sp>
      <p:sp>
        <p:nvSpPr>
          <p:cNvPr id="3" name="Date Placeholder 2">
            <a:extLst>
              <a:ext uri="{FF2B5EF4-FFF2-40B4-BE49-F238E27FC236}">
                <a16:creationId xmlns:a16="http://schemas.microsoft.com/office/drawing/2014/main" id="{AA178A77-72A0-B7E1-92C0-FFFEA2E36181}"/>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4" name="Footer Placeholder 3">
            <a:extLst>
              <a:ext uri="{FF2B5EF4-FFF2-40B4-BE49-F238E27FC236}">
                <a16:creationId xmlns:a16="http://schemas.microsoft.com/office/drawing/2014/main" id="{4FC65BBA-02AC-C010-4714-579948423857}"/>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C1F8D9AB-CBAC-ED02-3FD0-79998EF3599C}"/>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60139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57B96E-1C43-6044-2967-DD941C112A09}"/>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3" name="Footer Placeholder 2">
            <a:extLst>
              <a:ext uri="{FF2B5EF4-FFF2-40B4-BE49-F238E27FC236}">
                <a16:creationId xmlns:a16="http://schemas.microsoft.com/office/drawing/2014/main" id="{1F14F0A3-B804-DD0B-DB18-9E8AEB64C90B}"/>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2828B1B4-6BF4-A280-EADA-D4BF44BE061D}"/>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201978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64176-4ADA-100F-51CB-9D1345BE9F6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8C40565D-9ACF-A073-AF07-4F11298E41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93C8B628-3E19-A6AD-8D00-2B8DD64D17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06BAFE3-4583-85AD-18F2-05261663C323}"/>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6" name="Footer Placeholder 5">
            <a:extLst>
              <a:ext uri="{FF2B5EF4-FFF2-40B4-BE49-F238E27FC236}">
                <a16:creationId xmlns:a16="http://schemas.microsoft.com/office/drawing/2014/main" id="{ED50FCE0-23F1-4526-F61B-32F936C66682}"/>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78818B9A-8B61-6F2B-9F5B-D2D48401140E}"/>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706031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E360F-16B1-A056-B36E-D7361784E64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B8A0AE8E-B2F9-5654-6C70-6030BB4233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4F7FB390-DBDC-E97C-512E-BBA5C4535F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4EC8650-724B-99C9-A9F8-D0D3DD492E34}"/>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6" name="Footer Placeholder 5">
            <a:extLst>
              <a:ext uri="{FF2B5EF4-FFF2-40B4-BE49-F238E27FC236}">
                <a16:creationId xmlns:a16="http://schemas.microsoft.com/office/drawing/2014/main" id="{DDBC19F0-F192-893F-C985-ED850F5D83C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C7EE72A-9FBC-29ED-40E2-83B19D24C473}"/>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886129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5352E-5072-DEB5-13D2-D7034432A2C7}"/>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48160522-ECC9-96C4-E255-4BEB0F27D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2214297C-806F-3597-ABEA-1345CEFB5886}"/>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E954B8BD-458F-3AD8-7A19-7D04CA9A02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6DF1660-1E09-D7E0-0EAF-E48456A768A5}"/>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938468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C68548-0AE1-5D21-F12A-A14B7C3BDCE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FB828600-D791-1772-6F82-151217EBCE2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BB9B7C38-F5F5-CBDD-51C7-8BAE84CD93C7}"/>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EB116DDD-33F1-91C0-4F7F-F7C4FF7DB9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442F4DC-7AEE-99B8-88C5-6D8B5A249D85}"/>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295477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D3570F-BE1C-241F-20EB-2FC83365C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PK"/>
          </a:p>
        </p:txBody>
      </p:sp>
      <p:sp>
        <p:nvSpPr>
          <p:cNvPr id="3" name="Text Placeholder 2">
            <a:extLst>
              <a:ext uri="{FF2B5EF4-FFF2-40B4-BE49-F238E27FC236}">
                <a16:creationId xmlns:a16="http://schemas.microsoft.com/office/drawing/2014/main" id="{0CA22F1E-A722-197E-87F9-3DA540DED6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E275CC02-0F83-6B99-EC01-84B915AA3A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4323390B-8200-B1AA-45F6-1C38B27D22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3D192171-8034-485A-0DB2-0F7C37CCC2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774DBC-A55C-C145-83F3-9DE204FF4A46}" type="slidenum">
              <a:rPr lang="en-PK" smtClean="0"/>
              <a:t>‹#›</a:t>
            </a:fld>
            <a:endParaRPr lang="en-PK"/>
          </a:p>
        </p:txBody>
      </p:sp>
    </p:spTree>
    <p:extLst>
      <p:ext uri="{BB962C8B-B14F-4D97-AF65-F5344CB8AC3E}">
        <p14:creationId xmlns:p14="http://schemas.microsoft.com/office/powerpoint/2010/main" val="2533404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7842"/>
            <a:lum/>
          </a:blip>
          <a:srcRect/>
          <a:stretch>
            <a:fillRect l="-2000" r="-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FBB98-8CE3-A478-4339-9AA8AACD6600}"/>
              </a:ext>
            </a:extLst>
          </p:cNvPr>
          <p:cNvSpPr>
            <a:spLocks noGrp="1"/>
          </p:cNvSpPr>
          <p:nvPr>
            <p:ph type="ctrTitle"/>
          </p:nvPr>
        </p:nvSpPr>
        <p:spPr>
          <a:xfrm>
            <a:off x="853928" y="1257300"/>
            <a:ext cx="10484143" cy="2032000"/>
          </a:xfrm>
          <a:blipFill dpi="0" rotWithShape="1">
            <a:blip r:embed="rId3">
              <a:alphaModFix amt="0"/>
            </a:blip>
            <a:srcRect/>
            <a:tile tx="0" ty="0" sx="100000" sy="100000" flip="none" algn="tl"/>
          </a:blipFill>
        </p:spPr>
        <p:txBody>
          <a:bodyPr>
            <a:noAutofit/>
          </a:bodyPr>
          <a:lstStyle/>
          <a:p>
            <a:r>
              <a:rPr lang="en-US" sz="4400" dirty="0">
                <a:latin typeface="+mn-lt"/>
                <a:cs typeface="Times New Roman" panose="02020603050405020304" pitchFamily="18" charset="0"/>
              </a:rPr>
              <a:t>Multi-Agent Proximal Policy Optimization for Joint Dynamic Target Assignment and Collision Avoidance in UAV Systems</a:t>
            </a:r>
            <a:r>
              <a:rPr lang="en-PK" sz="2800" dirty="0">
                <a:latin typeface="+mn-lt"/>
                <a:cs typeface="Times New Roman" panose="02020603050405020304" pitchFamily="18" charset="0"/>
              </a:rPr>
              <a:t> </a:t>
            </a:r>
          </a:p>
        </p:txBody>
      </p:sp>
      <p:sp>
        <p:nvSpPr>
          <p:cNvPr id="3" name="Subtitle 2">
            <a:extLst>
              <a:ext uri="{FF2B5EF4-FFF2-40B4-BE49-F238E27FC236}">
                <a16:creationId xmlns:a16="http://schemas.microsoft.com/office/drawing/2014/main" id="{86F65ED9-1AD6-19E3-27B1-6EAF9EA8637C}"/>
              </a:ext>
            </a:extLst>
          </p:cNvPr>
          <p:cNvSpPr>
            <a:spLocks noGrp="1"/>
          </p:cNvSpPr>
          <p:nvPr>
            <p:ph type="subTitle" idx="1"/>
          </p:nvPr>
        </p:nvSpPr>
        <p:spPr>
          <a:xfrm>
            <a:off x="1523999" y="3733801"/>
            <a:ext cx="9144000" cy="1346200"/>
          </a:xfrm>
        </p:spPr>
        <p:txBody>
          <a:bodyPr>
            <a:normAutofit/>
          </a:bodyPr>
          <a:lstStyle/>
          <a:p>
            <a:r>
              <a:rPr lang="en-PK" dirty="0">
                <a:cs typeface="Times New Roman" panose="02020603050405020304" pitchFamily="18" charset="0"/>
              </a:rPr>
              <a:t>Ayesha Khalil, CIIT/SP25-RCS-009/ATD</a:t>
            </a:r>
            <a:endParaRPr lang="en-PK" b="0" dirty="0">
              <a:effectLst/>
              <a:cs typeface="Times New Roman" panose="02020603050405020304" pitchFamily="18" charset="0"/>
            </a:endParaRPr>
          </a:p>
          <a:p>
            <a:r>
              <a:rPr lang="en-PK" dirty="0">
                <a:cs typeface="Times New Roman" panose="02020603050405020304" pitchFamily="18" charset="0"/>
              </a:rPr>
              <a:t>Supervisor: Dr. Faisal Rehman</a:t>
            </a:r>
            <a:br>
              <a:rPr lang="en-PK" dirty="0">
                <a:cs typeface="Times New Roman" panose="02020603050405020304" pitchFamily="18" charset="0"/>
              </a:rPr>
            </a:br>
            <a:r>
              <a:rPr lang="en-PK" dirty="0">
                <a:cs typeface="Times New Roman" panose="02020603050405020304" pitchFamily="18" charset="0"/>
              </a:rPr>
              <a:t>Co-supervisor: Mr. Ehzaz Mustafa</a:t>
            </a:r>
            <a:endParaRPr lang="en-PK" b="0" dirty="0">
              <a:effectLst/>
              <a:cs typeface="Times New Roman" panose="02020603050405020304" pitchFamily="18" charset="0"/>
            </a:endParaRPr>
          </a:p>
          <a:p>
            <a:endParaRPr lang="en-PK" dirty="0">
              <a:cs typeface="Times New Roman" panose="02020603050405020304" pitchFamily="18" charset="0"/>
            </a:endParaRPr>
          </a:p>
        </p:txBody>
      </p:sp>
      <p:sp>
        <p:nvSpPr>
          <p:cNvPr id="4" name="Rectangle 3">
            <a:extLst>
              <a:ext uri="{FF2B5EF4-FFF2-40B4-BE49-F238E27FC236}">
                <a16:creationId xmlns:a16="http://schemas.microsoft.com/office/drawing/2014/main" id="{276A0B77-D942-DA93-917F-715B3D28CB33}"/>
              </a:ext>
            </a:extLst>
          </p:cNvPr>
          <p:cNvSpPr/>
          <p:nvPr/>
        </p:nvSpPr>
        <p:spPr>
          <a:xfrm>
            <a:off x="368300" y="368300"/>
            <a:ext cx="11468100" cy="6134100"/>
          </a:xfrm>
          <a:prstGeom prst="rect">
            <a:avLst/>
          </a:prstGeom>
          <a:noFill/>
          <a:ln w="76200">
            <a:solidFill>
              <a:schemeClr val="accent1">
                <a:alpha val="49717"/>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rgbClr val="92D050"/>
              </a:solidFill>
            </a:endParaRPr>
          </a:p>
        </p:txBody>
      </p:sp>
    </p:spTree>
    <p:extLst>
      <p:ext uri="{BB962C8B-B14F-4D97-AF65-F5344CB8AC3E}">
        <p14:creationId xmlns:p14="http://schemas.microsoft.com/office/powerpoint/2010/main" val="876441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6CC0D-F80E-A57D-6E1C-B5B86EC63451}"/>
              </a:ext>
            </a:extLst>
          </p:cNvPr>
          <p:cNvSpPr>
            <a:spLocks noGrp="1"/>
          </p:cNvSpPr>
          <p:nvPr>
            <p:ph type="title"/>
          </p:nvPr>
        </p:nvSpPr>
        <p:spPr>
          <a:xfrm>
            <a:off x="838200" y="365125"/>
            <a:ext cx="10515600" cy="1039929"/>
          </a:xfrm>
        </p:spPr>
        <p:txBody>
          <a:bodyPr>
            <a:noAutofit/>
          </a:bodyPr>
          <a:lstStyle/>
          <a:p>
            <a:r>
              <a:rPr lang="en-PK" dirty="0">
                <a:latin typeface="+mn-lt"/>
                <a:cs typeface="Times New Roman" panose="02020603050405020304" pitchFamily="18" charset="0"/>
              </a:rPr>
              <a:t>Introduction:</a:t>
            </a:r>
            <a:r>
              <a:rPr lang="en-PK" sz="2800" dirty="0">
                <a:latin typeface="+mn-lt"/>
                <a:cs typeface="Times New Roman" panose="02020603050405020304" pitchFamily="18" charset="0"/>
              </a:rPr>
              <a:t> </a:t>
            </a:r>
            <a:r>
              <a:rPr lang="en-PK" sz="4000" dirty="0"/>
              <a:t>Why UAVs?</a:t>
            </a:r>
            <a:endParaRPr lang="en-PK" sz="2800" dirty="0">
              <a:solidFill>
                <a:schemeClr val="tx2">
                  <a:lumMod val="75000"/>
                  <a:lumOff val="25000"/>
                </a:schemeClr>
              </a:solidFill>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0B5ACC6A-91B0-E69F-EF5C-D30231B950ED}"/>
              </a:ext>
            </a:extLst>
          </p:cNvPr>
          <p:cNvSpPr>
            <a:spLocks noGrp="1"/>
          </p:cNvSpPr>
          <p:nvPr>
            <p:ph idx="1"/>
          </p:nvPr>
        </p:nvSpPr>
        <p:spPr>
          <a:xfrm>
            <a:off x="838200" y="2164468"/>
            <a:ext cx="5462116" cy="3396540"/>
          </a:xfrm>
        </p:spPr>
        <p:txBody>
          <a:bodyPr>
            <a:normAutofit/>
          </a:bodyPr>
          <a:lstStyle/>
          <a:p>
            <a:pPr>
              <a:lnSpc>
                <a:spcPct val="100000"/>
              </a:lnSpc>
            </a:pPr>
            <a:r>
              <a:rPr lang="en-PK" sz="2200" dirty="0"/>
              <a:t>UAVs are frequently used in disaster response, agriculture and inspection.</a:t>
            </a:r>
          </a:p>
          <a:p>
            <a:pPr>
              <a:lnSpc>
                <a:spcPct val="100000"/>
              </a:lnSpc>
            </a:pPr>
            <a:r>
              <a:rPr lang="en-PK" sz="2200" dirty="0"/>
              <a:t>Single drone cannot cover complex and large-scale missions.</a:t>
            </a:r>
          </a:p>
          <a:p>
            <a:pPr>
              <a:lnSpc>
                <a:spcPct val="100000"/>
              </a:lnSpc>
            </a:pPr>
            <a:r>
              <a:rPr lang="en-PK" sz="2200" dirty="0"/>
              <a:t>Teams of drones are faster, redundant and more effective.</a:t>
            </a:r>
          </a:p>
          <a:p>
            <a:pPr>
              <a:lnSpc>
                <a:spcPct val="100000"/>
              </a:lnSpc>
            </a:pPr>
            <a:r>
              <a:rPr lang="en-PK" sz="2200" dirty="0"/>
              <a:t>Hardware is ready, coordination is the unsolved problem.</a:t>
            </a:r>
          </a:p>
        </p:txBody>
      </p:sp>
      <p:pic>
        <p:nvPicPr>
          <p:cNvPr id="5" name="Picture 4">
            <a:extLst>
              <a:ext uri="{FF2B5EF4-FFF2-40B4-BE49-F238E27FC236}">
                <a16:creationId xmlns:a16="http://schemas.microsoft.com/office/drawing/2014/main" id="{6CB3E76F-D6AA-9491-F863-499085562BFE}"/>
              </a:ext>
            </a:extLst>
          </p:cNvPr>
          <p:cNvPicPr>
            <a:picLocks noChangeAspect="1"/>
          </p:cNvPicPr>
          <p:nvPr/>
        </p:nvPicPr>
        <p:blipFill>
          <a:blip r:embed="rId2"/>
          <a:stretch>
            <a:fillRect/>
          </a:stretch>
        </p:blipFill>
        <p:spPr>
          <a:xfrm>
            <a:off x="6300316" y="2164468"/>
            <a:ext cx="5257800" cy="3128936"/>
          </a:xfrm>
          <a:prstGeom prst="rect">
            <a:avLst/>
          </a:prstGeom>
        </p:spPr>
      </p:pic>
      <p:sp>
        <p:nvSpPr>
          <p:cNvPr id="4" name="TextBox 3">
            <a:extLst>
              <a:ext uri="{FF2B5EF4-FFF2-40B4-BE49-F238E27FC236}">
                <a16:creationId xmlns:a16="http://schemas.microsoft.com/office/drawing/2014/main" id="{8FDFE5CA-289B-CA95-C787-4C7032F3B8DF}"/>
              </a:ext>
            </a:extLst>
          </p:cNvPr>
          <p:cNvSpPr txBox="1"/>
          <p:nvPr/>
        </p:nvSpPr>
        <p:spPr>
          <a:xfrm>
            <a:off x="838200" y="1277246"/>
            <a:ext cx="8854070" cy="523220"/>
          </a:xfrm>
          <a:prstGeom prst="rect">
            <a:avLst/>
          </a:prstGeom>
          <a:noFill/>
        </p:spPr>
        <p:txBody>
          <a:bodyPr wrap="square" rtlCol="0">
            <a:spAutoFit/>
          </a:bodyPr>
          <a:lstStyle/>
          <a:p>
            <a:r>
              <a:rPr lang="en-PK" sz="2800" b="1" dirty="0">
                <a:solidFill>
                  <a:schemeClr val="tx2">
                    <a:lumMod val="75000"/>
                    <a:lumOff val="25000"/>
                  </a:schemeClr>
                </a:solidFill>
              </a:rPr>
              <a:t>From military tools to critical civilian infrastructure</a:t>
            </a:r>
            <a:endParaRPr lang="en-PK" sz="2800" dirty="0"/>
          </a:p>
        </p:txBody>
      </p:sp>
      <p:sp>
        <p:nvSpPr>
          <p:cNvPr id="6" name="Rectangle 5">
            <a:extLst>
              <a:ext uri="{FF2B5EF4-FFF2-40B4-BE49-F238E27FC236}">
                <a16:creationId xmlns:a16="http://schemas.microsoft.com/office/drawing/2014/main" id="{2EC21303-71A1-94EB-E46B-22923A4C2770}"/>
              </a:ext>
            </a:extLst>
          </p:cNvPr>
          <p:cNvSpPr/>
          <p:nvPr/>
        </p:nvSpPr>
        <p:spPr>
          <a:xfrm>
            <a:off x="368300" y="368300"/>
            <a:ext cx="11468100" cy="6134100"/>
          </a:xfrm>
          <a:prstGeom prst="rect">
            <a:avLst/>
          </a:prstGeom>
          <a:noFill/>
          <a:ln w="76200">
            <a:solidFill>
              <a:schemeClr val="accent1">
                <a:alpha val="49717"/>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rgbClr val="92D050"/>
              </a:solidFill>
            </a:endParaRPr>
          </a:p>
        </p:txBody>
      </p:sp>
    </p:spTree>
    <p:extLst>
      <p:ext uri="{BB962C8B-B14F-4D97-AF65-F5344CB8AC3E}">
        <p14:creationId xmlns:p14="http://schemas.microsoft.com/office/powerpoint/2010/main" val="2909608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7A03C-B6A3-9936-1B48-D661B48A67E6}"/>
              </a:ext>
            </a:extLst>
          </p:cNvPr>
          <p:cNvSpPr>
            <a:spLocks noGrp="1"/>
          </p:cNvSpPr>
          <p:nvPr>
            <p:ph type="title"/>
          </p:nvPr>
        </p:nvSpPr>
        <p:spPr>
          <a:xfrm>
            <a:off x="838200" y="477836"/>
            <a:ext cx="10515600" cy="790575"/>
          </a:xfrm>
        </p:spPr>
        <p:txBody>
          <a:bodyPr/>
          <a:lstStyle/>
          <a:p>
            <a:r>
              <a:rPr lang="en-PK" dirty="0"/>
              <a:t>Introduction: Multi-UAV Coordination</a:t>
            </a:r>
          </a:p>
        </p:txBody>
      </p:sp>
      <p:sp>
        <p:nvSpPr>
          <p:cNvPr id="3" name="Content Placeholder 2">
            <a:extLst>
              <a:ext uri="{FF2B5EF4-FFF2-40B4-BE49-F238E27FC236}">
                <a16:creationId xmlns:a16="http://schemas.microsoft.com/office/drawing/2014/main" id="{83E57823-C230-C001-40EE-B52215BCF398}"/>
              </a:ext>
            </a:extLst>
          </p:cNvPr>
          <p:cNvSpPr>
            <a:spLocks noGrp="1"/>
          </p:cNvSpPr>
          <p:nvPr>
            <p:ph idx="1"/>
          </p:nvPr>
        </p:nvSpPr>
        <p:spPr>
          <a:xfrm>
            <a:off x="822539" y="2215686"/>
            <a:ext cx="5921160" cy="3779664"/>
          </a:xfrm>
        </p:spPr>
        <p:txBody>
          <a:bodyPr>
            <a:normAutofit lnSpcReduction="10000"/>
          </a:bodyPr>
          <a:lstStyle/>
          <a:p>
            <a:pPr>
              <a:lnSpc>
                <a:spcPct val="100000"/>
              </a:lnSpc>
            </a:pPr>
            <a:r>
              <a:rPr lang="en-GB" sz="2200" dirty="0"/>
              <a:t>Classical planners fail in dynamic environments.</a:t>
            </a:r>
          </a:p>
          <a:p>
            <a:pPr>
              <a:lnSpc>
                <a:spcPct val="100000"/>
              </a:lnSpc>
            </a:pPr>
            <a:r>
              <a:rPr lang="en-GB" sz="2200" dirty="0"/>
              <a:t>Drones must learn coordination through experience.</a:t>
            </a:r>
          </a:p>
          <a:p>
            <a:pPr>
              <a:lnSpc>
                <a:spcPct val="100000"/>
              </a:lnSpc>
            </a:pPr>
            <a:r>
              <a:rPr lang="en-GB" sz="2200" dirty="0"/>
              <a:t>DRL: agent receives reward and learns optimal policy.</a:t>
            </a:r>
          </a:p>
          <a:p>
            <a:pPr>
              <a:lnSpc>
                <a:spcPct val="100000"/>
              </a:lnSpc>
            </a:pPr>
            <a:r>
              <a:rPr lang="en-GB" sz="2200" dirty="0"/>
              <a:t>MARL: extends DRL to group of cooperating agents.</a:t>
            </a:r>
          </a:p>
          <a:p>
            <a:pPr>
              <a:lnSpc>
                <a:spcPct val="100000"/>
              </a:lnSpc>
            </a:pPr>
            <a:r>
              <a:rPr lang="en-GB" sz="2200" dirty="0"/>
              <a:t>CTDE: train with shared info, execute independently.</a:t>
            </a:r>
            <a:endParaRPr lang="en-PK" sz="2200" dirty="0"/>
          </a:p>
        </p:txBody>
      </p:sp>
      <p:pic>
        <p:nvPicPr>
          <p:cNvPr id="5" name="Picture 4">
            <a:extLst>
              <a:ext uri="{FF2B5EF4-FFF2-40B4-BE49-F238E27FC236}">
                <a16:creationId xmlns:a16="http://schemas.microsoft.com/office/drawing/2014/main" id="{4DE97005-90EB-7547-52BA-4683F2A9EE57}"/>
              </a:ext>
            </a:extLst>
          </p:cNvPr>
          <p:cNvPicPr>
            <a:picLocks noChangeAspect="1"/>
          </p:cNvPicPr>
          <p:nvPr/>
        </p:nvPicPr>
        <p:blipFill>
          <a:blip r:embed="rId2"/>
          <a:stretch>
            <a:fillRect/>
          </a:stretch>
        </p:blipFill>
        <p:spPr>
          <a:xfrm>
            <a:off x="6850168" y="1428007"/>
            <a:ext cx="4232061" cy="2308398"/>
          </a:xfrm>
          <a:prstGeom prst="rect">
            <a:avLst/>
          </a:prstGeom>
          <a:effectLst>
            <a:outerShdw sx="1000" sy="1000" algn="ctr" rotWithShape="0">
              <a:srgbClr val="000000"/>
            </a:outerShdw>
          </a:effectLst>
        </p:spPr>
      </p:pic>
      <p:sp>
        <p:nvSpPr>
          <p:cNvPr id="4" name="TextBox 3">
            <a:extLst>
              <a:ext uri="{FF2B5EF4-FFF2-40B4-BE49-F238E27FC236}">
                <a16:creationId xmlns:a16="http://schemas.microsoft.com/office/drawing/2014/main" id="{A98AA677-A621-32A9-6588-1E2CE9128476}"/>
              </a:ext>
            </a:extLst>
          </p:cNvPr>
          <p:cNvSpPr txBox="1"/>
          <p:nvPr/>
        </p:nvSpPr>
        <p:spPr>
          <a:xfrm>
            <a:off x="822539" y="1268411"/>
            <a:ext cx="10515600" cy="523220"/>
          </a:xfrm>
          <a:prstGeom prst="rect">
            <a:avLst/>
          </a:prstGeom>
          <a:noFill/>
        </p:spPr>
        <p:txBody>
          <a:bodyPr wrap="square" rtlCol="0">
            <a:spAutoFit/>
          </a:bodyPr>
          <a:lstStyle/>
          <a:p>
            <a:r>
              <a:rPr lang="en-GB" sz="2800" b="1" dirty="0">
                <a:solidFill>
                  <a:schemeClr val="tx2">
                    <a:lumMod val="75000"/>
                    <a:lumOff val="25000"/>
                  </a:schemeClr>
                </a:solidFill>
              </a:rPr>
              <a:t>Multi-UAV Coordination &amp; Learning</a:t>
            </a:r>
            <a:endParaRPr lang="en-PK" sz="2800" b="1" dirty="0">
              <a:solidFill>
                <a:schemeClr val="tx2">
                  <a:lumMod val="75000"/>
                  <a:lumOff val="25000"/>
                </a:schemeClr>
              </a:solidFill>
            </a:endParaRPr>
          </a:p>
        </p:txBody>
      </p:sp>
      <p:sp>
        <p:nvSpPr>
          <p:cNvPr id="6" name="Rectangle 5">
            <a:extLst>
              <a:ext uri="{FF2B5EF4-FFF2-40B4-BE49-F238E27FC236}">
                <a16:creationId xmlns:a16="http://schemas.microsoft.com/office/drawing/2014/main" id="{349FB74F-5DAE-ED16-F0E8-AEBFC63F20E7}"/>
              </a:ext>
            </a:extLst>
          </p:cNvPr>
          <p:cNvSpPr/>
          <p:nvPr/>
        </p:nvSpPr>
        <p:spPr>
          <a:xfrm>
            <a:off x="368300" y="368300"/>
            <a:ext cx="11468100" cy="6134100"/>
          </a:xfrm>
          <a:prstGeom prst="rect">
            <a:avLst/>
          </a:prstGeom>
          <a:noFill/>
          <a:ln w="76200">
            <a:solidFill>
              <a:schemeClr val="accent1">
                <a:alpha val="49717"/>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rgbClr val="92D050"/>
              </a:solidFill>
            </a:endParaRPr>
          </a:p>
        </p:txBody>
      </p:sp>
      <p:pic>
        <p:nvPicPr>
          <p:cNvPr id="7" name="Picture 6">
            <a:extLst>
              <a:ext uri="{FF2B5EF4-FFF2-40B4-BE49-F238E27FC236}">
                <a16:creationId xmlns:a16="http://schemas.microsoft.com/office/drawing/2014/main" id="{3C70C0FE-E38E-DFE0-E28E-A4C94BAB69DD}"/>
              </a:ext>
            </a:extLst>
          </p:cNvPr>
          <p:cNvPicPr>
            <a:picLocks noChangeAspect="1"/>
          </p:cNvPicPr>
          <p:nvPr/>
        </p:nvPicPr>
        <p:blipFill>
          <a:blip r:embed="rId3"/>
          <a:srcRect l="2119" r="1693" b="5914"/>
          <a:stretch>
            <a:fillRect/>
          </a:stretch>
        </p:blipFill>
        <p:spPr>
          <a:xfrm>
            <a:off x="6743699" y="3623795"/>
            <a:ext cx="4445001" cy="2371555"/>
          </a:xfrm>
          <a:prstGeom prst="rect">
            <a:avLst/>
          </a:prstGeom>
          <a:effectLst>
            <a:outerShdw sx="1000" sy="1000" algn="ctr" rotWithShape="0">
              <a:srgbClr val="000000"/>
            </a:outerShdw>
          </a:effectLst>
        </p:spPr>
      </p:pic>
    </p:spTree>
    <p:extLst>
      <p:ext uri="{BB962C8B-B14F-4D97-AF65-F5344CB8AC3E}">
        <p14:creationId xmlns:p14="http://schemas.microsoft.com/office/powerpoint/2010/main" val="3773359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35D18-D43C-B17C-31E3-67B988E82355}"/>
              </a:ext>
            </a:extLst>
          </p:cNvPr>
          <p:cNvSpPr>
            <a:spLocks noGrp="1"/>
          </p:cNvSpPr>
          <p:nvPr>
            <p:ph type="title"/>
          </p:nvPr>
        </p:nvSpPr>
        <p:spPr>
          <a:xfrm>
            <a:off x="838200" y="806963"/>
            <a:ext cx="10515600" cy="752475"/>
          </a:xfrm>
        </p:spPr>
        <p:txBody>
          <a:bodyPr/>
          <a:lstStyle/>
          <a:p>
            <a:r>
              <a:rPr lang="en-PK" dirty="0"/>
              <a:t>Motivation:</a:t>
            </a:r>
          </a:p>
        </p:txBody>
      </p:sp>
      <p:sp>
        <p:nvSpPr>
          <p:cNvPr id="5" name="TextBox 4">
            <a:extLst>
              <a:ext uri="{FF2B5EF4-FFF2-40B4-BE49-F238E27FC236}">
                <a16:creationId xmlns:a16="http://schemas.microsoft.com/office/drawing/2014/main" id="{88330DD8-0111-A7CF-63CE-36183F171A95}"/>
              </a:ext>
            </a:extLst>
          </p:cNvPr>
          <p:cNvSpPr txBox="1"/>
          <p:nvPr/>
        </p:nvSpPr>
        <p:spPr>
          <a:xfrm>
            <a:off x="977900" y="1499402"/>
            <a:ext cx="3549433" cy="461665"/>
          </a:xfrm>
          <a:prstGeom prst="rect">
            <a:avLst/>
          </a:prstGeom>
          <a:noFill/>
        </p:spPr>
        <p:txBody>
          <a:bodyPr wrap="none" rtlCol="0">
            <a:spAutoFit/>
          </a:bodyPr>
          <a:lstStyle/>
          <a:p>
            <a:r>
              <a:rPr lang="en-GB" sz="2400" b="1" dirty="0">
                <a:solidFill>
                  <a:schemeClr val="tx2">
                    <a:lumMod val="75000"/>
                    <a:lumOff val="25000"/>
                  </a:schemeClr>
                </a:solidFill>
              </a:rPr>
              <a:t>Why Joint Optimization?</a:t>
            </a:r>
            <a:endParaRPr lang="en-PK" sz="2400" b="1" dirty="0">
              <a:solidFill>
                <a:schemeClr val="tx2">
                  <a:lumMod val="75000"/>
                  <a:lumOff val="25000"/>
                </a:schemeClr>
              </a:solidFill>
            </a:endParaRPr>
          </a:p>
        </p:txBody>
      </p:sp>
      <p:sp>
        <p:nvSpPr>
          <p:cNvPr id="7" name="TextBox 6">
            <a:extLst>
              <a:ext uri="{FF2B5EF4-FFF2-40B4-BE49-F238E27FC236}">
                <a16:creationId xmlns:a16="http://schemas.microsoft.com/office/drawing/2014/main" id="{BC15AA5B-2F4B-4CA9-F7CA-C40DD8BD8AB7}"/>
              </a:ext>
            </a:extLst>
          </p:cNvPr>
          <p:cNvSpPr txBox="1"/>
          <p:nvPr/>
        </p:nvSpPr>
        <p:spPr>
          <a:xfrm>
            <a:off x="838200" y="2277268"/>
            <a:ext cx="4896729" cy="20748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2200" dirty="0"/>
              <a:t>One obstacle,  swarm-wide conflict.</a:t>
            </a:r>
          </a:p>
          <a:p>
            <a:pPr marL="285750" indent="-285750">
              <a:lnSpc>
                <a:spcPct val="150000"/>
              </a:lnSpc>
              <a:buFont typeface="Arial" panose="020B0604020202020204" pitchFamily="34" charset="0"/>
              <a:buChar char="•"/>
            </a:pPr>
            <a:r>
              <a:rPr lang="en-GB" sz="2200" dirty="0"/>
              <a:t>Assignment and avoidance are coupled.</a:t>
            </a:r>
          </a:p>
          <a:p>
            <a:pPr marL="285750" indent="-285750">
              <a:lnSpc>
                <a:spcPct val="150000"/>
              </a:lnSpc>
              <a:buFont typeface="Arial" panose="020B0604020202020204" pitchFamily="34" charset="0"/>
              <a:buChar char="•"/>
            </a:pPr>
            <a:r>
              <a:rPr lang="en-GB" sz="2200" dirty="0"/>
              <a:t>Separate solutions are not enough.</a:t>
            </a:r>
            <a:endParaRPr lang="en-PK" sz="2200" dirty="0"/>
          </a:p>
        </p:txBody>
      </p:sp>
      <p:sp>
        <p:nvSpPr>
          <p:cNvPr id="9" name="Rectangle 8">
            <a:extLst>
              <a:ext uri="{FF2B5EF4-FFF2-40B4-BE49-F238E27FC236}">
                <a16:creationId xmlns:a16="http://schemas.microsoft.com/office/drawing/2014/main" id="{E0370465-C060-D2C4-85A2-E8E72CE0B689}"/>
              </a:ext>
            </a:extLst>
          </p:cNvPr>
          <p:cNvSpPr/>
          <p:nvPr/>
        </p:nvSpPr>
        <p:spPr>
          <a:xfrm>
            <a:off x="368300" y="368300"/>
            <a:ext cx="11468100" cy="6134100"/>
          </a:xfrm>
          <a:prstGeom prst="rect">
            <a:avLst/>
          </a:prstGeom>
          <a:noFill/>
          <a:ln w="76200">
            <a:solidFill>
              <a:schemeClr val="accent1">
                <a:alpha val="49717"/>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rgbClr val="92D050"/>
              </a:solidFill>
            </a:endParaRPr>
          </a:p>
        </p:txBody>
      </p:sp>
      <p:pic>
        <p:nvPicPr>
          <p:cNvPr id="13" name="Content Placeholder 12">
            <a:extLst>
              <a:ext uri="{FF2B5EF4-FFF2-40B4-BE49-F238E27FC236}">
                <a16:creationId xmlns:a16="http://schemas.microsoft.com/office/drawing/2014/main" id="{2A11AF9F-FFFB-D6EB-2796-8C66891161CE}"/>
              </a:ext>
            </a:extLst>
          </p:cNvPr>
          <p:cNvPicPr>
            <a:picLocks noGrp="1" noChangeAspect="1"/>
          </p:cNvPicPr>
          <p:nvPr>
            <p:ph idx="1"/>
          </p:nvPr>
        </p:nvPicPr>
        <p:blipFill>
          <a:blip r:embed="rId2"/>
          <a:stretch>
            <a:fillRect/>
          </a:stretch>
        </p:blipFill>
        <p:spPr>
          <a:xfrm>
            <a:off x="5874628" y="895350"/>
            <a:ext cx="5339471" cy="5085210"/>
          </a:xfrm>
          <a:prstGeom prst="rect">
            <a:avLst/>
          </a:prstGeom>
          <a:effectLst>
            <a:outerShdw blurRad="50800" dist="50800" dir="5400000" algn="ctr" rotWithShape="0">
              <a:srgbClr val="000000">
                <a:alpha val="89859"/>
              </a:srgbClr>
            </a:outerShdw>
          </a:effectLst>
        </p:spPr>
      </p:pic>
    </p:spTree>
    <p:extLst>
      <p:ext uri="{BB962C8B-B14F-4D97-AF65-F5344CB8AC3E}">
        <p14:creationId xmlns:p14="http://schemas.microsoft.com/office/powerpoint/2010/main" val="3774325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895BB-A565-9090-9397-8FA16C7A64FE}"/>
              </a:ext>
            </a:extLst>
          </p:cNvPr>
          <p:cNvSpPr>
            <a:spLocks noGrp="1"/>
          </p:cNvSpPr>
          <p:nvPr>
            <p:ph type="title"/>
          </p:nvPr>
        </p:nvSpPr>
        <p:spPr>
          <a:xfrm>
            <a:off x="808140" y="522576"/>
            <a:ext cx="11015560" cy="647699"/>
          </a:xfrm>
        </p:spPr>
        <p:txBody>
          <a:bodyPr>
            <a:normAutofit/>
          </a:bodyPr>
          <a:lstStyle/>
          <a:p>
            <a:r>
              <a:rPr lang="en-PK" sz="3600" dirty="0"/>
              <a:t>Related Work:</a:t>
            </a:r>
          </a:p>
        </p:txBody>
      </p:sp>
      <p:sp>
        <p:nvSpPr>
          <p:cNvPr id="5" name="TextBox 4">
            <a:extLst>
              <a:ext uri="{FF2B5EF4-FFF2-40B4-BE49-F238E27FC236}">
                <a16:creationId xmlns:a16="http://schemas.microsoft.com/office/drawing/2014/main" id="{651BACD1-B299-E590-BF12-BE91F992A98F}"/>
              </a:ext>
            </a:extLst>
          </p:cNvPr>
          <p:cNvSpPr txBox="1"/>
          <p:nvPr/>
        </p:nvSpPr>
        <p:spPr>
          <a:xfrm>
            <a:off x="101600" y="1346200"/>
            <a:ext cx="184731" cy="369332"/>
          </a:xfrm>
          <a:prstGeom prst="rect">
            <a:avLst/>
          </a:prstGeom>
          <a:noFill/>
        </p:spPr>
        <p:txBody>
          <a:bodyPr wrap="none" rtlCol="0">
            <a:spAutoFit/>
          </a:bodyPr>
          <a:lstStyle/>
          <a:p>
            <a:endParaRPr lang="en-PK" dirty="0"/>
          </a:p>
        </p:txBody>
      </p:sp>
      <p:sp>
        <p:nvSpPr>
          <p:cNvPr id="7" name="Content Placeholder 6">
            <a:extLst>
              <a:ext uri="{FF2B5EF4-FFF2-40B4-BE49-F238E27FC236}">
                <a16:creationId xmlns:a16="http://schemas.microsoft.com/office/drawing/2014/main" id="{D5594371-FF12-BB76-578B-D86681B86B4C}"/>
              </a:ext>
            </a:extLst>
          </p:cNvPr>
          <p:cNvSpPr>
            <a:spLocks noGrp="1"/>
          </p:cNvSpPr>
          <p:nvPr>
            <p:ph idx="1"/>
          </p:nvPr>
        </p:nvSpPr>
        <p:spPr>
          <a:xfrm flipV="1">
            <a:off x="11317951" y="-35912"/>
            <a:ext cx="754443" cy="45719"/>
          </a:xfrm>
        </p:spPr>
        <p:txBody>
          <a:bodyPr>
            <a:normAutofit fontScale="25000" lnSpcReduction="20000"/>
          </a:bodyPr>
          <a:lstStyle/>
          <a:p>
            <a:pPr marL="0" indent="0">
              <a:buNone/>
            </a:pPr>
            <a:r>
              <a:rPr lang="en-PK" sz="1000" dirty="0"/>
              <a:t>.</a:t>
            </a:r>
          </a:p>
        </p:txBody>
      </p:sp>
      <p:graphicFrame>
        <p:nvGraphicFramePr>
          <p:cNvPr id="9" name="Table 8">
            <a:extLst>
              <a:ext uri="{FF2B5EF4-FFF2-40B4-BE49-F238E27FC236}">
                <a16:creationId xmlns:a16="http://schemas.microsoft.com/office/drawing/2014/main" id="{AF6B4213-9F94-FCAD-4EB6-681F03D6F48D}"/>
              </a:ext>
            </a:extLst>
          </p:cNvPr>
          <p:cNvGraphicFramePr>
            <a:graphicFrameLocks noGrp="1"/>
          </p:cNvGraphicFramePr>
          <p:nvPr>
            <p:extLst>
              <p:ext uri="{D42A27DB-BD31-4B8C-83A1-F6EECF244321}">
                <p14:modId xmlns:p14="http://schemas.microsoft.com/office/powerpoint/2010/main" val="3563237305"/>
              </p:ext>
            </p:extLst>
          </p:nvPr>
        </p:nvGraphicFramePr>
        <p:xfrm>
          <a:off x="808140" y="1424044"/>
          <a:ext cx="10694829" cy="4891134"/>
        </p:xfrm>
        <a:graphic>
          <a:graphicData uri="http://schemas.openxmlformats.org/drawingml/2006/table">
            <a:tbl>
              <a:tblPr firstRow="1" bandRow="1">
                <a:tableStyleId>{5940675A-B579-460E-94D1-54222C63F5DA}</a:tableStyleId>
              </a:tblPr>
              <a:tblGrid>
                <a:gridCol w="1038999">
                  <a:extLst>
                    <a:ext uri="{9D8B030D-6E8A-4147-A177-3AD203B41FA5}">
                      <a16:colId xmlns:a16="http://schemas.microsoft.com/office/drawing/2014/main" val="20000"/>
                    </a:ext>
                  </a:extLst>
                </a:gridCol>
                <a:gridCol w="1781830">
                  <a:extLst>
                    <a:ext uri="{9D8B030D-6E8A-4147-A177-3AD203B41FA5}">
                      <a16:colId xmlns:a16="http://schemas.microsoft.com/office/drawing/2014/main" val="20001"/>
                    </a:ext>
                  </a:extLst>
                </a:gridCol>
                <a:gridCol w="1295400">
                  <a:extLst>
                    <a:ext uri="{9D8B030D-6E8A-4147-A177-3AD203B41FA5}">
                      <a16:colId xmlns:a16="http://schemas.microsoft.com/office/drawing/2014/main" val="3807136356"/>
                    </a:ext>
                  </a:extLst>
                </a:gridCol>
                <a:gridCol w="1320800">
                  <a:extLst>
                    <a:ext uri="{9D8B030D-6E8A-4147-A177-3AD203B41FA5}">
                      <a16:colId xmlns:a16="http://schemas.microsoft.com/office/drawing/2014/main" val="20002"/>
                    </a:ext>
                  </a:extLst>
                </a:gridCol>
                <a:gridCol w="1397000">
                  <a:extLst>
                    <a:ext uri="{9D8B030D-6E8A-4147-A177-3AD203B41FA5}">
                      <a16:colId xmlns:a16="http://schemas.microsoft.com/office/drawing/2014/main" val="20003"/>
                    </a:ext>
                  </a:extLst>
                </a:gridCol>
                <a:gridCol w="1320800">
                  <a:extLst>
                    <a:ext uri="{9D8B030D-6E8A-4147-A177-3AD203B41FA5}">
                      <a16:colId xmlns:a16="http://schemas.microsoft.com/office/drawing/2014/main" val="20004"/>
                    </a:ext>
                  </a:extLst>
                </a:gridCol>
                <a:gridCol w="14732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tblGrid>
              <a:tr h="533848">
                <a:tc>
                  <a:txBody>
                    <a:bodyPr/>
                    <a:lstStyle/>
                    <a:p>
                      <a:pPr algn="ctr"/>
                      <a:r>
                        <a:rPr sz="1600" b="1" dirty="0">
                          <a:solidFill>
                            <a:schemeClr val="tx1"/>
                          </a:solidFill>
                        </a:rPr>
                        <a:t>Author</a:t>
                      </a:r>
                    </a:p>
                  </a:txBody>
                  <a:tcPr/>
                </a:tc>
                <a:tc>
                  <a:txBody>
                    <a:bodyPr/>
                    <a:lstStyle/>
                    <a:p>
                      <a:pPr algn="ctr"/>
                      <a:r>
                        <a:rPr sz="1600" b="1" dirty="0">
                          <a:solidFill>
                            <a:schemeClr val="tx1"/>
                          </a:solidFill>
                        </a:rPr>
                        <a:t>Method</a:t>
                      </a:r>
                    </a:p>
                  </a:txBody>
                  <a:tcPr/>
                </a:tc>
                <a:tc>
                  <a:txBody>
                    <a:bodyPr/>
                    <a:lstStyle/>
                    <a:p>
                      <a:pPr algn="ctr"/>
                      <a:r>
                        <a:rPr lang="en-US" sz="1600" b="1" dirty="0">
                          <a:solidFill>
                            <a:schemeClr val="tx1"/>
                          </a:solidFill>
                        </a:rPr>
                        <a:t>Single / Multi-UAV</a:t>
                      </a:r>
                      <a:endParaRPr sz="1600" b="1" dirty="0">
                        <a:solidFill>
                          <a:schemeClr val="tx1"/>
                        </a:solidFill>
                      </a:endParaRPr>
                    </a:p>
                  </a:txBody>
                  <a:tcPr/>
                </a:tc>
                <a:tc>
                  <a:txBody>
                    <a:bodyPr/>
                    <a:lstStyle/>
                    <a:p>
                      <a:pPr algn="ctr"/>
                      <a:r>
                        <a:rPr sz="1600" b="1" dirty="0">
                          <a:solidFill>
                            <a:schemeClr val="tx1"/>
                          </a:solidFill>
                        </a:rPr>
                        <a:t>Dynamic
Obstacles</a:t>
                      </a:r>
                    </a:p>
                  </a:txBody>
                  <a:tcPr/>
                </a:tc>
                <a:tc>
                  <a:txBody>
                    <a:bodyPr/>
                    <a:lstStyle/>
                    <a:p>
                      <a:pPr algn="ctr"/>
                      <a:r>
                        <a:rPr sz="1600" b="1" dirty="0">
                          <a:solidFill>
                            <a:schemeClr val="tx1"/>
                          </a:solidFill>
                        </a:rPr>
                        <a:t>Target
Assignment</a:t>
                      </a:r>
                    </a:p>
                  </a:txBody>
                  <a:tcPr/>
                </a:tc>
                <a:tc>
                  <a:txBody>
                    <a:bodyPr/>
                    <a:lstStyle/>
                    <a:p>
                      <a:pPr algn="ctr"/>
                      <a:r>
                        <a:rPr sz="1600" b="1" dirty="0">
                          <a:solidFill>
                            <a:schemeClr val="tx1"/>
                          </a:solidFill>
                        </a:rPr>
                        <a:t>Collision
Avoidance</a:t>
                      </a:r>
                    </a:p>
                  </a:txBody>
                  <a:tcPr/>
                </a:tc>
                <a:tc>
                  <a:txBody>
                    <a:bodyPr/>
                    <a:lstStyle/>
                    <a:p>
                      <a:pPr algn="ctr"/>
                      <a:r>
                        <a:rPr sz="1600" b="1" dirty="0">
                          <a:solidFill>
                            <a:schemeClr val="tx1"/>
                          </a:solidFill>
                        </a:rPr>
                        <a:t>Path
Optimization</a:t>
                      </a:r>
                    </a:p>
                  </a:txBody>
                  <a:tcPr/>
                </a:tc>
                <a:tc>
                  <a:txBody>
                    <a:bodyPr/>
                    <a:lstStyle/>
                    <a:p>
                      <a:pPr algn="ctr"/>
                      <a:r>
                        <a:rPr sz="1600" b="1" dirty="0">
                          <a:solidFill>
                            <a:schemeClr val="tx1"/>
                          </a:solidFill>
                        </a:rPr>
                        <a:t>Weights</a:t>
                      </a:r>
                    </a:p>
                  </a:txBody>
                  <a:tcPr/>
                </a:tc>
                <a:extLst>
                  <a:ext uri="{0D108BD9-81ED-4DB2-BD59-A6C34878D82A}">
                    <a16:rowId xmlns:a16="http://schemas.microsoft.com/office/drawing/2014/main" val="10000"/>
                  </a:ext>
                </a:extLst>
              </a:tr>
              <a:tr h="592334">
                <a:tc>
                  <a:txBody>
                    <a:bodyPr/>
                    <a:lstStyle/>
                    <a:p>
                      <a:pPr algn="ctr"/>
                      <a:r>
                        <a:rPr sz="1600" b="1" dirty="0">
                          <a:solidFill>
                            <a:schemeClr val="tx1"/>
                          </a:solidFill>
                        </a:rPr>
                        <a:t>Tang et al. [1]</a:t>
                      </a:r>
                    </a:p>
                  </a:txBody>
                  <a:tcPr/>
                </a:tc>
                <a:tc>
                  <a:txBody>
                    <a:bodyPr/>
                    <a:lstStyle/>
                    <a:p>
                      <a:pPr algn="ctr"/>
                      <a:r>
                        <a:rPr sz="1600" b="0" dirty="0">
                          <a:solidFill>
                            <a:schemeClr val="tx1"/>
                          </a:solidFill>
                        </a:rPr>
                        <a:t>Improved D3QN</a:t>
                      </a:r>
                      <a:r>
                        <a:rPr lang="en-US" sz="1600" b="0" dirty="0">
                          <a:solidFill>
                            <a:schemeClr val="tx1"/>
                          </a:solidFill>
                        </a:rPr>
                        <a:t> with PER</a:t>
                      </a:r>
                      <a:endParaRPr sz="1600" b="0" dirty="0">
                        <a:solidFill>
                          <a:schemeClr val="tx1"/>
                        </a:solidFill>
                      </a:endParaRPr>
                    </a:p>
                  </a:txBody>
                  <a:tcPr/>
                </a:tc>
                <a:tc>
                  <a:txBody>
                    <a:bodyPr/>
                    <a:lstStyle/>
                    <a:p>
                      <a:pPr algn="ctr"/>
                      <a:r>
                        <a:rPr lang="en-US" sz="1600" b="0" dirty="0">
                          <a:solidFill>
                            <a:schemeClr val="tx1"/>
                          </a:solidFill>
                        </a:rPr>
                        <a:t>Single</a:t>
                      </a:r>
                      <a:endParaRPr sz="1600" b="0" dirty="0">
                        <a:solidFill>
                          <a:schemeClr val="tx1"/>
                        </a:solidFill>
                      </a:endParaRPr>
                    </a:p>
                  </a:txBody>
                  <a:tcPr/>
                </a:tc>
                <a:tc>
                  <a:txBody>
                    <a:bodyPr/>
                    <a:lstStyle/>
                    <a:p>
                      <a:pPr algn="ctr" rtl="0">
                        <a:lnSpc>
                          <a:spcPct val="150000"/>
                        </a:lnSpc>
                      </a:pPr>
                      <a:r>
                        <a:rPr sz="2000" b="1" dirty="0">
                          <a:solidFill>
                            <a:schemeClr val="accent6">
                              <a:lumMod val="50000"/>
                            </a:schemeClr>
                          </a:solidFill>
                        </a:rPr>
                        <a:t>✓</a:t>
                      </a:r>
                    </a:p>
                  </a:txBody>
                  <a:tcPr>
                    <a:solidFill>
                      <a:schemeClr val="accent6">
                        <a:lumMod val="20000"/>
                        <a:lumOff val="80000"/>
                      </a:schemeClr>
                    </a:solidFill>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rtl="0">
                        <a:lnSpc>
                          <a:spcPct val="150000"/>
                        </a:lnSpc>
                      </a:pPr>
                      <a:r>
                        <a:rPr sz="2000" b="1" dirty="0">
                          <a:solidFill>
                            <a:schemeClr val="accent6">
                              <a:lumMod val="50000"/>
                            </a:schemeClr>
                          </a:solidFill>
                        </a:rPr>
                        <a:t>✓</a:t>
                      </a:r>
                    </a:p>
                  </a:txBody>
                  <a:tcPr>
                    <a:solidFill>
                      <a:schemeClr val="accent6">
                        <a:lumMod val="20000"/>
                        <a:lumOff val="80000"/>
                      </a:schemeClr>
                    </a:solidFill>
                  </a:tcPr>
                </a:tc>
                <a:tc>
                  <a:txBody>
                    <a:bodyPr/>
                    <a:lstStyle/>
                    <a:p>
                      <a:pPr algn="ctr"/>
                      <a:r>
                        <a:rPr sz="1600" b="0" dirty="0">
                          <a:solidFill>
                            <a:schemeClr val="tx1"/>
                          </a:solidFill>
                        </a:rPr>
                        <a:t>Fixed</a:t>
                      </a:r>
                    </a:p>
                  </a:txBody>
                  <a:tcPr/>
                </a:tc>
                <a:extLst>
                  <a:ext uri="{0D108BD9-81ED-4DB2-BD59-A6C34878D82A}">
                    <a16:rowId xmlns:a16="http://schemas.microsoft.com/office/drawing/2014/main" val="10001"/>
                  </a:ext>
                </a:extLst>
              </a:tr>
              <a:tr h="475592">
                <a:tc>
                  <a:txBody>
                    <a:bodyPr/>
                    <a:lstStyle/>
                    <a:p>
                      <a:pPr algn="ctr"/>
                      <a:r>
                        <a:rPr sz="1600" b="1" dirty="0">
                          <a:solidFill>
                            <a:schemeClr val="tx1"/>
                          </a:solidFill>
                        </a:rPr>
                        <a:t>Kong et al. [2]</a:t>
                      </a:r>
                    </a:p>
                  </a:txBody>
                  <a:tcPr/>
                </a:tc>
                <a:tc>
                  <a:txBody>
                    <a:bodyPr/>
                    <a:lstStyle/>
                    <a:p>
                      <a:pPr algn="ctr"/>
                      <a:r>
                        <a:rPr sz="1600" b="0" dirty="0">
                          <a:solidFill>
                            <a:schemeClr val="tx1"/>
                          </a:solidFill>
                        </a:rPr>
                        <a:t>TANet-TD3</a:t>
                      </a:r>
                    </a:p>
                  </a:txBody>
                  <a:tcPr/>
                </a:tc>
                <a:tc>
                  <a:txBody>
                    <a:bodyPr/>
                    <a:lstStyle/>
                    <a:p>
                      <a:pPr algn="ctr"/>
                      <a:r>
                        <a:rPr lang="en-US" sz="1600" b="0" dirty="0">
                          <a:solidFill>
                            <a:schemeClr val="tx1"/>
                          </a:solidFill>
                        </a:rPr>
                        <a:t>Multi-UAV</a:t>
                      </a:r>
                      <a:endParaRPr sz="1600" b="0" dirty="0">
                        <a:solidFill>
                          <a:schemeClr val="tx1"/>
                        </a:solidFill>
                      </a:endParaRPr>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PK" sz="2000" b="1" dirty="0">
                          <a:solidFill>
                            <a:schemeClr val="accent6">
                              <a:lumMod val="50000"/>
                            </a:schemeClr>
                          </a:solidFill>
                        </a:rPr>
                        <a:t>✓</a:t>
                      </a:r>
                    </a:p>
                  </a:txBody>
                  <a:tcPr>
                    <a:solidFill>
                      <a:schemeClr val="accent6">
                        <a:lumMod val="20000"/>
                        <a:lumOff val="80000"/>
                      </a:schemeClr>
                    </a:solidFill>
                  </a:tcPr>
                </a:tc>
                <a:tc>
                  <a:txBody>
                    <a:bodyPr/>
                    <a:lstStyle/>
                    <a:p>
                      <a:pPr algn="ctr" rtl="0">
                        <a:lnSpc>
                          <a:spcPct val="150000"/>
                        </a:lnSpc>
                      </a:pPr>
                      <a:r>
                        <a:rPr sz="2000" b="1" dirty="0">
                          <a:solidFill>
                            <a:schemeClr val="accent6">
                              <a:lumMod val="50000"/>
                            </a:schemeClr>
                          </a:solidFill>
                        </a:rPr>
                        <a:t>✓</a:t>
                      </a:r>
                    </a:p>
                  </a:txBody>
                  <a:tcPr>
                    <a:solidFill>
                      <a:schemeClr val="accent6">
                        <a:lumMod val="20000"/>
                        <a:lumOff val="80000"/>
                      </a:schemeClr>
                    </a:solidFill>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rtl="0">
                        <a:lnSpc>
                          <a:spcPct val="150000"/>
                        </a:lnSpc>
                      </a:pPr>
                      <a:r>
                        <a:rPr sz="2000" b="1" dirty="0">
                          <a:solidFill>
                            <a:schemeClr val="accent6">
                              <a:lumMod val="50000"/>
                            </a:schemeClr>
                          </a:solidFill>
                        </a:rPr>
                        <a:t>✓</a:t>
                      </a:r>
                    </a:p>
                  </a:txBody>
                  <a:tcPr>
                    <a:solidFill>
                      <a:schemeClr val="accent6">
                        <a:lumMod val="20000"/>
                        <a:lumOff val="80000"/>
                      </a:schemeClr>
                    </a:solidFill>
                  </a:tcPr>
                </a:tc>
                <a:tc>
                  <a:txBody>
                    <a:bodyPr/>
                    <a:lstStyle/>
                    <a:p>
                      <a:pPr algn="ctr"/>
                      <a:r>
                        <a:rPr sz="1600" b="0" dirty="0">
                          <a:solidFill>
                            <a:schemeClr val="tx1"/>
                          </a:solidFill>
                        </a:rPr>
                        <a:t>Fixed</a:t>
                      </a:r>
                    </a:p>
                  </a:txBody>
                  <a:tcPr/>
                </a:tc>
                <a:extLst>
                  <a:ext uri="{0D108BD9-81ED-4DB2-BD59-A6C34878D82A}">
                    <a16:rowId xmlns:a16="http://schemas.microsoft.com/office/drawing/2014/main" val="10002"/>
                  </a:ext>
                </a:extLst>
              </a:tr>
              <a:tr h="628112">
                <a:tc>
                  <a:txBody>
                    <a:bodyPr/>
                    <a:lstStyle/>
                    <a:p>
                      <a:pPr algn="ctr"/>
                      <a:r>
                        <a:rPr sz="1600" b="1" dirty="0" err="1">
                          <a:solidFill>
                            <a:schemeClr val="tx1"/>
                          </a:solidFill>
                        </a:rPr>
                        <a:t>Jarray</a:t>
                      </a:r>
                      <a:r>
                        <a:rPr sz="1600" b="1" dirty="0">
                          <a:solidFill>
                            <a:schemeClr val="tx1"/>
                          </a:solidFill>
                        </a:rPr>
                        <a:t> et al. [3]</a:t>
                      </a:r>
                    </a:p>
                  </a:txBody>
                  <a:tcPr/>
                </a:tc>
                <a:tc>
                  <a:txBody>
                    <a:bodyPr/>
                    <a:lstStyle/>
                    <a:p>
                      <a:pPr algn="ctr"/>
                      <a:r>
                        <a:rPr sz="1600" b="0" dirty="0">
                          <a:solidFill>
                            <a:schemeClr val="tx1"/>
                          </a:solidFill>
                        </a:rPr>
                        <a:t>Dynamic Reward DQN</a:t>
                      </a:r>
                    </a:p>
                  </a:txBody>
                  <a:tcPr/>
                </a:tc>
                <a:tc>
                  <a:txBody>
                    <a:bodyPr/>
                    <a:lstStyle/>
                    <a:p>
                      <a:pPr algn="ctr"/>
                      <a:r>
                        <a:rPr lang="en-US" sz="1600" b="0" dirty="0">
                          <a:solidFill>
                            <a:schemeClr val="tx1"/>
                          </a:solidFill>
                        </a:rPr>
                        <a:t>Single</a:t>
                      </a:r>
                      <a:endParaRPr sz="1600" b="0" dirty="0">
                        <a:solidFill>
                          <a:schemeClr val="tx1"/>
                        </a:solidFill>
                      </a:endParaRPr>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PK" sz="2000" b="1" dirty="0">
                          <a:solidFill>
                            <a:schemeClr val="accent6">
                              <a:lumMod val="50000"/>
                            </a:schemeClr>
                          </a:solidFill>
                        </a:rPr>
                        <a:t>✓</a:t>
                      </a:r>
                    </a:p>
                  </a:txBody>
                  <a:tcPr>
                    <a:solidFill>
                      <a:schemeClr val="accent6">
                        <a:lumMod val="20000"/>
                        <a:lumOff val="80000"/>
                      </a:schemeClr>
                    </a:solidFill>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rtl="0">
                        <a:lnSpc>
                          <a:spcPct val="150000"/>
                        </a:lnSpc>
                      </a:pPr>
                      <a:r>
                        <a:rPr sz="2000" b="1" dirty="0">
                          <a:solidFill>
                            <a:schemeClr val="accent6">
                              <a:lumMod val="50000"/>
                            </a:schemeClr>
                          </a:solidFill>
                        </a:rPr>
                        <a:t>✓</a:t>
                      </a:r>
                    </a:p>
                  </a:txBody>
                  <a:tcPr>
                    <a:solidFill>
                      <a:schemeClr val="accent6">
                        <a:lumMod val="20000"/>
                        <a:lumOff val="80000"/>
                      </a:schemeClr>
                    </a:solidFill>
                  </a:tcPr>
                </a:tc>
                <a:tc>
                  <a:txBody>
                    <a:bodyPr/>
                    <a:lstStyle/>
                    <a:p>
                      <a:pPr algn="ctr"/>
                      <a:r>
                        <a:rPr sz="1600" b="0" dirty="0">
                          <a:solidFill>
                            <a:schemeClr val="tx1"/>
                          </a:solidFill>
                        </a:rPr>
                        <a:t>Dynamic</a:t>
                      </a:r>
                    </a:p>
                  </a:txBody>
                  <a:tcPr/>
                </a:tc>
                <a:extLst>
                  <a:ext uri="{0D108BD9-81ED-4DB2-BD59-A6C34878D82A}">
                    <a16:rowId xmlns:a16="http://schemas.microsoft.com/office/drawing/2014/main" val="10003"/>
                  </a:ext>
                </a:extLst>
              </a:tr>
              <a:tr h="628112">
                <a:tc>
                  <a:txBody>
                    <a:bodyPr/>
                    <a:lstStyle/>
                    <a:p>
                      <a:pPr algn="ctr"/>
                      <a:r>
                        <a:rPr sz="1600" b="1" dirty="0">
                          <a:solidFill>
                            <a:schemeClr val="tx1"/>
                          </a:solidFill>
                        </a:rPr>
                        <a:t>Zhang et al. [4]</a:t>
                      </a:r>
                    </a:p>
                  </a:txBody>
                  <a:tcPr/>
                </a:tc>
                <a:tc>
                  <a:txBody>
                    <a:bodyPr/>
                    <a:lstStyle/>
                    <a:p>
                      <a:pPr algn="ctr"/>
                      <a:r>
                        <a:rPr sz="1600" b="0" dirty="0">
                          <a:solidFill>
                            <a:schemeClr val="tx1"/>
                          </a:solidFill>
                        </a:rPr>
                        <a:t>Mean-Field DDPG</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rPr>
                        <a:t>Multi-UAV</a:t>
                      </a:r>
                    </a:p>
                    <a:p>
                      <a:pPr algn="ctr"/>
                      <a:endParaRPr sz="1600" b="0" dirty="0">
                        <a:solidFill>
                          <a:schemeClr val="tx1"/>
                        </a:solidFill>
                      </a:endParaRPr>
                    </a:p>
                  </a:txBody>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rtl="0">
                        <a:lnSpc>
                          <a:spcPct val="150000"/>
                        </a:lnSpc>
                      </a:pPr>
                      <a:r>
                        <a:rPr sz="2000" b="1" dirty="0">
                          <a:solidFill>
                            <a:schemeClr val="accent6">
                              <a:lumMod val="50000"/>
                            </a:schemeClr>
                          </a:solidFill>
                        </a:rPr>
                        <a:t>✓</a:t>
                      </a:r>
                    </a:p>
                  </a:txBody>
                  <a:tcPr>
                    <a:solidFill>
                      <a:schemeClr val="accent6">
                        <a:lumMod val="20000"/>
                        <a:lumOff val="80000"/>
                      </a:schemeClr>
                    </a:solidFill>
                  </a:tcPr>
                </a:tc>
                <a:tc>
                  <a:txBody>
                    <a:bodyPr/>
                    <a:lstStyle/>
                    <a:p>
                      <a:pPr algn="ctr"/>
                      <a:r>
                        <a:rPr sz="1600" b="0" dirty="0">
                          <a:solidFill>
                            <a:schemeClr val="tx1"/>
                          </a:solidFill>
                        </a:rPr>
                        <a:t>Fixed</a:t>
                      </a:r>
                    </a:p>
                  </a:txBody>
                  <a:tcPr/>
                </a:tc>
                <a:extLst>
                  <a:ext uri="{0D108BD9-81ED-4DB2-BD59-A6C34878D82A}">
                    <a16:rowId xmlns:a16="http://schemas.microsoft.com/office/drawing/2014/main" val="10004"/>
                  </a:ext>
                </a:extLst>
              </a:tr>
              <a:tr h="628112">
                <a:tc>
                  <a:txBody>
                    <a:bodyPr/>
                    <a:lstStyle/>
                    <a:p>
                      <a:pPr algn="ctr"/>
                      <a:r>
                        <a:rPr sz="1600" b="1" dirty="0">
                          <a:solidFill>
                            <a:schemeClr val="tx1"/>
                          </a:solidFill>
                        </a:rPr>
                        <a:t>Poudel &amp; Moh [5]</a:t>
                      </a:r>
                    </a:p>
                  </a:txBody>
                  <a:tcPr/>
                </a:tc>
                <a:tc>
                  <a:txBody>
                    <a:bodyPr/>
                    <a:lstStyle/>
                    <a:p>
                      <a:pPr algn="ctr"/>
                      <a:r>
                        <a:rPr sz="1600" b="0" dirty="0">
                          <a:solidFill>
                            <a:schemeClr val="tx1"/>
                          </a:solidFill>
                        </a:rPr>
                        <a:t>MAML-MARL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rPr>
                        <a:t>Multi-UAV</a:t>
                      </a:r>
                    </a:p>
                    <a:p>
                      <a:pPr algn="ctr"/>
                      <a:endParaRPr sz="1600" b="0" dirty="0">
                        <a:solidFill>
                          <a:schemeClr val="tx1"/>
                        </a:solidFill>
                      </a:endParaRPr>
                    </a:p>
                  </a:txBody>
                  <a:tcPr/>
                </a:tc>
                <a:tc>
                  <a:txBody>
                    <a:bodyPr/>
                    <a:lstStyle/>
                    <a:p>
                      <a:pPr algn="ctr" rtl="0">
                        <a:lnSpc>
                          <a:spcPct val="150000"/>
                        </a:lnSpc>
                      </a:pPr>
                      <a:r>
                        <a:rPr lang="en-PK" sz="2000" b="1" u="none" dirty="0">
                          <a:solidFill>
                            <a:schemeClr val="accent6">
                              <a:lumMod val="50000"/>
                            </a:schemeClr>
                          </a:solidFill>
                        </a:rPr>
                        <a:t>✓</a:t>
                      </a:r>
                    </a:p>
                  </a:txBody>
                  <a:tcPr>
                    <a:solidFill>
                      <a:schemeClr val="accent6">
                        <a:lumMod val="20000"/>
                        <a:lumOff val="80000"/>
                      </a:schemeClr>
                    </a:solidFill>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a:r>
                        <a:rPr sz="1600" b="0" dirty="0">
                          <a:solidFill>
                            <a:schemeClr val="tx1"/>
                          </a:solidFill>
                        </a:rPr>
                        <a:t>Fixed</a:t>
                      </a:r>
                    </a:p>
                  </a:txBody>
                  <a:tcPr/>
                </a:tc>
                <a:extLst>
                  <a:ext uri="{0D108BD9-81ED-4DB2-BD59-A6C34878D82A}">
                    <a16:rowId xmlns:a16="http://schemas.microsoft.com/office/drawing/2014/main" val="10005"/>
                  </a:ext>
                </a:extLst>
              </a:tr>
              <a:tr h="628112">
                <a:tc>
                  <a:txBody>
                    <a:bodyPr/>
                    <a:lstStyle/>
                    <a:p>
                      <a:pPr algn="ctr"/>
                      <a:r>
                        <a:rPr sz="1600" b="1" dirty="0">
                          <a:solidFill>
                            <a:schemeClr val="tx1"/>
                          </a:solidFill>
                        </a:rPr>
                        <a:t>Rezaee et al. [</a:t>
                      </a:r>
                      <a:r>
                        <a:rPr lang="en-US" sz="1600" b="1" dirty="0">
                          <a:solidFill>
                            <a:schemeClr val="tx1"/>
                          </a:solidFill>
                        </a:rPr>
                        <a:t>6</a:t>
                      </a:r>
                      <a:r>
                        <a:rPr sz="1600" b="1" dirty="0">
                          <a:solidFill>
                            <a:schemeClr val="tx1"/>
                          </a:solidFill>
                        </a:rPr>
                        <a:t>]</a:t>
                      </a:r>
                    </a:p>
                  </a:txBody>
                  <a:tcPr/>
                </a:tc>
                <a:tc>
                  <a:txBody>
                    <a:bodyPr/>
                    <a:lstStyle/>
                    <a:p>
                      <a:pPr algn="ctr"/>
                      <a:r>
                        <a:rPr sz="1600" b="0" dirty="0">
                          <a:solidFill>
                            <a:schemeClr val="tx1"/>
                          </a:solidFill>
                        </a:rPr>
                        <a:t>IGAT-MARL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rPr>
                        <a:t>Multi-UAV</a:t>
                      </a:r>
                    </a:p>
                    <a:p>
                      <a:pPr algn="ctr"/>
                      <a:endParaRPr sz="1600" b="0" dirty="0">
                        <a:solidFill>
                          <a:schemeClr val="tx1"/>
                        </a:solidFill>
                      </a:endParaRPr>
                    </a:p>
                  </a:txBody>
                  <a:tcPr/>
                </a:tc>
                <a:tc>
                  <a:txBody>
                    <a:bodyPr/>
                    <a:lstStyle/>
                    <a:p>
                      <a:pPr algn="ctr" rtl="0">
                        <a:lnSpc>
                          <a:spcPct val="150000"/>
                        </a:lnSpc>
                      </a:pPr>
                      <a:r>
                        <a:rPr sz="2000" b="1" dirty="0">
                          <a:solidFill>
                            <a:schemeClr val="accent6">
                              <a:lumMod val="50000"/>
                            </a:schemeClr>
                          </a:solidFill>
                        </a:rPr>
                        <a:t>✓</a:t>
                      </a:r>
                    </a:p>
                  </a:txBody>
                  <a:tcPr>
                    <a:solidFill>
                      <a:schemeClr val="accent6">
                        <a:lumMod val="20000"/>
                        <a:lumOff val="80000"/>
                      </a:schemeClr>
                    </a:solidFill>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rtl="0">
                        <a:lnSpc>
                          <a:spcPct val="150000"/>
                        </a:lnSpc>
                      </a:pPr>
                      <a:r>
                        <a:rPr sz="2000" b="1" dirty="0">
                          <a:solidFill>
                            <a:schemeClr val="accent6">
                              <a:lumMod val="50000"/>
                            </a:schemeClr>
                          </a:solidFill>
                        </a:rPr>
                        <a:t>✓</a:t>
                      </a:r>
                    </a:p>
                  </a:txBody>
                  <a:tcPr>
                    <a:solidFill>
                      <a:schemeClr val="accent6">
                        <a:lumMod val="20000"/>
                        <a:lumOff val="80000"/>
                      </a:schemeClr>
                    </a:solidFill>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a:r>
                        <a:rPr sz="1600" b="0" dirty="0">
                          <a:solidFill>
                            <a:schemeClr val="tx1"/>
                          </a:solidFill>
                        </a:rPr>
                        <a:t>Fixed</a:t>
                      </a:r>
                    </a:p>
                  </a:txBody>
                  <a:tcPr/>
                </a:tc>
                <a:extLst>
                  <a:ext uri="{0D108BD9-81ED-4DB2-BD59-A6C34878D82A}">
                    <a16:rowId xmlns:a16="http://schemas.microsoft.com/office/drawing/2014/main" val="10006"/>
                  </a:ext>
                </a:extLst>
              </a:tr>
              <a:tr h="628112">
                <a:tc>
                  <a:txBody>
                    <a:bodyPr/>
                    <a:lstStyle/>
                    <a:p>
                      <a:pPr algn="ctr"/>
                      <a:r>
                        <a:rPr sz="1600" b="1" dirty="0">
                          <a:solidFill>
                            <a:schemeClr val="tx1"/>
                          </a:solidFill>
                        </a:rPr>
                        <a:t>Sheng et al. [</a:t>
                      </a:r>
                      <a:r>
                        <a:rPr lang="en-US" sz="1600" b="1" dirty="0">
                          <a:solidFill>
                            <a:schemeClr val="tx1"/>
                          </a:solidFill>
                        </a:rPr>
                        <a:t>7</a:t>
                      </a:r>
                      <a:r>
                        <a:rPr sz="1600" b="1" dirty="0">
                          <a:solidFill>
                            <a:schemeClr val="tx1"/>
                          </a:solidFill>
                        </a:rPr>
                        <a:t>]</a:t>
                      </a:r>
                    </a:p>
                  </a:txBody>
                  <a:tcPr/>
                </a:tc>
                <a:tc>
                  <a:txBody>
                    <a:bodyPr/>
                    <a:lstStyle/>
                    <a:p>
                      <a:pPr algn="ctr"/>
                      <a:r>
                        <a:rPr sz="1600" b="0" dirty="0">
                          <a:solidFill>
                            <a:schemeClr val="tx1"/>
                          </a:solidFill>
                        </a:rPr>
                        <a:t>DA-MAPPO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rPr>
                        <a:t>Multi-UAV</a:t>
                      </a:r>
                    </a:p>
                    <a:p>
                      <a:pPr algn="ctr"/>
                      <a:endParaRPr sz="1600" b="0" dirty="0">
                        <a:solidFill>
                          <a:schemeClr val="tx1"/>
                        </a:solidFill>
                      </a:endParaRPr>
                    </a:p>
                  </a:txBody>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rtl="0">
                        <a:lnSpc>
                          <a:spcPct val="150000"/>
                        </a:lnSpc>
                      </a:pPr>
                      <a:r>
                        <a:rPr sz="2000" b="1" dirty="0">
                          <a:solidFill>
                            <a:schemeClr val="accent6">
                              <a:lumMod val="50000"/>
                            </a:schemeClr>
                          </a:solidFill>
                        </a:rPr>
                        <a:t>✓</a:t>
                      </a:r>
                    </a:p>
                  </a:txBody>
                  <a:tcPr>
                    <a:solidFill>
                      <a:schemeClr val="accent6">
                        <a:lumMod val="20000"/>
                        <a:lumOff val="80000"/>
                      </a:schemeClr>
                    </a:solidFill>
                  </a:tcPr>
                </a:tc>
                <a:tc>
                  <a:txBody>
                    <a:bodyPr/>
                    <a:lstStyle/>
                    <a:p>
                      <a:pPr algn="ctr" rtl="0">
                        <a:lnSpc>
                          <a:spcPct val="150000"/>
                        </a:lnSpc>
                      </a:pPr>
                      <a:r>
                        <a:rPr sz="2000" b="1" dirty="0">
                          <a:solidFill>
                            <a:srgbClr val="C00000"/>
                          </a:solidFill>
                        </a:rPr>
                        <a:t>✗</a:t>
                      </a:r>
                    </a:p>
                  </a:txBody>
                  <a:tcPr>
                    <a:solidFill>
                      <a:schemeClr val="accent2">
                        <a:lumMod val="20000"/>
                        <a:lumOff val="80000"/>
                      </a:schemeClr>
                    </a:solidFill>
                  </a:tcPr>
                </a:tc>
                <a:tc>
                  <a:txBody>
                    <a:bodyPr/>
                    <a:lstStyle/>
                    <a:p>
                      <a:pPr algn="ctr" rtl="0">
                        <a:lnSpc>
                          <a:spcPct val="150000"/>
                        </a:lnSpc>
                      </a:pPr>
                      <a:r>
                        <a:rPr sz="2000" b="1" dirty="0">
                          <a:solidFill>
                            <a:schemeClr val="accent6">
                              <a:lumMod val="50000"/>
                            </a:schemeClr>
                          </a:solidFill>
                        </a:rPr>
                        <a:t>✓</a:t>
                      </a:r>
                    </a:p>
                  </a:txBody>
                  <a:tcPr>
                    <a:solidFill>
                      <a:schemeClr val="accent6">
                        <a:lumMod val="20000"/>
                        <a:lumOff val="80000"/>
                      </a:schemeClr>
                    </a:solidFill>
                  </a:tcPr>
                </a:tc>
                <a:tc>
                  <a:txBody>
                    <a:bodyPr/>
                    <a:lstStyle/>
                    <a:p>
                      <a:pPr algn="ctr"/>
                      <a:r>
                        <a:rPr sz="1600" b="0" dirty="0">
                          <a:solidFill>
                            <a:schemeClr val="tx1"/>
                          </a:solidFill>
                        </a:rPr>
                        <a:t>Fixed</a:t>
                      </a:r>
                    </a:p>
                  </a:txBody>
                  <a:tcPr/>
                </a:tc>
                <a:extLst>
                  <a:ext uri="{0D108BD9-81ED-4DB2-BD59-A6C34878D82A}">
                    <a16:rowId xmlns:a16="http://schemas.microsoft.com/office/drawing/2014/main" val="10007"/>
                  </a:ext>
                </a:extLst>
              </a:tr>
            </a:tbl>
          </a:graphicData>
        </a:graphic>
      </p:graphicFrame>
      <p:sp>
        <p:nvSpPr>
          <p:cNvPr id="10" name="Rectangle 9">
            <a:extLst>
              <a:ext uri="{FF2B5EF4-FFF2-40B4-BE49-F238E27FC236}">
                <a16:creationId xmlns:a16="http://schemas.microsoft.com/office/drawing/2014/main" id="{352E4379-060D-2CE4-6A96-3BE01AB7C474}"/>
              </a:ext>
            </a:extLst>
          </p:cNvPr>
          <p:cNvSpPr/>
          <p:nvPr/>
        </p:nvSpPr>
        <p:spPr>
          <a:xfrm>
            <a:off x="368300" y="368300"/>
            <a:ext cx="11468100" cy="6134100"/>
          </a:xfrm>
          <a:prstGeom prst="rect">
            <a:avLst/>
          </a:prstGeom>
          <a:noFill/>
          <a:ln w="76200">
            <a:solidFill>
              <a:schemeClr val="accent1">
                <a:alpha val="49717"/>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rgbClr val="92D050"/>
              </a:solidFill>
            </a:endParaRPr>
          </a:p>
        </p:txBody>
      </p:sp>
    </p:spTree>
    <p:extLst>
      <p:ext uri="{BB962C8B-B14F-4D97-AF65-F5344CB8AC3E}">
        <p14:creationId xmlns:p14="http://schemas.microsoft.com/office/powerpoint/2010/main" val="4086766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BAB51-FB50-F65F-D968-A82BB4BFE790}"/>
              </a:ext>
            </a:extLst>
          </p:cNvPr>
          <p:cNvSpPr>
            <a:spLocks noGrp="1"/>
          </p:cNvSpPr>
          <p:nvPr>
            <p:ph type="title"/>
          </p:nvPr>
        </p:nvSpPr>
        <p:spPr>
          <a:xfrm>
            <a:off x="593802" y="956261"/>
            <a:ext cx="10515600" cy="676275"/>
          </a:xfrm>
        </p:spPr>
        <p:txBody>
          <a:bodyPr>
            <a:normAutofit/>
          </a:bodyPr>
          <a:lstStyle/>
          <a:p>
            <a:r>
              <a:rPr lang="en-PK" sz="4000" dirty="0"/>
              <a:t>Gap in existing work:</a:t>
            </a:r>
          </a:p>
        </p:txBody>
      </p:sp>
      <p:sp>
        <p:nvSpPr>
          <p:cNvPr id="3" name="Content Placeholder 2">
            <a:extLst>
              <a:ext uri="{FF2B5EF4-FFF2-40B4-BE49-F238E27FC236}">
                <a16:creationId xmlns:a16="http://schemas.microsoft.com/office/drawing/2014/main" id="{9FC24440-9D97-2A46-9EC3-E7ACE72628BB}"/>
              </a:ext>
            </a:extLst>
          </p:cNvPr>
          <p:cNvSpPr>
            <a:spLocks noGrp="1"/>
          </p:cNvSpPr>
          <p:nvPr>
            <p:ph idx="1"/>
          </p:nvPr>
        </p:nvSpPr>
        <p:spPr>
          <a:xfrm>
            <a:off x="1064871" y="2087465"/>
            <a:ext cx="9902818" cy="3030635"/>
          </a:xfrm>
        </p:spPr>
        <p:txBody>
          <a:bodyPr>
            <a:noAutofit/>
          </a:bodyPr>
          <a:lstStyle/>
          <a:p>
            <a:pPr>
              <a:lnSpc>
                <a:spcPct val="150000"/>
              </a:lnSpc>
            </a:pPr>
            <a:r>
              <a:rPr lang="en-GB" sz="2200" dirty="0"/>
              <a:t>Target assignment and collision avoidance are structurally coupled.</a:t>
            </a:r>
          </a:p>
          <a:p>
            <a:pPr>
              <a:lnSpc>
                <a:spcPct val="150000"/>
              </a:lnSpc>
            </a:pPr>
            <a:r>
              <a:rPr lang="en-GB" sz="2200" dirty="0"/>
              <a:t>Any path change changes whether the target remains reachable.</a:t>
            </a:r>
          </a:p>
          <a:p>
            <a:pPr>
              <a:lnSpc>
                <a:spcPct val="150000"/>
              </a:lnSpc>
            </a:pPr>
            <a:r>
              <a:rPr lang="en-GB" sz="2200" dirty="0"/>
              <a:t>No single learned policy addresses both objectives together.</a:t>
            </a:r>
          </a:p>
          <a:p>
            <a:pPr>
              <a:lnSpc>
                <a:spcPct val="150000"/>
              </a:lnSpc>
            </a:pPr>
            <a:r>
              <a:rPr lang="en-GB" sz="2200" dirty="0"/>
              <a:t>No mechanism dynamically prioritizes between the two in real time.</a:t>
            </a:r>
            <a:endParaRPr lang="en-PK" sz="2200" dirty="0"/>
          </a:p>
        </p:txBody>
      </p:sp>
      <p:sp>
        <p:nvSpPr>
          <p:cNvPr id="4" name="Rectangle 3">
            <a:extLst>
              <a:ext uri="{FF2B5EF4-FFF2-40B4-BE49-F238E27FC236}">
                <a16:creationId xmlns:a16="http://schemas.microsoft.com/office/drawing/2014/main" id="{D9927E89-7EED-1444-CCC6-C161F752B088}"/>
              </a:ext>
            </a:extLst>
          </p:cNvPr>
          <p:cNvSpPr/>
          <p:nvPr/>
        </p:nvSpPr>
        <p:spPr>
          <a:xfrm>
            <a:off x="368300" y="368300"/>
            <a:ext cx="11468100" cy="6134100"/>
          </a:xfrm>
          <a:prstGeom prst="rect">
            <a:avLst/>
          </a:prstGeom>
          <a:noFill/>
          <a:ln w="76200">
            <a:solidFill>
              <a:schemeClr val="accent1">
                <a:alpha val="49717"/>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rgbClr val="92D050"/>
              </a:solidFill>
            </a:endParaRPr>
          </a:p>
        </p:txBody>
      </p:sp>
    </p:spTree>
    <p:extLst>
      <p:ext uri="{BB962C8B-B14F-4D97-AF65-F5344CB8AC3E}">
        <p14:creationId xmlns:p14="http://schemas.microsoft.com/office/powerpoint/2010/main" val="2265985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0949E-70C5-8F40-FA84-D6C01613ED42}"/>
              </a:ext>
            </a:extLst>
          </p:cNvPr>
          <p:cNvSpPr>
            <a:spLocks noGrp="1"/>
          </p:cNvSpPr>
          <p:nvPr>
            <p:ph type="title"/>
          </p:nvPr>
        </p:nvSpPr>
        <p:spPr>
          <a:xfrm>
            <a:off x="339437" y="1106794"/>
            <a:ext cx="11513126" cy="929286"/>
          </a:xfrm>
        </p:spPr>
        <p:txBody>
          <a:bodyPr>
            <a:normAutofit/>
          </a:bodyPr>
          <a:lstStyle/>
          <a:p>
            <a:pPr algn="ctr"/>
            <a:r>
              <a:rPr lang="en-PK" sz="4800" dirty="0"/>
              <a:t>Problem Statement:</a:t>
            </a:r>
          </a:p>
        </p:txBody>
      </p:sp>
      <p:sp>
        <p:nvSpPr>
          <p:cNvPr id="3" name="Content Placeholder 2">
            <a:extLst>
              <a:ext uri="{FF2B5EF4-FFF2-40B4-BE49-F238E27FC236}">
                <a16:creationId xmlns:a16="http://schemas.microsoft.com/office/drawing/2014/main" id="{977F8501-E557-FAC7-B745-2C4EFF88AE20}"/>
              </a:ext>
            </a:extLst>
          </p:cNvPr>
          <p:cNvSpPr>
            <a:spLocks noGrp="1"/>
          </p:cNvSpPr>
          <p:nvPr>
            <p:ph idx="1"/>
          </p:nvPr>
        </p:nvSpPr>
        <p:spPr>
          <a:xfrm>
            <a:off x="892134" y="2165824"/>
            <a:ext cx="10407732" cy="2656097"/>
          </a:xfrm>
        </p:spPr>
        <p:txBody>
          <a:bodyPr>
            <a:normAutofit lnSpcReduction="10000"/>
          </a:bodyPr>
          <a:lstStyle/>
          <a:p>
            <a:pPr marL="0" indent="0" algn="ctr">
              <a:lnSpc>
                <a:spcPct val="150000"/>
              </a:lnSpc>
              <a:buNone/>
            </a:pPr>
            <a:r>
              <a:rPr lang="en-PK" sz="2000" dirty="0"/>
              <a:t>In multi-UAV systems, efficient task servicing depends on both accurate target assignment and safe UAV navigation. When target assignment and collision avoidance are optimized independently, UAVs may be directed toward conflicting service locations, resulting in trajectory overlaps, increased maneuvering delays and inefficient resource utilization. Excessive collision avoidance actions can force UAVs to deviate from their assigned targets, causing prolonged service times, task deadline violations, and reduced performance</a:t>
            </a:r>
            <a:r>
              <a:rPr lang="en-US" sz="2000" dirty="0"/>
              <a:t>.</a:t>
            </a:r>
            <a:endParaRPr lang="en-PK" sz="2000" dirty="0"/>
          </a:p>
        </p:txBody>
      </p:sp>
      <p:sp>
        <p:nvSpPr>
          <p:cNvPr id="4" name="Rectangle 3">
            <a:extLst>
              <a:ext uri="{FF2B5EF4-FFF2-40B4-BE49-F238E27FC236}">
                <a16:creationId xmlns:a16="http://schemas.microsoft.com/office/drawing/2014/main" id="{368F35D8-8E25-3418-B17C-31FDE13FFA80}"/>
              </a:ext>
            </a:extLst>
          </p:cNvPr>
          <p:cNvSpPr/>
          <p:nvPr/>
        </p:nvSpPr>
        <p:spPr>
          <a:xfrm>
            <a:off x="368300" y="368300"/>
            <a:ext cx="11468100" cy="6134100"/>
          </a:xfrm>
          <a:prstGeom prst="rect">
            <a:avLst/>
          </a:prstGeom>
          <a:noFill/>
          <a:ln w="76200">
            <a:solidFill>
              <a:schemeClr val="accent1">
                <a:alpha val="49717"/>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rgbClr val="92D050"/>
              </a:solidFill>
            </a:endParaRPr>
          </a:p>
        </p:txBody>
      </p:sp>
    </p:spTree>
    <p:extLst>
      <p:ext uri="{BB962C8B-B14F-4D97-AF65-F5344CB8AC3E}">
        <p14:creationId xmlns:p14="http://schemas.microsoft.com/office/powerpoint/2010/main" val="2024015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87FFD-AAC2-A7BE-1B49-657B92D479FB}"/>
              </a:ext>
            </a:extLst>
          </p:cNvPr>
          <p:cNvSpPr>
            <a:spLocks noGrp="1"/>
          </p:cNvSpPr>
          <p:nvPr>
            <p:ph type="title"/>
          </p:nvPr>
        </p:nvSpPr>
        <p:spPr>
          <a:xfrm>
            <a:off x="838200" y="1037994"/>
            <a:ext cx="10515600" cy="573026"/>
          </a:xfrm>
        </p:spPr>
        <p:txBody>
          <a:bodyPr>
            <a:noAutofit/>
          </a:bodyPr>
          <a:lstStyle/>
          <a:p>
            <a:r>
              <a:rPr lang="en-PK" sz="4000" dirty="0"/>
              <a:t>Research Objective</a:t>
            </a:r>
          </a:p>
        </p:txBody>
      </p:sp>
      <p:sp>
        <p:nvSpPr>
          <p:cNvPr id="3" name="Content Placeholder 2">
            <a:extLst>
              <a:ext uri="{FF2B5EF4-FFF2-40B4-BE49-F238E27FC236}">
                <a16:creationId xmlns:a16="http://schemas.microsoft.com/office/drawing/2014/main" id="{007EBA45-1327-7AB0-2D7B-D25F695BC580}"/>
              </a:ext>
            </a:extLst>
          </p:cNvPr>
          <p:cNvSpPr>
            <a:spLocks noGrp="1"/>
          </p:cNvSpPr>
          <p:nvPr>
            <p:ph idx="1"/>
          </p:nvPr>
        </p:nvSpPr>
        <p:spPr>
          <a:xfrm>
            <a:off x="1420637" y="2019611"/>
            <a:ext cx="9764036" cy="2158689"/>
          </a:xfrm>
        </p:spPr>
        <p:txBody>
          <a:bodyPr>
            <a:normAutofit fontScale="92500"/>
          </a:bodyPr>
          <a:lstStyle/>
          <a:p>
            <a:pPr>
              <a:lnSpc>
                <a:spcPct val="150000"/>
              </a:lnSpc>
            </a:pPr>
            <a:r>
              <a:rPr lang="en-GB" sz="2200" dirty="0"/>
              <a:t>Design a learned mechanism to balance assignment and avoidance jointly.</a:t>
            </a:r>
          </a:p>
          <a:p>
            <a:pPr>
              <a:lnSpc>
                <a:spcPct val="150000"/>
              </a:lnSpc>
            </a:pPr>
            <a:r>
              <a:rPr lang="en-GB" sz="2200" dirty="0"/>
              <a:t>Evaluate framework performance across varying swarm sizes and obstacle densities.</a:t>
            </a:r>
          </a:p>
          <a:p>
            <a:pPr>
              <a:lnSpc>
                <a:spcPct val="150000"/>
              </a:lnSpc>
            </a:pPr>
            <a:r>
              <a:rPr lang="en-GB" sz="2200" dirty="0"/>
              <a:t>Compare learned </a:t>
            </a:r>
            <a:r>
              <a:rPr lang="el-GR" sz="2200" dirty="0"/>
              <a:t>α </a:t>
            </a:r>
            <a:r>
              <a:rPr lang="en-GB" sz="2200" dirty="0"/>
              <a:t>against fixed reward weights.</a:t>
            </a:r>
            <a:endParaRPr lang="en-PK" sz="2200" dirty="0"/>
          </a:p>
        </p:txBody>
      </p:sp>
      <p:sp>
        <p:nvSpPr>
          <p:cNvPr id="4" name="Rectangle 3">
            <a:extLst>
              <a:ext uri="{FF2B5EF4-FFF2-40B4-BE49-F238E27FC236}">
                <a16:creationId xmlns:a16="http://schemas.microsoft.com/office/drawing/2014/main" id="{004884D2-2566-BDD4-18F3-79C968364B02}"/>
              </a:ext>
            </a:extLst>
          </p:cNvPr>
          <p:cNvSpPr/>
          <p:nvPr/>
        </p:nvSpPr>
        <p:spPr>
          <a:xfrm>
            <a:off x="368300" y="368300"/>
            <a:ext cx="11468100" cy="6134100"/>
          </a:xfrm>
          <a:prstGeom prst="rect">
            <a:avLst/>
          </a:prstGeom>
          <a:noFill/>
          <a:ln w="76200">
            <a:solidFill>
              <a:schemeClr val="accent1">
                <a:alpha val="49717"/>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rgbClr val="92D050"/>
              </a:solidFill>
            </a:endParaRPr>
          </a:p>
        </p:txBody>
      </p:sp>
    </p:spTree>
    <p:extLst>
      <p:ext uri="{BB962C8B-B14F-4D97-AF65-F5344CB8AC3E}">
        <p14:creationId xmlns:p14="http://schemas.microsoft.com/office/powerpoint/2010/main" val="3863674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1AF4A-C5EE-8090-9029-F5AF6CD6B425}"/>
              </a:ext>
            </a:extLst>
          </p:cNvPr>
          <p:cNvSpPr>
            <a:spLocks noGrp="1"/>
          </p:cNvSpPr>
          <p:nvPr>
            <p:ph type="title"/>
          </p:nvPr>
        </p:nvSpPr>
        <p:spPr>
          <a:xfrm>
            <a:off x="562715" y="736790"/>
            <a:ext cx="6829721" cy="565293"/>
          </a:xfrm>
        </p:spPr>
        <p:txBody>
          <a:bodyPr>
            <a:normAutofit fontScale="90000"/>
          </a:bodyPr>
          <a:lstStyle/>
          <a:p>
            <a:r>
              <a:rPr lang="en-PK" sz="4000" dirty="0"/>
              <a:t>Proposed Methodology:</a:t>
            </a:r>
          </a:p>
        </p:txBody>
      </p:sp>
      <p:sp>
        <p:nvSpPr>
          <p:cNvPr id="4" name="Content Placeholder 3">
            <a:extLst>
              <a:ext uri="{FF2B5EF4-FFF2-40B4-BE49-F238E27FC236}">
                <a16:creationId xmlns:a16="http://schemas.microsoft.com/office/drawing/2014/main" id="{DECD119F-90EF-D2B2-A497-A3DD53A3AF8F}"/>
              </a:ext>
            </a:extLst>
          </p:cNvPr>
          <p:cNvSpPr>
            <a:spLocks noGrp="1"/>
          </p:cNvSpPr>
          <p:nvPr>
            <p:ph idx="1"/>
          </p:nvPr>
        </p:nvSpPr>
        <p:spPr>
          <a:xfrm rot="5400000">
            <a:off x="11696826" y="30830"/>
            <a:ext cx="523259" cy="467090"/>
          </a:xfrm>
        </p:spPr>
        <p:txBody>
          <a:bodyPr>
            <a:normAutofit lnSpcReduction="10000"/>
          </a:bodyPr>
          <a:lstStyle/>
          <a:p>
            <a:pPr marL="0" indent="0">
              <a:buNone/>
            </a:pPr>
            <a:r>
              <a:rPr lang="en-PK">
                <a:solidFill>
                  <a:schemeClr val="bg1"/>
                </a:solidFill>
              </a:rPr>
              <a:t>.</a:t>
            </a:r>
            <a:endParaRPr lang="en-PK" dirty="0">
              <a:solidFill>
                <a:schemeClr val="bg1"/>
              </a:solidFill>
            </a:endParaRPr>
          </a:p>
        </p:txBody>
      </p:sp>
      <p:sp>
        <p:nvSpPr>
          <p:cNvPr id="7" name="Rectangle 6">
            <a:extLst>
              <a:ext uri="{FF2B5EF4-FFF2-40B4-BE49-F238E27FC236}">
                <a16:creationId xmlns:a16="http://schemas.microsoft.com/office/drawing/2014/main" id="{AD1C3BA8-744D-76E0-E12E-FE5658CDE64A}"/>
              </a:ext>
            </a:extLst>
          </p:cNvPr>
          <p:cNvSpPr/>
          <p:nvPr/>
        </p:nvSpPr>
        <p:spPr>
          <a:xfrm>
            <a:off x="368300" y="368300"/>
            <a:ext cx="11468100" cy="6134100"/>
          </a:xfrm>
          <a:prstGeom prst="rect">
            <a:avLst/>
          </a:prstGeom>
          <a:noFill/>
          <a:ln w="76200">
            <a:solidFill>
              <a:schemeClr val="accent1">
                <a:alpha val="49717"/>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rgbClr val="92D050"/>
              </a:solidFill>
            </a:endParaRPr>
          </a:p>
        </p:txBody>
      </p:sp>
      <p:pic>
        <p:nvPicPr>
          <p:cNvPr id="13" name="Picture 12">
            <a:extLst>
              <a:ext uri="{FF2B5EF4-FFF2-40B4-BE49-F238E27FC236}">
                <a16:creationId xmlns:a16="http://schemas.microsoft.com/office/drawing/2014/main" id="{B06CECDD-579F-1950-D9CB-A44DA4FC87B5}"/>
              </a:ext>
            </a:extLst>
          </p:cNvPr>
          <p:cNvPicPr>
            <a:picLocks noChangeAspect="1"/>
          </p:cNvPicPr>
          <p:nvPr/>
        </p:nvPicPr>
        <p:blipFill>
          <a:blip r:embed="rId2"/>
          <a:stretch>
            <a:fillRect/>
          </a:stretch>
        </p:blipFill>
        <p:spPr>
          <a:xfrm>
            <a:off x="1034433" y="1769238"/>
            <a:ext cx="10135833" cy="3721100"/>
          </a:xfrm>
          <a:prstGeom prst="rect">
            <a:avLst/>
          </a:prstGeom>
        </p:spPr>
      </p:pic>
    </p:spTree>
    <p:extLst>
      <p:ext uri="{BB962C8B-B14F-4D97-AF65-F5344CB8AC3E}">
        <p14:creationId xmlns:p14="http://schemas.microsoft.com/office/powerpoint/2010/main" val="1892725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2B344-A464-2697-F1BA-57B78D5DC376}"/>
              </a:ext>
            </a:extLst>
          </p:cNvPr>
          <p:cNvSpPr>
            <a:spLocks noGrp="1"/>
          </p:cNvSpPr>
          <p:nvPr>
            <p:ph type="title"/>
          </p:nvPr>
        </p:nvSpPr>
        <p:spPr>
          <a:xfrm>
            <a:off x="1373456" y="590102"/>
            <a:ext cx="9445084" cy="632402"/>
          </a:xfrm>
        </p:spPr>
        <p:txBody>
          <a:bodyPr>
            <a:normAutofit fontScale="90000"/>
          </a:bodyPr>
          <a:lstStyle/>
          <a:p>
            <a:r>
              <a:rPr lang="en-PK" sz="4000" dirty="0"/>
              <a:t>References:</a:t>
            </a:r>
          </a:p>
        </p:txBody>
      </p:sp>
      <p:sp>
        <p:nvSpPr>
          <p:cNvPr id="3" name="Content Placeholder 2">
            <a:extLst>
              <a:ext uri="{FF2B5EF4-FFF2-40B4-BE49-F238E27FC236}">
                <a16:creationId xmlns:a16="http://schemas.microsoft.com/office/drawing/2014/main" id="{1EC21850-96D8-C13B-71D8-229419A2F009}"/>
              </a:ext>
            </a:extLst>
          </p:cNvPr>
          <p:cNvSpPr>
            <a:spLocks noGrp="1"/>
          </p:cNvSpPr>
          <p:nvPr>
            <p:ph idx="1"/>
          </p:nvPr>
        </p:nvSpPr>
        <p:spPr>
          <a:xfrm>
            <a:off x="1248135" y="1444305"/>
            <a:ext cx="9695727" cy="4401189"/>
          </a:xfrm>
        </p:spPr>
        <p:txBody>
          <a:bodyPr>
            <a:normAutofit fontScale="85000" lnSpcReduction="20000"/>
          </a:bodyPr>
          <a:lstStyle/>
          <a:p>
            <a:pPr algn="just">
              <a:lnSpc>
                <a:spcPct val="110000"/>
              </a:lnSpc>
              <a:spcBef>
                <a:spcPts val="800"/>
              </a:spcBef>
              <a:spcAft>
                <a:spcPts val="800"/>
              </a:spcAft>
            </a:pPr>
            <a:r>
              <a:rPr lang="en-PK" sz="1800" dirty="0"/>
              <a:t> </a:t>
            </a:r>
            <a:r>
              <a:rPr lang="en-GB" sz="1800" dirty="0">
                <a:solidFill>
                  <a:srgbClr val="424242"/>
                </a:solidFill>
              </a:rPr>
              <a:t>[1]  J. Tang, Y. Liang, and K. Li, "Dynamic scene path planning of UAVs based on deep reinforcement learning," Drones, vol. 8, no. 2, p. 60, 2024.</a:t>
            </a:r>
          </a:p>
          <a:p>
            <a:pPr algn="just">
              <a:lnSpc>
                <a:spcPct val="110000"/>
              </a:lnSpc>
              <a:spcBef>
                <a:spcPts val="800"/>
              </a:spcBef>
              <a:spcAft>
                <a:spcPts val="800"/>
              </a:spcAft>
            </a:pPr>
            <a:r>
              <a:rPr lang="en-GB" sz="1800" dirty="0">
                <a:solidFill>
                  <a:srgbClr val="424242"/>
                </a:solidFill>
              </a:rPr>
              <a:t>[2]  X. Kong, Y. Zhou, Z. Li, and S. Wang, "Multi-UAV simultaneous target assignment and path planning based on deep reinforcement learning in dynamic multiple obstacles environments," Front. </a:t>
            </a:r>
            <a:r>
              <a:rPr lang="en-GB" sz="1800" dirty="0" err="1">
                <a:solidFill>
                  <a:srgbClr val="424242"/>
                </a:solidFill>
              </a:rPr>
              <a:t>Neurorobot</a:t>
            </a:r>
            <a:r>
              <a:rPr lang="en-GB" sz="1800" dirty="0">
                <a:solidFill>
                  <a:srgbClr val="424242"/>
                </a:solidFill>
              </a:rPr>
              <a:t>., vol. 17, p. 1302898, 2024.</a:t>
            </a:r>
          </a:p>
          <a:p>
            <a:pPr algn="just">
              <a:lnSpc>
                <a:spcPct val="110000"/>
              </a:lnSpc>
              <a:spcBef>
                <a:spcPts val="800"/>
              </a:spcBef>
              <a:spcAft>
                <a:spcPts val="800"/>
              </a:spcAft>
            </a:pPr>
            <a:r>
              <a:rPr lang="en-GB" sz="1800" dirty="0">
                <a:solidFill>
                  <a:srgbClr val="424242"/>
                </a:solidFill>
              </a:rPr>
              <a:t>[3]  R. </a:t>
            </a:r>
            <a:r>
              <a:rPr lang="en-GB" sz="1800" dirty="0" err="1">
                <a:solidFill>
                  <a:srgbClr val="424242"/>
                </a:solidFill>
              </a:rPr>
              <a:t>Jarray</a:t>
            </a:r>
            <a:r>
              <a:rPr lang="en-GB" sz="1800" dirty="0">
                <a:solidFill>
                  <a:srgbClr val="424242"/>
                </a:solidFill>
              </a:rPr>
              <a:t>, I. </a:t>
            </a:r>
            <a:r>
              <a:rPr lang="en-GB" sz="1800" dirty="0" err="1">
                <a:solidFill>
                  <a:srgbClr val="424242"/>
                </a:solidFill>
              </a:rPr>
              <a:t>Zaghbani</a:t>
            </a:r>
            <a:r>
              <a:rPr lang="en-GB" sz="1800" dirty="0">
                <a:solidFill>
                  <a:srgbClr val="424242"/>
                </a:solidFill>
              </a:rPr>
              <a:t>, and S. </a:t>
            </a:r>
            <a:r>
              <a:rPr lang="en-GB" sz="1800" dirty="0" err="1">
                <a:solidFill>
                  <a:srgbClr val="424242"/>
                </a:solidFill>
              </a:rPr>
              <a:t>Bouallègue</a:t>
            </a:r>
            <a:r>
              <a:rPr lang="en-GB" sz="1800" dirty="0">
                <a:solidFill>
                  <a:srgbClr val="424242"/>
                </a:solidFill>
              </a:rPr>
              <a:t>, "Dynamic reward-based deep reinforcement learning algorithm for UAV path planning in large-scale environments," Procedia </a:t>
            </a:r>
            <a:r>
              <a:rPr lang="en-GB" sz="1800" dirty="0" err="1">
                <a:solidFill>
                  <a:srgbClr val="424242"/>
                </a:solidFill>
              </a:rPr>
              <a:t>Comput</a:t>
            </a:r>
            <a:r>
              <a:rPr lang="en-GB" sz="1800" dirty="0">
                <a:solidFill>
                  <a:srgbClr val="424242"/>
                </a:solidFill>
              </a:rPr>
              <a:t>. Sci., vol. 270, pp. 692-702, 2025.</a:t>
            </a:r>
          </a:p>
          <a:p>
            <a:pPr algn="just">
              <a:lnSpc>
                <a:spcPct val="110000"/>
              </a:lnSpc>
              <a:spcBef>
                <a:spcPts val="800"/>
              </a:spcBef>
              <a:spcAft>
                <a:spcPts val="800"/>
              </a:spcAft>
            </a:pPr>
            <a:r>
              <a:rPr lang="en-GB" sz="1800" dirty="0">
                <a:solidFill>
                  <a:srgbClr val="424242"/>
                </a:solidFill>
              </a:rPr>
              <a:t>[4]  Y. Zhang et al., "Large-scale UAV swarm path planning based on mean-field reinforcement learning," Chin. J. Aeronaut., vol. 38, no. 9, p. 103484, 2025.</a:t>
            </a:r>
          </a:p>
          <a:p>
            <a:pPr algn="just">
              <a:lnSpc>
                <a:spcPct val="110000"/>
              </a:lnSpc>
              <a:spcBef>
                <a:spcPts val="800"/>
              </a:spcBef>
              <a:spcAft>
                <a:spcPts val="800"/>
              </a:spcAft>
            </a:pPr>
            <a:r>
              <a:rPr lang="en-GB" sz="1800" dirty="0">
                <a:solidFill>
                  <a:srgbClr val="424242"/>
                </a:solidFill>
              </a:rPr>
              <a:t>[5]  S. Poudel and S. Moh, "MAML-integrated multi-agent reinforcement learning for adaptive coalition-based UAV coordination in disaster scenarios," Internet of Things, vol. 37, p. 101930, 2026.</a:t>
            </a:r>
          </a:p>
          <a:p>
            <a:pPr algn="just">
              <a:lnSpc>
                <a:spcPct val="110000"/>
              </a:lnSpc>
              <a:spcBef>
                <a:spcPts val="800"/>
              </a:spcBef>
              <a:spcAft>
                <a:spcPts val="800"/>
              </a:spcAft>
            </a:pPr>
            <a:r>
              <a:rPr lang="en-GB" sz="1800" dirty="0">
                <a:solidFill>
                  <a:srgbClr val="424242"/>
                </a:solidFill>
              </a:rPr>
              <a:t>[6]  M. R. Rezaee et al., "Efficient multi-agent deep reinforcement learning algorithm for multi-UAV collision avoidance," Appl. Soft </a:t>
            </a:r>
            <a:r>
              <a:rPr lang="en-GB" sz="1800" dirty="0" err="1">
                <a:solidFill>
                  <a:srgbClr val="424242"/>
                </a:solidFill>
              </a:rPr>
              <a:t>Comput</a:t>
            </a:r>
            <a:r>
              <a:rPr lang="en-GB" sz="1800" dirty="0">
                <a:solidFill>
                  <a:srgbClr val="424242"/>
                </a:solidFill>
              </a:rPr>
              <a:t>., vol. 197, p. 115145, 2026.</a:t>
            </a:r>
          </a:p>
          <a:p>
            <a:pPr algn="just">
              <a:lnSpc>
                <a:spcPct val="110000"/>
              </a:lnSpc>
              <a:spcBef>
                <a:spcPts val="800"/>
              </a:spcBef>
              <a:spcAft>
                <a:spcPts val="800"/>
              </a:spcAft>
            </a:pPr>
            <a:r>
              <a:rPr lang="en-GB" sz="1800" dirty="0">
                <a:solidFill>
                  <a:srgbClr val="424242"/>
                </a:solidFill>
              </a:rPr>
              <a:t>[7] Y. Sheng, X. Xie, H. Liu, and J. Li, "Dynamic target assignment and cooperative decision-making for UAV swarms based on multi-agent reinforcement learning," IEEE Internet Things J., </a:t>
            </a:r>
            <a:r>
              <a:rPr lang="en-GB" sz="1800" dirty="0" err="1">
                <a:solidFill>
                  <a:srgbClr val="424242"/>
                </a:solidFill>
              </a:rPr>
              <a:t>doi</a:t>
            </a:r>
            <a:r>
              <a:rPr lang="en-GB" sz="1800" dirty="0">
                <a:solidFill>
                  <a:srgbClr val="424242"/>
                </a:solidFill>
              </a:rPr>
              <a:t>: 10.1109/JIOT.2026.3686066, 2026.</a:t>
            </a:r>
          </a:p>
        </p:txBody>
      </p:sp>
      <p:sp>
        <p:nvSpPr>
          <p:cNvPr id="4" name="Rectangle 3">
            <a:extLst>
              <a:ext uri="{FF2B5EF4-FFF2-40B4-BE49-F238E27FC236}">
                <a16:creationId xmlns:a16="http://schemas.microsoft.com/office/drawing/2014/main" id="{6BEE68AF-28F1-532E-3D2B-8A5459FAF612}"/>
              </a:ext>
            </a:extLst>
          </p:cNvPr>
          <p:cNvSpPr/>
          <p:nvPr/>
        </p:nvSpPr>
        <p:spPr>
          <a:xfrm>
            <a:off x="368300" y="368300"/>
            <a:ext cx="11468100" cy="6134100"/>
          </a:xfrm>
          <a:prstGeom prst="rect">
            <a:avLst/>
          </a:prstGeom>
          <a:noFill/>
          <a:ln w="76200">
            <a:solidFill>
              <a:schemeClr val="accent1">
                <a:alpha val="49717"/>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rgbClr val="92D050"/>
              </a:solidFill>
            </a:endParaRPr>
          </a:p>
        </p:txBody>
      </p:sp>
    </p:spTree>
    <p:extLst>
      <p:ext uri="{BB962C8B-B14F-4D97-AF65-F5344CB8AC3E}">
        <p14:creationId xmlns:p14="http://schemas.microsoft.com/office/powerpoint/2010/main" val="312212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pct20">
          <a:fgClr>
            <a:schemeClr val="accent1"/>
          </a:fgClr>
          <a:bgClr>
            <a:schemeClr val="bg1"/>
          </a:bgClr>
        </a:patt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26991-8F86-640F-C145-2A659C5986F5}"/>
              </a:ext>
            </a:extLst>
          </p:cNvPr>
          <p:cNvSpPr txBox="1"/>
          <p:nvPr/>
        </p:nvSpPr>
        <p:spPr>
          <a:xfrm>
            <a:off x="0" y="2413337"/>
            <a:ext cx="12192000" cy="2215991"/>
          </a:xfrm>
          <a:prstGeom prst="rect">
            <a:avLst/>
          </a:prstGeom>
          <a:noFill/>
        </p:spPr>
        <p:txBody>
          <a:bodyPr wrap="square" rtlCol="0">
            <a:spAutoFit/>
          </a:bodyPr>
          <a:lstStyle/>
          <a:p>
            <a:pPr algn="ctr"/>
            <a:r>
              <a:rPr lang="en-PK" sz="13800" dirty="0">
                <a:latin typeface="Dreaming Outloud Script Pro" panose="03050502040304050704" pitchFamily="66" charset="77"/>
                <a:cs typeface="Dreaming Outloud Script Pro" panose="03050502040304050704" pitchFamily="66" charset="77"/>
              </a:rPr>
              <a:t>Thank you!</a:t>
            </a:r>
          </a:p>
        </p:txBody>
      </p:sp>
    </p:spTree>
    <p:extLst>
      <p:ext uri="{BB962C8B-B14F-4D97-AF65-F5344CB8AC3E}">
        <p14:creationId xmlns:p14="http://schemas.microsoft.com/office/powerpoint/2010/main" val="1357600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3482</TotalTime>
  <Words>770</Words>
  <Application>Microsoft Macintosh PowerPoint</Application>
  <PresentationFormat>Widescreen</PresentationFormat>
  <Paragraphs>109</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Dreaming Outloud Script Pro</vt:lpstr>
      <vt:lpstr>Times New Roman</vt:lpstr>
      <vt:lpstr>Office Theme</vt:lpstr>
      <vt:lpstr>Multi-Agent Proximal Policy Optimization for Joint Dynamic Target Assignment and Collision Avoidance in UAV Systems </vt:lpstr>
      <vt:lpstr>Introduction: Why UAVs?</vt:lpstr>
      <vt:lpstr>Introduction: Multi-UAV Coordination</vt:lpstr>
      <vt:lpstr>Motivation:</vt:lpstr>
      <vt:lpstr>Related Work:</vt:lpstr>
      <vt:lpstr>Gap in existing work:</vt:lpstr>
      <vt:lpstr>Problem Statement:</vt:lpstr>
      <vt:lpstr>Research Objective</vt:lpstr>
      <vt:lpstr>Proposed Methodology:</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SP25-RCS-009(Ayesha Khalil)</dc:creator>
  <cp:lastModifiedBy>SP25-RCS-009(Ayesha Khalil)</cp:lastModifiedBy>
  <cp:revision>165</cp:revision>
  <dcterms:created xsi:type="dcterms:W3CDTF">2026-06-08T18:24:17Z</dcterms:created>
  <dcterms:modified xsi:type="dcterms:W3CDTF">2026-06-23T08:53:51Z</dcterms:modified>
</cp:coreProperties>
</file>