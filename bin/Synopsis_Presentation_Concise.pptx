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94760"/>
            <a:ext cx="12188952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FE9F7"/>
                </a:solidFill>
              </a:rPr>
              <a:t>COMSATS University Islamabad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591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Dynamic Target Assignment
&amp; Collision Avoidance
for Multi-UAV Coordination in 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0A500"/>
                </a:solidFill>
              </a:rPr>
              <a:t>using Multi-Agent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Ayesha Khalil  |  SP25-RCS-009</a:t>
            </a:r>
          </a:p>
          <a:p>
            <a:pPr algn="ctr"/>
            <a:r>
              <a:rPr sz="1400" b="0">
                <a:solidFill>
                  <a:srgbClr val="DFE9F7"/>
                </a:solidFill>
              </a:rPr>
              <a:t>MS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234440"/>
            <a:ext cx="2145182" cy="1152143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234440"/>
            <a:ext cx="530352" cy="1152143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234440"/>
            <a:ext cx="530352" cy="115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581912"/>
            <a:ext cx="148681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Introduction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30398" y="1234440"/>
            <a:ext cx="2145182" cy="1152143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30398" y="1234440"/>
            <a:ext cx="530352" cy="1152143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30398" y="1234440"/>
            <a:ext cx="530352" cy="115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5614" y="1581912"/>
            <a:ext cx="148681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Motivation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1884" y="1234440"/>
            <a:ext cx="2145182" cy="1152143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1884" y="1234440"/>
            <a:ext cx="530352" cy="1152143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1884" y="1234440"/>
            <a:ext cx="530352" cy="115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7100" y="1581912"/>
            <a:ext cx="148681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Background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3371" y="1234440"/>
            <a:ext cx="2145182" cy="1152143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3371" y="1234440"/>
            <a:ext cx="530352" cy="1152143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3371" y="1234440"/>
            <a:ext cx="530352" cy="115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8587" y="1581912"/>
            <a:ext cx="148681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Literature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4857" y="1234440"/>
            <a:ext cx="2145182" cy="1152143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4857" y="1234440"/>
            <a:ext cx="530352" cy="1152143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4857" y="1234440"/>
            <a:ext cx="530352" cy="115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0073" y="1581912"/>
            <a:ext cx="148681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Most Related 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2496312"/>
            <a:ext cx="2145182" cy="1152143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" y="2496312"/>
            <a:ext cx="530352" cy="1152143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2496312"/>
            <a:ext cx="530352" cy="115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2843784"/>
            <a:ext cx="148681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360C"/>
                </a:solidFill>
              </a:rPr>
              <a:t>Problem Statement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30398" y="2496312"/>
            <a:ext cx="2145182" cy="1152143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30398" y="2496312"/>
            <a:ext cx="530352" cy="1152143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30398" y="2496312"/>
            <a:ext cx="530352" cy="115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5614" y="2843784"/>
            <a:ext cx="148681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360C"/>
                </a:solidFill>
              </a:rPr>
              <a:t>Objectives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1884" y="2496312"/>
            <a:ext cx="2145182" cy="1152143"/>
          </a:xfrm>
          <a:prstGeom prst="rect">
            <a:avLst/>
          </a:prstGeom>
          <a:solidFill>
            <a:srgbClr val="FFFFFF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1884" y="2496312"/>
            <a:ext cx="530352" cy="1152143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1884" y="2496312"/>
            <a:ext cx="530352" cy="115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07100" y="2843784"/>
            <a:ext cx="148681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48C"/>
                </a:solidFill>
              </a:rPr>
              <a:t>Methodology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3371" y="2496312"/>
            <a:ext cx="2145182" cy="1152143"/>
          </a:xfrm>
          <a:prstGeom prst="rect">
            <a:avLst/>
          </a:prstGeom>
          <a:solidFill>
            <a:srgbClr val="FFFFFF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3371" y="2496312"/>
            <a:ext cx="530352" cy="1152143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3371" y="2496312"/>
            <a:ext cx="530352" cy="115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8587" y="2843784"/>
            <a:ext cx="148681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48C"/>
                </a:solidFill>
              </a:rPr>
              <a:t>Evaluation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4857" y="2496312"/>
            <a:ext cx="2145182" cy="1152143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04857" y="2496312"/>
            <a:ext cx="530352" cy="115214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4857" y="2496312"/>
            <a:ext cx="530352" cy="115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90073" y="2843784"/>
            <a:ext cx="148681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Contributions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Why does multi-UAV coordination matter?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2681477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268147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01368"/>
            <a:ext cx="268147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Disaster 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1558" y="1298448"/>
            <a:ext cx="2681477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1558" y="1298448"/>
            <a:ext cx="268147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1558" y="1801368"/>
            <a:ext cx="268147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Search &amp; Rescue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5916" y="1298448"/>
            <a:ext cx="2681477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5916" y="1298448"/>
            <a:ext cx="268147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5916" y="1801368"/>
            <a:ext cx="268147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Infrastructure Inspection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0274" y="1298448"/>
            <a:ext cx="2681477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0274" y="1298448"/>
            <a:ext cx="268147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0274" y="1801368"/>
            <a:ext cx="268147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Surveillance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95728"/>
            <a:ext cx="1145743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5146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The Challenge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44368"/>
            <a:ext cx="3636264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944368"/>
            <a:ext cx="36362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Navigate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74720"/>
            <a:ext cx="3636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Reach assigned targets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6344" y="2944368"/>
            <a:ext cx="3636264" cy="100584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6344" y="2944368"/>
            <a:ext cx="36362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Avoid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6344" y="3474720"/>
            <a:ext cx="3636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No mid-air collisions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5488" y="2944368"/>
            <a:ext cx="3636264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5488" y="2944368"/>
            <a:ext cx="36362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Coordinate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5488" y="3474720"/>
            <a:ext cx="3636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Share airspace with the team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114800"/>
            <a:ext cx="1145743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251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</a:rPr>
              <a:t>Classical planners (A*, RRT): </a:t>
            </a:r>
          </a:p>
          <a:p>
            <a:pPr algn="l"/>
            <a:r>
              <a:rPr sz="1500" b="0">
                <a:solidFill>
                  <a:srgbClr val="333333"/>
                </a:solidFill>
              </a:rPr>
              <a:t>fail when environment changes mid-flight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68172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5E20"/>
                </a:solidFill>
              </a:rPr>
              <a:t>Deep Reinforcement Learning: </a:t>
            </a:r>
          </a:p>
          <a:p>
            <a:pPr algn="l"/>
            <a:r>
              <a:rPr sz="1500" b="0">
                <a:solidFill>
                  <a:srgbClr val="333333"/>
                </a:solidFill>
              </a:rPr>
              <a:t>learns adaptive policies from simulation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111496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</a:rPr>
              <a:t>Multi-Agent RL (MARL): </a:t>
            </a:r>
          </a:p>
          <a:p>
            <a:pPr algn="l"/>
            <a:r>
              <a:rPr sz="1500" b="0">
                <a:solidFill>
                  <a:srgbClr val="333333"/>
                </a:solidFill>
              </a:rPr>
              <a:t>extends DRL to cooperating drone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541264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F360C"/>
                </a:solidFill>
              </a:rPr>
              <a:t>This research: </a:t>
            </a:r>
          </a:p>
          <a:p>
            <a:pPr algn="l"/>
            <a:r>
              <a:rPr sz="1500" b="0">
                <a:solidFill>
                  <a:srgbClr val="333333"/>
                </a:solidFill>
              </a:rPr>
              <a:t>target assignment  +  collision avoidance  +  3D  — never done together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Why this problem? Why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45743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1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A500"/>
                </a:solidFill>
              </a:rPr>
              <a:t>Two sub-problems solved independently for years — but never together, never in 3D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76272"/>
            <a:ext cx="3636264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76272"/>
            <a:ext cx="3636264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3636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Real-World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43200"/>
            <a:ext cx="34168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</a:rPr>
              <a:t>UAVs fly in 3D.
All multi-UAV MARL
works in 2D.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251960"/>
            <a:ext cx="3416808" cy="36576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370832"/>
            <a:ext cx="341680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</a:rPr>
              <a:t>Every warehouse, rescue mission,
and delivery fleet operates
in three dimensions.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6344" y="2176272"/>
            <a:ext cx="3636264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6344" y="2176272"/>
            <a:ext cx="3636264" cy="47548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6344" y="2176272"/>
            <a:ext cx="3636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Documented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6072" y="2743200"/>
            <a:ext cx="34168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360C"/>
                </a:solidFill>
              </a:rPr>
              <a:t>DA-MAPPO and IGAT-MARL
both cite each other
as future 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6072" y="4251960"/>
            <a:ext cx="3416808" cy="36576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6072" y="4370832"/>
            <a:ext cx="341680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</a:rPr>
              <a:t>The gap is not an opinion —
it is documented by the
authors themselves.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5488" y="2176272"/>
            <a:ext cx="3636264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5488" y="2176272"/>
            <a:ext cx="3636264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5488" y="2176272"/>
            <a:ext cx="3636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Scientific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5216" y="2743200"/>
            <a:ext cx="34168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No one knows if these
two mechanisms cooperate
or compete.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05216" y="4251960"/>
            <a:ext cx="3416808" cy="36576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5216" y="4370832"/>
            <a:ext cx="341680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</a:rPr>
              <a:t>This is an open empirical
question with real consequences
for mission success.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Key concepts used in this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292608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Agent
(Neural Network)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743200"/>
            <a:ext cx="292608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74320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Environment
(3D Simulation)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788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→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←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8587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↑ Reward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4187952"/>
            <a:ext cx="45720" cy="45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261872"/>
            <a:ext cx="1145743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353312"/>
            <a:ext cx="11457432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1353312"/>
            <a:ext cx="1145743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353312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CTDE Framework  (Centralized Training, Decentralized Execution)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1755648"/>
            <a:ext cx="1123797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Training: critic sees all agents' states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Execution: each drone acts on its own observation only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Solves non-stationarity in multi-agent learning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2651760"/>
            <a:ext cx="434340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2651760"/>
            <a:ext cx="434340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651760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MAPPO — policy used in this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3054096"/>
            <a:ext cx="412394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PPO extended to multi-agent cooperative settings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Stable, reproducible, works with continuous actions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Used by DA-MAPPO — proven for UAV assignment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4434840"/>
            <a:ext cx="434340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9520" y="4434840"/>
            <a:ext cx="434340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4434840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Hungarian Algorithm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4837176"/>
            <a:ext cx="41239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Optimal 1-to-1 drone-to-target assignment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Runs every decision step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Result goes directly into each drone's observation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6035040"/>
            <a:ext cx="4343400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0" y="6035040"/>
            <a:ext cx="4343400" cy="34747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6035040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Dec-POMDP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6437376"/>
            <a:ext cx="41239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Each drone has partial local observation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Formal framework for all MARL UAV problems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Papers in this study — grouped by contribution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5743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Single-UAV Navigation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3444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Multi-UAV Coordination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45920"/>
            <a:ext cx="2727198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272719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45920"/>
            <a:ext cx="27271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[1] Tang et al.,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048256"/>
            <a:ext cx="2507741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 Improved D3QN + Prioritized Replay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Single UAV, 2D, moving obstacles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95% success rate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Limit: one drone, no team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0118" y="1645920"/>
            <a:ext cx="2727198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30118" y="1645920"/>
            <a:ext cx="2727198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0118" y="1645920"/>
            <a:ext cx="27271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[3] Jarray et al.,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9846" y="2048256"/>
            <a:ext cx="2507741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 DQN + 3D CNN, 25 km² environment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Single UAV, genuine 3D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98% success (low obstacles)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Limit: one drone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1645920"/>
            <a:ext cx="2727198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4476" y="1645920"/>
            <a:ext cx="2727198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4476" y="1645920"/>
            <a:ext cx="27271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[2] Kong et al.,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4204" y="2048256"/>
            <a:ext cx="2507741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 TANet-TD3, Hungarian supervision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5 UAVs, 2D, partial observability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Joint assignment + path planning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Limit: 5 drones, 2D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58834" y="1645920"/>
            <a:ext cx="2727198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58834" y="1645920"/>
            <a:ext cx="2727198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58834" y="1645920"/>
            <a:ext cx="27271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[4] Zhang et al.,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8561" y="2048256"/>
            <a:ext cx="2507741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 Mean-field DDPG + attention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Up to 120 UAVs, 2D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&gt;90% success at 120 drones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Limit: 2D, static obstacles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133087"/>
            <a:ext cx="1145743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206240"/>
            <a:ext cx="1145743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20624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LLM-Enhanced Coordination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2062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Survey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617720"/>
            <a:ext cx="2727198" cy="2121408"/>
          </a:xfrm>
          <a:prstGeom prst="rect">
            <a:avLst/>
          </a:prstGeom>
          <a:solidFill>
            <a:srgbClr val="FFFFFF"/>
          </a:solidFill>
          <a:ln w="1524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617720"/>
            <a:ext cx="2727198" cy="3474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617720"/>
            <a:ext cx="27271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[6] Xu et al.,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5020056"/>
            <a:ext cx="2507741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 IPPO + GPT-4o knowledge distillation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12-24 UAVs, 2D networking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+52% data rate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Limit: 2D, GPT-4o dependency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0118" y="4617720"/>
            <a:ext cx="2727198" cy="2121408"/>
          </a:xfrm>
          <a:prstGeom prst="rect">
            <a:avLst/>
          </a:prstGeom>
          <a:solidFill>
            <a:srgbClr val="FFFFFF"/>
          </a:solidFill>
          <a:ln w="1524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30118" y="4617720"/>
            <a:ext cx="2727198" cy="3474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30118" y="4617720"/>
            <a:ext cx="27271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[7] Wang et al.,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9846" y="5020056"/>
            <a:ext cx="2507741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 RALLY: LLM roles + RMIX mixing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Commander / Coordinator / Executor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Generalizes to unseen swarm sizes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Limit: 14.5s inference latency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4476" y="4617720"/>
            <a:ext cx="2727198" cy="2121408"/>
          </a:xfrm>
          <a:prstGeom prst="rect">
            <a:avLst/>
          </a:prstGeom>
          <a:solidFill>
            <a:srgbClr val="FFFFFF"/>
          </a:solidFill>
          <a:ln w="1524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4476" y="4617720"/>
            <a:ext cx="2727198" cy="3474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4476" y="4617720"/>
            <a:ext cx="27271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[8] Khan et al.,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4204" y="5020056"/>
            <a:ext cx="2507741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 CrewAI vs AutoGen vs LangChain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96.1% success, 76% less tokens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First fair framework comparison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Limit: wildfire domain only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58834" y="4617720"/>
            <a:ext cx="2727198" cy="2121408"/>
          </a:xfrm>
          <a:prstGeom prst="rect">
            <a:avLst/>
          </a:prstGeom>
          <a:solidFill>
            <a:srgbClr val="FFFFFF"/>
          </a:solidFill>
          <a:ln w="1524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58834" y="4617720"/>
            <a:ext cx="2727198" cy="34747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58834" y="4617720"/>
            <a:ext cx="27271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[11] Govinda et al.,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8561" y="5020056"/>
            <a:ext cx="2507741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 IEEE TITS survey on DRL systems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Transportation, robotics, UAVs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Key gap: no unified framework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 Directly motivates this research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Most Related Work: DA-MAPPO  [10]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Sheng et al. (2026) — IEEE Internet of Things Journal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5303520" cy="22128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61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64207"/>
            <a:ext cx="5084064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Hungarian assignment at EVERY decision step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Assignment result added to each drone's observation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MAPPO policy with 4-tier reward structure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Curriculum training: 3 difficulty levels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11880"/>
            <a:ext cx="530352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611880"/>
            <a:ext cx="5303520" cy="347472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611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Tested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014216"/>
            <a:ext cx="508406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3 UAVs  |  3 dynamic targets  |  30-50 obstacles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2D environment only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Validated on NVIDIA Jetson Orin Nano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303520"/>
            <a:ext cx="5303520" cy="1444752"/>
          </a:xfrm>
          <a:prstGeom prst="rect">
            <a:avLst/>
          </a:prstGeom>
          <a:solidFill>
            <a:srgbClr val="FFFFFF"/>
          </a:solidFill>
          <a:ln w="1524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303520"/>
            <a:ext cx="5303520" cy="3474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303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What it leaves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5705856"/>
            <a:ext cx="508406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No 3D extension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Only 3 drones — scalability unknown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No collision-avoidance mechanism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Authors list 3D + larger swarms as future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261872"/>
            <a:ext cx="5897880" cy="5468112"/>
          </a:xfrm>
          <a:prstGeom prst="rect">
            <a:avLst/>
          </a:prstGeom>
          <a:solidFill>
            <a:srgbClr val="FFFFFF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1261872"/>
            <a:ext cx="5897880" cy="38404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1261872"/>
            <a:ext cx="5897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121E"/>
                </a:solidFill>
              </a:rPr>
              <a:t>The Most Important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7830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With assignment: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176272"/>
            <a:ext cx="5577840" cy="7498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176272"/>
            <a:ext cx="5577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90 – 99%  mission success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063240"/>
            <a:ext cx="5577840" cy="4572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21868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360C"/>
                </a:solidFill>
              </a:rPr>
              <a:t>Without assignment: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611880"/>
            <a:ext cx="5577840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3611880"/>
            <a:ext cx="5577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0%  mission success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553712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121E"/>
                </a:solidFill>
              </a:rPr>
              <a:t>The assignment mechanism
is the entire reason it works.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5504688"/>
            <a:ext cx="5897880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5577840"/>
            <a:ext cx="5897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F360C"/>
                </a:solidFill>
              </a:rPr>
              <a:t>Removing it = complete failure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Most Related Work: IGAT-MARL  [9]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Rezaee et al. (2026) — Applied Soft Computing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5303520" cy="22128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61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64207"/>
            <a:ext cx="5084064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Sparse conflict graph — only collision-risk pairs connected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Improved Graph Attention Network (stacked double attention)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Updated every decision step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Curriculum: 3 to 10 drones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11880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611880"/>
            <a:ext cx="5303520" cy="347472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611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Tested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014216"/>
            <a:ext cx="508406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3-10 UAVs  |  BlueSky simulator (fixed-wing)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Conflict-guaranteed episodes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Simulation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166360"/>
            <a:ext cx="530352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166360"/>
            <a:ext cx="5303520" cy="3474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1663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What it leaves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5568696"/>
            <a:ext cx="508406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No target assignment — drones have no goal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Authors explicitly list task allocation as future direction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261872"/>
            <a:ext cx="5897880" cy="5468112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1261872"/>
            <a:ext cx="589788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1261872"/>
            <a:ext cx="5897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Results vs. Best 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828800"/>
            <a:ext cx="5577840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828800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0A500"/>
                </a:solidFill>
              </a:rPr>
              <a:t>17%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450592"/>
            <a:ext cx="5577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higher reward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108960"/>
            <a:ext cx="5577840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108960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0A500"/>
                </a:solidFill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730752"/>
            <a:ext cx="5577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fewer dangerous events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389120"/>
            <a:ext cx="5577840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4389120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0A500"/>
                </a:solidFill>
              </a:rPr>
              <a:t>44%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010912"/>
            <a:ext cx="5577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fewer graph edges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596128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77777"/>
                </a:solidFill>
              </a:rPr>
              <a:t>44% fewer edges = less communication overhead
= scales to larger swarms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What happens when you combine both in 3D?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61872"/>
          <a:ext cx="1078992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34640"/>
                <a:gridCol w="2834640"/>
                <a:gridCol w="3108960"/>
              </a:tblGrid>
              <a:tr h="43525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DA-MAPPO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IGAT-MARL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This Research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3525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Target Assignment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5E20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F360C"/>
                          </a:solidFill>
                        </a:rPr>
                        <a:t>✘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5E20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3525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Collision Avoidance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F360C"/>
                          </a:solidFill>
                        </a:rPr>
                        <a:t>✘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5E20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5E20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3525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3D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F360C"/>
                          </a:solidFill>
                        </a:rPr>
                        <a:t>✘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F360C"/>
                          </a:solidFill>
                        </a:rPr>
                        <a:t>✘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5E20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352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Swarm Size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3-10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5E20"/>
                          </a:solidFill>
                        </a:rPr>
                        <a:t>3,5,8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3566160"/>
            <a:ext cx="1145743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The Interference — Two modules, one policy, no shared awareness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77639"/>
            <a:ext cx="5394960" cy="2697480"/>
          </a:xfrm>
          <a:prstGeom prst="rect">
            <a:avLst/>
          </a:prstGeom>
          <a:solidFill>
            <a:srgbClr val="FFF3E0"/>
          </a:solidFill>
          <a:ln w="190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977639"/>
            <a:ext cx="5394960" cy="3657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97763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Assignment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34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BF360C"/>
                </a:solidFill>
              </a:rPr>
              <a:t>"Go to your target now"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646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Unaware of which other drone pairs are in conflict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349240"/>
            <a:ext cx="5120640" cy="4572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4406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360C"/>
                </a:solidFill>
              </a:rPr>
              <a:t>In 3D: drone ascending to target above it
may collide with descending drone — unseen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977639"/>
            <a:ext cx="5440680" cy="2697480"/>
          </a:xfrm>
          <a:prstGeom prst="rect">
            <a:avLst/>
          </a:prstGeom>
          <a:solidFill>
            <a:srgbClr val="DFE9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977639"/>
            <a:ext cx="544068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Conflict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43484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2E75B6"/>
                </a:solidFill>
              </a:rPr>
              <a:t>"Change course — collision predicted"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86460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Unaware of current target assignment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5349240"/>
            <a:ext cx="5166360" cy="4572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5440680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Reroutes drone away from conflict —
pulls it away from its assigned target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Research Question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11457432" cy="1417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91672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A500"/>
                </a:solidFill>
              </a:rPr>
              <a:t>Will a single MAPPO policy with conflict-aware graph + assignment-augmented observation
successfully navigate 5-8 UAVs in 3D with &gt;85% mission success —
and do the two mechanisms help or hinder each other?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2852928"/>
            <a:ext cx="2718053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2852928"/>
            <a:ext cx="2718053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852928"/>
            <a:ext cx="271805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Obj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419856"/>
            <a:ext cx="253517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Design combined observation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224528"/>
            <a:ext cx="253517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</a:rPr>
              <a:t>Hungarian assignment + conflict neighborhood + own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03270" y="2852928"/>
            <a:ext cx="2718053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03270" y="2852928"/>
            <a:ext cx="2718053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3270" y="2852928"/>
            <a:ext cx="271805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Obj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4710" y="3419856"/>
            <a:ext cx="253517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Test with 3, 5, and 8 drones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4710" y="4224528"/>
            <a:ext cx="253517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</a:rPr>
              <a:t>Measure how performance scales with interference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7628" y="2852928"/>
            <a:ext cx="2718053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7628" y="2852928"/>
            <a:ext cx="2718053" cy="47548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7628" y="2852928"/>
            <a:ext cx="271805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Obj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3419856"/>
            <a:ext cx="253517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360C"/>
                </a:solidFill>
              </a:rPr>
              <a:t>Ablation experiments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9068" y="4224528"/>
            <a:ext cx="253517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</a:rPr>
              <a:t>Isolate contribution of each mechanism individually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1986" y="2852928"/>
            <a:ext cx="2718053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31986" y="2852928"/>
            <a:ext cx="2718053" cy="47548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1986" y="2852928"/>
            <a:ext cx="271805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Obj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3426" y="3419856"/>
            <a:ext cx="253517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148C"/>
                </a:solidFill>
              </a:rPr>
              <a:t>Find the failure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3426" y="4224528"/>
            <a:ext cx="253517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</a:rPr>
              <a:t>Map where and how the combined policy breaks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Proposed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Combined observation vector + MAPPO policy in 3D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45743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Each Drone's Observation Vector (4 parts)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1691640"/>
            <a:ext cx="2718053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691640"/>
            <a:ext cx="2718053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691640"/>
            <a:ext cx="27180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1.  Own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212848"/>
            <a:ext cx="253517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3D position
velocity
heading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03270" y="1691640"/>
            <a:ext cx="2718053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03270" y="1691640"/>
            <a:ext cx="2718053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3270" y="1691640"/>
            <a:ext cx="27180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2.  Assignment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4710" y="2212848"/>
            <a:ext cx="253517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Target relative
position
(Hungarian, per step)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7628" y="1691640"/>
            <a:ext cx="2718053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7628" y="1691640"/>
            <a:ext cx="2718053" cy="4572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7628" y="1691640"/>
            <a:ext cx="27180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3.  Conflict Neighbors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068" y="2212848"/>
            <a:ext cx="253517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Positions of drones
predicted to collide
with 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31986" y="1691640"/>
            <a:ext cx="2718053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1986" y="1691640"/>
            <a:ext cx="2718053" cy="4572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1986" y="1691640"/>
            <a:ext cx="27180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4.  Obstacles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3426" y="2212848"/>
            <a:ext cx="253517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Proximity in
6 directions
(N/S/E/W/Up/Down)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1829" y="2450592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A500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6188" y="2450592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A500"/>
                </a:solidFill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0546" y="2450592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A500"/>
                </a:solidFill>
              </a:rPr>
              <a:t>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913632"/>
            <a:ext cx="1145743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" y="4041648"/>
            <a:ext cx="1763268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4041648"/>
            <a:ext cx="17632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Simulation
(PyBullet 3D)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10740" y="4343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48484" y="4041648"/>
            <a:ext cx="1763268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48484" y="4041648"/>
            <a:ext cx="17632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Hungarian
Assignment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0312" y="4343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8056" y="4041648"/>
            <a:ext cx="1763268" cy="10515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8056" y="4041648"/>
            <a:ext cx="17632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Conflict
Graph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29884" y="4343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7628" y="4041648"/>
            <a:ext cx="1763268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67628" y="4041648"/>
            <a:ext cx="17632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Combined
Observation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39456" y="4343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77200" y="4041648"/>
            <a:ext cx="1763268" cy="10515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4041648"/>
            <a:ext cx="17632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MAPPO
Actor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49028" y="4343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86772" y="4041648"/>
            <a:ext cx="1763268" cy="105156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86772" y="4041648"/>
            <a:ext cx="17632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3D Action
Executed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230368"/>
            <a:ext cx="1145743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8912" y="5349240"/>
            <a:ext cx="2718053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8912" y="5349240"/>
            <a:ext cx="2718053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5349240"/>
            <a:ext cx="271805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5797296"/>
            <a:ext cx="253517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3 drones
Static targets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03270" y="5349240"/>
            <a:ext cx="2718053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03270" y="5349240"/>
            <a:ext cx="2718053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03270" y="5349240"/>
            <a:ext cx="271805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94710" y="5797296"/>
            <a:ext cx="253517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5 drones
Moving targets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67628" y="5349240"/>
            <a:ext cx="2718053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67628" y="5349240"/>
            <a:ext cx="2718053" cy="41148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7628" y="5349240"/>
            <a:ext cx="271805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59068" y="5797296"/>
            <a:ext cx="253517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8 drones
Dynamic + dense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31986" y="5349240"/>
            <a:ext cx="2718053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31986" y="5349240"/>
            <a:ext cx="2718053" cy="41148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31986" y="5349240"/>
            <a:ext cx="271805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Stage 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23426" y="5797296"/>
            <a:ext cx="253517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Unseen sizes
Generalization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5166360"/>
            <a:ext cx="11457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</a:rPr>
              <a:t>4-Stage Curriculum Learning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Evaluation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</a:rPr>
              <a:t>4 baselines  ×  3 swarm sizes  ×  3 obstacle densities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2286000" cy="13258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28600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A500"/>
                </a:solidFill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30882"/>
            <a:ext cx="228600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Baselines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261872"/>
            <a:ext cx="2286000" cy="13258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261872"/>
            <a:ext cx="228600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A500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030882"/>
            <a:ext cx="228600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Swarm Sizes
(3, 5, 8 drones)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261872"/>
            <a:ext cx="2286000" cy="13258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261872"/>
            <a:ext cx="228600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A500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030882"/>
            <a:ext cx="228600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Obstacle Levels
(30/40/50)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261872"/>
            <a:ext cx="2286000" cy="13258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261872"/>
            <a:ext cx="228600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A500"/>
                </a:solidFill>
              </a:rPr>
              <a:t>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030882"/>
            <a:ext cx="228600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Total Conditions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0" y="1261872"/>
            <a:ext cx="1600200" cy="13258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1261872"/>
            <a:ext cx="160020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A500"/>
                </a:solidFill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2030882"/>
            <a:ext cx="1600200" cy="55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Mission success
(primary metric)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43200"/>
            <a:ext cx="1145743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Four Controlled Baselines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3163824"/>
            <a:ext cx="2718053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" y="3163824"/>
            <a:ext cx="502920" cy="15727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3163824"/>
            <a:ext cx="5029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3218688"/>
            <a:ext cx="19956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Standard MAPPO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3703320"/>
            <a:ext cx="199567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No assignment, no conflict graph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03270" y="3163824"/>
            <a:ext cx="2718053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03270" y="3163824"/>
            <a:ext cx="502920" cy="157276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03270" y="3163824"/>
            <a:ext cx="5029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8485" y="3218688"/>
            <a:ext cx="19956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DA-MAPPO → 3D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8485" y="3703320"/>
            <a:ext cx="199567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Assignment only, ported to 3D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7628" y="3163824"/>
            <a:ext cx="2718053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67628" y="3163824"/>
            <a:ext cx="502920" cy="157276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67628" y="3163824"/>
            <a:ext cx="5029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2844" y="3218688"/>
            <a:ext cx="19956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360C"/>
                </a:solidFill>
              </a:rPr>
              <a:t>IGAT-MARL + fixed asgn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52844" y="3703320"/>
            <a:ext cx="199567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Conflict graph, fixed assignment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31986" y="3163824"/>
            <a:ext cx="2718053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31986" y="3163824"/>
            <a:ext cx="502920" cy="157276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31986" y="3163824"/>
            <a:ext cx="5029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17202" y="3218688"/>
            <a:ext cx="19956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48C"/>
                </a:solidFill>
              </a:rPr>
              <a:t>Original 2D DA-MAPPO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17202" y="3703320"/>
            <a:ext cx="199567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Replication verification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846320"/>
            <a:ext cx="1145743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84632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Secondary Metrics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" y="5266944"/>
            <a:ext cx="2718053" cy="822960"/>
          </a:xfrm>
          <a:prstGeom prst="rect">
            <a:avLst/>
          </a:prstGeom>
          <a:solidFill>
            <a:srgbClr val="DF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5266944"/>
            <a:ext cx="271805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3864"/>
                </a:solidFill>
              </a:rPr>
              <a:t>Inter-drone collisions / episode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03270" y="5266944"/>
            <a:ext cx="2718053" cy="822960"/>
          </a:xfrm>
          <a:prstGeom prst="rect">
            <a:avLst/>
          </a:prstGeom>
          <a:solidFill>
            <a:srgbClr val="DF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03270" y="5266944"/>
            <a:ext cx="271805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3864"/>
                </a:solidFill>
              </a:rPr>
              <a:t>Obstacle collisions / episode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67628" y="5266944"/>
            <a:ext cx="2718053" cy="822960"/>
          </a:xfrm>
          <a:prstGeom prst="rect">
            <a:avLst/>
          </a:prstGeom>
          <a:solidFill>
            <a:srgbClr val="DF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67628" y="5266944"/>
            <a:ext cx="271805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3864"/>
                </a:solidFill>
              </a:rPr>
              <a:t>Target reassignments / episode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31986" y="5266944"/>
            <a:ext cx="2718053" cy="822960"/>
          </a:xfrm>
          <a:prstGeom prst="rect">
            <a:avLst/>
          </a:prstGeom>
          <a:solidFill>
            <a:srgbClr val="DF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31986" y="5266944"/>
            <a:ext cx="271805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3864"/>
                </a:solidFill>
              </a:rPr>
              <a:t>Average trajectory length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Expected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261872"/>
            <a:ext cx="2718053" cy="5285232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261872"/>
            <a:ext cx="2718053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261872"/>
            <a:ext cx="2718053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148840"/>
            <a:ext cx="253517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</a:rPr>
              <a:t>First Combined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200400"/>
            <a:ext cx="2535174" cy="4572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337560"/>
            <a:ext cx="253517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</a:rPr>
              <a:t>Assignment + collision avoidance
in a single 3D MARL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03270" y="1261872"/>
            <a:ext cx="2718053" cy="5285232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03270" y="1261872"/>
            <a:ext cx="2718053" cy="7498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03270" y="1261872"/>
            <a:ext cx="2718053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4710" y="2148840"/>
            <a:ext cx="253517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First 3D Empirical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4710" y="3200400"/>
            <a:ext cx="2535174" cy="4572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94710" y="3337560"/>
            <a:ext cx="253517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</a:rPr>
              <a:t>Do the two mechanisms help
or hinder each other in 3D?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7628" y="1261872"/>
            <a:ext cx="2718053" cy="5285232"/>
          </a:xfrm>
          <a:prstGeom prst="rect">
            <a:avLst/>
          </a:prstGeom>
          <a:solidFill>
            <a:srgbClr val="FFFFFF"/>
          </a:solidFill>
          <a:ln w="254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7628" y="1261872"/>
            <a:ext cx="2718053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7628" y="1261872"/>
            <a:ext cx="2718053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2148840"/>
            <a:ext cx="253517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360C"/>
                </a:solidFill>
              </a:rPr>
              <a:t>Unified Observation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9068" y="3200400"/>
            <a:ext cx="2535174" cy="4572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3337560"/>
            <a:ext cx="253517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</a:rPr>
              <a:t>Reusable vector encoding both
mechanisms for future research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31986" y="1261872"/>
            <a:ext cx="2718053" cy="5285232"/>
          </a:xfrm>
          <a:prstGeom prst="rect">
            <a:avLst/>
          </a:prstGeom>
          <a:solidFill>
            <a:srgbClr val="FFFFFF"/>
          </a:solidFill>
          <a:ln w="254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31986" y="1261872"/>
            <a:ext cx="2718053" cy="74980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31986" y="1261872"/>
            <a:ext cx="2718053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3426" y="2148840"/>
            <a:ext cx="253517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148C"/>
                </a:solidFill>
              </a:rPr>
              <a:t>Failure Boundary Map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23426" y="3200400"/>
            <a:ext cx="2535174" cy="4572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3426" y="3337560"/>
            <a:ext cx="253517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</a:rPr>
              <a:t>Where and how the combined
policy fails — and why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771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26180"/>
            <a:ext cx="12188952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0A500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2514600"/>
            <a:ext cx="8897112" cy="4572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514600"/>
            <a:ext cx="8897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21E"/>
                </a:solidFill>
              </a:rPr>
              <a:t>First study of assignment-avoidance interference in 3D multi-UAV coordination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Ayesha Khalil  |  SP25-RCS-009</a:t>
            </a:r>
          </a:p>
          <a:p>
            <a:pPr algn="ctr"/>
            <a:r>
              <a:rPr sz="1300" b="0">
                <a:solidFill>
                  <a:srgbClr val="DFE9F7"/>
                </a:solidFill>
              </a:rPr>
              <a:t>MS Computer Science — COMSATS University Islamabad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