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35324"/>
            <a:ext cx="12188952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FE9F7"/>
                </a:solidFill>
              </a:rPr>
              <a:t>COMSATS University Islamabad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Dynamic Target Assignment and
Collision Avoidance for Multi-UAV
Coordination in 3D using MARL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9232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0A500"/>
                </a:solidFill>
              </a:rPr>
              <a:t>MS Research Synopsis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Ayesha Khalil</a:t>
            </a:r>
          </a:p>
          <a:p>
            <a:pPr algn="ctr"/>
            <a:r>
              <a:rPr sz="1400" b="0">
                <a:solidFill>
                  <a:srgbClr val="DFE9F7"/>
                </a:solidFill>
              </a:rPr>
              <a:t>SP25-RCS-009   |   MS Computer Science</a:t>
            </a:r>
          </a:p>
          <a:p>
            <a:pPr algn="ctr"/>
            <a:r>
              <a:rPr sz="1300" b="0">
                <a:solidFill>
                  <a:srgbClr val="DFE9F7"/>
                </a:solidFill>
              </a:rP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50292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42646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1051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Motivation, real-world context, and why multi-UAV coordination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137160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8776" y="1371600"/>
            <a:ext cx="50292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137160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704" y="142646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181051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Deep Reinforcement Learning, MARL, and the CTDE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60604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606040"/>
            <a:ext cx="502920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260604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66090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Literature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04495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10 reviewed papers grouped by contribution area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260604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2606040"/>
            <a:ext cx="502920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260604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66090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Most Related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5704" y="304495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DA-MAPPO and IGAT-MARL in detail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84048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840480"/>
            <a:ext cx="502920" cy="10515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384048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89534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360C"/>
                </a:solidFill>
              </a:rPr>
              <a:t>Problem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27939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The identified gap and the interference problem in 3D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84048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3840480"/>
            <a:ext cx="502920" cy="10515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6" y="384048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5704" y="389534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360C"/>
                </a:solidFill>
              </a:rPr>
              <a:t>Research Objectives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427939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Four measurable research objectives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07492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5074920"/>
            <a:ext cx="502920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507492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512978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148C"/>
                </a:solidFill>
              </a:rPr>
              <a:t>Proposed Methodology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551383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Framework design, observation vector, training strategy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08776" y="507492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8776" y="5074920"/>
            <a:ext cx="502920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08776" y="507492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75704" y="512978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148C"/>
                </a:solidFill>
              </a:rPr>
              <a:t>Evaluation 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5704" y="551383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Metrics, baselines, and test configurations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18688" y="6309360"/>
            <a:ext cx="5751576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18688" y="6309360"/>
            <a:ext cx="5029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18688" y="6309360"/>
            <a:ext cx="502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5615" y="6364224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Expected Contributions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85615" y="674827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What this research will add to the field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Unmanned Aerial Vehicles (UAVs) in time-critical 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7589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•  UAVs have become essential tools in disaster response, search and rescue, infrastructure inspection, and surveillance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•  These applications share a common requirement: not one drone working alone, but teams of drones coordinating in real-time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•  Each drone in such a team must simultaneously navigate toward an assigned target, avoid collisions with other drones, and share limited airspace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•  Classical path-planning algorithms such as A* and RRT require a fully known, static environment and cannot adapt when conditions change mid-flight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•  Deep Reinforcement Learning (DRL) learns navigation policies through interaction with a simulated environment, enabling real-time adaptation to dynamic conditions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•  Multi-Agent Deep Reinforcement Learning (MARL) extends this to teams of agents, where each drone learns to act cooperatively with others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•  Despite rapid progress, two critical sub-problems have been developed in isolation from each other: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  -  Dynamic target assignment — which drone chases which target, updated in real-time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  -  Collision avoidance — preventing mid-air collisions between coordinating drones</a:t>
            </a:r>
          </a:p>
          <a:p>
            <a:pPr algn="l"/>
            <a:r>
              <a:rPr sz="1500" b="0">
                <a:solidFill>
                  <a:srgbClr val="333333"/>
                </a:solidFill>
              </a:rPr>
              <a:t>•  No published work has integrated both mechanisms into a single policy, and none has been tested in a 3D environment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657600" cy="5212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65760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This Research Addresses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874519"/>
            <a:ext cx="3474720" cy="685800"/>
          </a:xfrm>
          <a:prstGeom prst="rect">
            <a:avLst/>
          </a:prstGeom>
          <a:solidFill>
            <a:srgbClr val="DFE9F7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Real-time target assignment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743200"/>
            <a:ext cx="3474720" cy="685800"/>
          </a:xfrm>
          <a:prstGeom prst="rect">
            <a:avLst/>
          </a:prstGeom>
          <a:solidFill>
            <a:srgbClr val="DFE9F7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Collision avoidance in 3D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611879"/>
            <a:ext cx="3474720" cy="685800"/>
          </a:xfrm>
          <a:prstGeom prst="rect">
            <a:avLst/>
          </a:prstGeom>
          <a:solidFill>
            <a:srgbClr val="DFE9F7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7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F360C"/>
                </a:solidFill>
              </a:rPr>
              <a:t>Both in a single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4480559"/>
            <a:ext cx="3474720" cy="685800"/>
          </a:xfrm>
          <a:prstGeom prst="rect">
            <a:avLst/>
          </a:prstGeom>
          <a:solidFill>
            <a:srgbClr val="DFE9F7"/>
          </a:solidFill>
          <a:ln w="1524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48055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148C"/>
                </a:solidFill>
              </a:rPr>
              <a:t>Up to 8 drones simultaneously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5349240"/>
            <a:ext cx="3474720" cy="685800"/>
          </a:xfrm>
          <a:prstGeom prst="rect">
            <a:avLst/>
          </a:prstGeom>
          <a:solidFill>
            <a:srgbClr val="DFE9F7"/>
          </a:solidFill>
          <a:ln w="1524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53492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</a:rPr>
              <a:t>First empirical results in 3D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Background: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The foundation of adaptive UAV navigation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43200"/>
            <a:ext cx="320040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Agent
(Neural Network Policy)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743200"/>
            <a:ext cx="320040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743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Environment
(3D Simulation)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4754880"/>
            <a:ext cx="3200400" cy="10972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47548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Reward Signal
(r)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0358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→  Action (a)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015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←  State (s)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↑  Update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17320"/>
            <a:ext cx="4069080" cy="27432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417320"/>
            <a:ext cx="4069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417320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Key DRL Concepts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783080"/>
            <a:ext cx="3886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Policy: the neural network that maps state to action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Reward: numerical feedback signal (+/- per step)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Value function: expected future reward from a state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Episode: one complete mission run from start to end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Curriculum learning: train on easy cases first, then harder 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297680"/>
            <a:ext cx="406908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297680"/>
            <a:ext cx="40690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297680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Why DRL for UAVs?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663440"/>
            <a:ext cx="3886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Handles dynamic, partially observable environments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No need for hand-coded rules — learns from experience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Policy improves over millions of simulation episodes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Generalizes to situations not seen during 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417320"/>
            <a:ext cx="722376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1417320"/>
            <a:ext cx="72237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141732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CTDE Framework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783080"/>
            <a:ext cx="7040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Centralized Training: critic sees all agents' states during training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Decentralized Execution: each drone acts on its own observations only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Solves the non-stationarity problem in multi-agent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Background: Multi-Agent RL and Key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Algorithms directly relevant to this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Multi-Agent PPO (MAPPO)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64792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PPO extended to multi-agent cooperative settings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Shared centralized critic trained on global state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Each agent executes using only its local observation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Stable, reproducible, competitive with more complex MARL methods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Used as the policy backbone in this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36576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71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Hungarian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Optimal one-to-one assignment algorithm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Assigns N drones to N targets at minimum total cost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Runs at every decision step in this research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Result added directly to each drone's observation vector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Computational complexity: O(N^3) — feasible for small swarms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371600"/>
            <a:ext cx="34290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37160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Conflict Graph (Sparse Interaction)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764792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Connects only drone pairs predicted to collide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Much fewer edges than all-to-all communication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Updated dynamically every decision step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Used for collision avoidance in this 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1457432" cy="45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224528"/>
            <a:ext cx="50292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24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Dec-POMDP: The Formal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177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Decentralized Partially Observable Markov Decision Process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Each drone has its own local observation — cannot see everything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Agents cooperate to maximize a shared team reward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Standard mathematical formulation for all MARL UAV problems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4224528"/>
            <a:ext cx="62179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422452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MAPPO vs MADDPG vs QMIX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63600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This research uses MAPPO because: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23560" y="4956048"/>
          <a:ext cx="621792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2072640"/>
                <a:gridCol w="207264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Chosen?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MAPPO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On-policy, stable, continuous/discrete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YES — used 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MADDPG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Off-policy, continuous only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QMIX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Value decomposition, discrete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10 papers reviewed — grouped by contribution area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GROUP 1: Single-UAV Navigation   [Papers 1 &amp; 3]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57784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[1]  Tang, Liang &amp; Li (2024) — Drones Journal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Method: 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Improved D3QN = Dueling Double DQN + Prioritized Experience Replay + heuristic bias toward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Setting: 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Single UAV, 2D environment, static and moving obstacles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20"/>
                </a:solidFill>
              </a:rPr>
              <a:t>Result: 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95% success rate — outperforms A* and RRT on path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360C"/>
                </a:solidFill>
              </a:rPr>
              <a:t>Limitation: 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Single drone only, 2D only, no multi-agent extension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74519"/>
            <a:ext cx="562356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74519"/>
            <a:ext cx="562356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[3]  Jarray, Zaghbani &amp; Bouallègue (2025) — Procedia Computer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0428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Method: 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DQN + 3D CNN + dynamic reward formula d3/(d1+d2) per decision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3347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Setting: 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Single UAV, large-scale 3D environment (25 km²), 4 obstacle densities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62656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5E20"/>
                </a:solidFill>
              </a:rPr>
              <a:t>Result: 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98% success in low obstacles, 85% in high obstacles — beats PSO and GWO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2918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360C"/>
                </a:solidFill>
              </a:rPr>
              <a:t>Limitation: 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Only one drone — the only paper with true 3D but cannot coordinate teams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15968"/>
            <a:ext cx="11457432" cy="384048"/>
          </a:xfrm>
          <a:prstGeom prst="rect">
            <a:avLst/>
          </a:prstGeom>
          <a:solidFill>
            <a:srgbClr val="DFE9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15968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Gap identified:  Both papers solve navigation for a SINGLE drone. Neither scales to multiple drones or addresses coordination.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73168"/>
            <a:ext cx="11457432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73168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GROUP 2: Multi-UAV Target Assignment   [Papers 2 &amp; 4]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30368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30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[2]  Kong et al. (2024) — Frontiers in Neurorobotics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TANet-TD3: Target Assignment Network + TD3 policy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5 UAVs, 2D, partial observability, Hungarian supervision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Limitation: 5 drones only, 2D, no scaling mechanism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230368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230368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[4]  Zhang et al. (2025) — Chinese Journal of Aeronautics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577840"/>
            <a:ext cx="5440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PO-WMFDDPG: Mean-field + multi-head attention + CTDE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Scales to 120 drones, &gt;90% success — 2D only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Limitation: 2D, static obstacles, no dynamic reassignment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Literature Review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LLM-enhanced coordination and survey literature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GROUP 3: LLM-Enhanced Multi-Agent Coordination   [Papers 6, 7 &amp; 8]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374903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874519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[6]  Xu et al. (2026) — arXiv 2505.08448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267712"/>
            <a:ext cx="3602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Method: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MRLMN: IPPO + role-based reward + GPT-4o knowledge distillation via Hungarian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88036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</a:rPr>
              <a:t>Result: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12-24 UAVs, 52% higher data rate, 27% more user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401568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360C"/>
                </a:solidFill>
              </a:rPr>
              <a:t>Limit: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Simulation only, GPT-4o dependency, 2D movement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74519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74519"/>
            <a:ext cx="374903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874519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[7]  Wang et al. (2025) — IEEE Open Journal of Vehicular 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267712"/>
            <a:ext cx="3602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Method: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RALLY: Two-stage — LLM semantic consensus assigns Commander/Coordinator/Executor roles, then RMIX value-mixing optimizes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288036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</a:rPr>
              <a:t>Result: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Generalizes to unseen swarm sizes without retraining; &lt; 5 GB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01568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360C"/>
                </a:solidFill>
              </a:rPr>
              <a:t>Limit: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14.48s inference latency, qualitative validation only, no real hardware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74519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874519"/>
            <a:ext cx="374903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874519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[8]  Khan et al. (2026) — IEEE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67712"/>
            <a:ext cx="3602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Method: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Systematic comparison of CrewAI, AutoGen, LangChain + LangGraph-CrewAI hybrid with complexity-aware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8036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</a:rPr>
              <a:t>Result: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96.1% success at 76% lower token cost; first fair large-scale framework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401568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360C"/>
                </a:solidFill>
              </a:rPr>
              <a:t>Limit: 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Wildfire domain only; hybrid validated with only 6 agents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70832"/>
            <a:ext cx="11457432" cy="365760"/>
          </a:xfrm>
          <a:prstGeom prst="rect">
            <a:avLst/>
          </a:prstGeom>
          <a:solidFill>
            <a:srgbClr val="DFE9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70832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Gap identified:  LLM approaches improve coordination strategy but none study the specific interference between target assignment and collision avoidance in 3D.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28032"/>
            <a:ext cx="11457432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82803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GROUP 4: Survey Literature   [Paper 11]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57800"/>
            <a:ext cx="1145743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5780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[11]  Govinda, Brik &amp; Harous (2025) — IEEE Transactions on Intelligent Transportation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41848"/>
            <a:ext cx="11183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Systematic literature review of DRL applications across transportation, robotics, and UAV systems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Key finding: lack of unified frameworks combining navigation efficiency and inter-agent coordination is a prevailing open gap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Directly motivates this research — the gap they identified is exactly what this work addresses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Most Related Work: DA-MAPPO  [Paper 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Sheng, Xie, Liu &amp; Li (2026) — IEEE Internet of Things Journal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5577840" cy="5257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DA-MAPPO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Solves real-time dynamic target assignment for UAV swarms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Hungarian algorithm runs at every single decision step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Assignment result encoded directly into each drone's observation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Policy: MAPPO with 4-tier hierarchical reward structure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Trained with curriculum: 3 difficulty levels, 3 to 5 drones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Achieves 90-99% mission success — 25 pp above best baseline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Tested with 3 UAVs, 3 dynamic targets, 30-50 static obstacles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Validated on NVIDIA Jetson Orin Nano embedded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532120"/>
            <a:ext cx="5577840" cy="3657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532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DA-MAPPO Leaves Unresolved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2531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Only 2D — no altitude, no vertical flight paths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Only 3 drones — scalability unknown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No explicit collision-avoidance mechanism (only a reward penalty)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Authors explicitly list 3D extension as future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89888"/>
            <a:ext cx="5623560" cy="3200400"/>
          </a:xfrm>
          <a:prstGeom prst="rect">
            <a:avLst/>
          </a:prstGeom>
          <a:solidFill>
            <a:srgbClr val="FFF8E8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89888"/>
            <a:ext cx="5623560" cy="3657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89888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Critical Ablation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With assignment mechanism: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176272"/>
            <a:ext cx="539496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762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Mission success: 90 - 99%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889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</a:rPr>
              <a:t>Without assignment mechanism: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136392"/>
            <a:ext cx="5394960" cy="5029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1363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Mission success: 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49039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The assignment mechanism is not just helpful —
it is the entire reason the policy works.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81728"/>
            <a:ext cx="56235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681728"/>
            <a:ext cx="56235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681728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Observation Vector in DA-MAPPO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065776"/>
            <a:ext cx="5623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Own position and velocity (3D position in 2D env.)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Relative position to ASSIGNED target (Hungarian output)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Positions of visible obstacles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No conflict-neighbor information — no collision awareness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Most Related Work: IGAT-MARL  [Paper 9]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Rezaee, Abdul Hamid, Hussin &amp; Zukarnain (2026) — Applied Soft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5577840" cy="5257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IGAT-MARL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 Solves collision avoidance between multiple UAVs at scale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Builds a sparse conflict graph at every decision step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Only connects drone pairs predicted to collide within a time window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Replaces costly all-to-all communication with targeted interaction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Uses Improved Graph Attention Network: stacked double attention + residual connections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Trained with curriculum learning on 3 to 10 drones</a:t>
            </a:r>
          </a:p>
          <a:p>
            <a:pPr algn="l"/>
            <a:r>
              <a:rPr sz="1400" b="0">
                <a:solidFill>
                  <a:srgbClr val="333333"/>
                </a:solidFill>
              </a:rPr>
              <a:t>•  Simulation: BlueSky air traffic simulator (realistic fixed-wing dynamics)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138928"/>
            <a:ext cx="5577840" cy="3657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13892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IGAT-MARL Leaves Unresolved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53212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No target assignment — drones have no goal to fly toward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Fixed-wing aircraft only (not rotary UAVs)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Simulation only — no hardware validation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Authors explicitly list task allocation as future direction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89888"/>
            <a:ext cx="5623560" cy="274320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89888"/>
            <a:ext cx="562356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89888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Key Results vs. Best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74519"/>
            <a:ext cx="5257800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17%  higher cumulative reward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32887"/>
            <a:ext cx="5257800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32887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10%  fewer dangerous separation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191256"/>
            <a:ext cx="5257800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91256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44%  fewer interaction graph edges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251960"/>
            <a:ext cx="56235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251960"/>
            <a:ext cx="56235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25196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Why the Sparse Conflict Graph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636008"/>
            <a:ext cx="5623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All-to-all graph: N drones = N*N edges — grows quadratically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Conflict graph: only predicted collision pairs connected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44% fewer edges means 44% less unnecessary computation and communication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Critical for scaling to larger drone swarms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This mechanism is what this research combines with DA-MAPPO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The gap that exists between DA-MAPPO and IGAT-MARL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89888"/>
          <a:ext cx="1145743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DA-MAPPO [10]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IGAT-MARL [9]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This Research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Target 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YES (Hungarian, per step)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Collision Avoidance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Reward penalty only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YES (sparse graph)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3D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NO (2D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NO (2D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Swarm Size Tested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 drones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3-10 drones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3, 5, 8 drones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Other cites as 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3D + larger swarms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Task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Both 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160520"/>
            <a:ext cx="11457432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Interference Problem in 3D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5486400" cy="2121408"/>
          </a:xfrm>
          <a:prstGeom prst="rect">
            <a:avLst/>
          </a:prstGeom>
          <a:solidFill>
            <a:srgbClr val="FFF3E0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599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</a:rPr>
              <a:t>Assignment module says: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56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"Fly directly toward your assigned target now"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400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But has no knowledge of which other drone pairs are in a conflict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7044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360C"/>
                </a:solidFill>
              </a:rPr>
              <a:t>In 3D: a drone assigned a target directly above it is on a vertical collision course with a descending drone — assignment module does not see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572000"/>
            <a:ext cx="5623560" cy="2121408"/>
          </a:xfrm>
          <a:prstGeom prst="rect">
            <a:avLst/>
          </a:prstGeom>
          <a:solidFill>
            <a:srgbClr val="DFE9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599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Conflict graph says: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9560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"Change your course — collision predicted"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34009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But has no knowledge of what the current target assignment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87044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Rerouting causes course deviations that may pull drones away from their assigned targets, creating oscillation or mission failure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Question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1457432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26464"/>
            <a:ext cx="110916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A500"/>
                </a:solidFill>
              </a:rPr>
              <a:t>Will a single MAPPO policy trained with a conflict-aware interaction graph and assignment-augmented observation successfully navigate 5-8 UAVs to dynamically assigned missions in a 3D environment with mission success above 85%, and do the two mechanisms help or hinder each other?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52928"/>
            <a:ext cx="1145743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8529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Four Research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12344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337560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337560"/>
            <a:ext cx="10177272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410712"/>
            <a:ext cx="9994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Design a combined observation vector that encodes both Hungarian assignment state and conflict-aware neighborhood for each drone inside a single 3D MAPPO policy.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78808"/>
            <a:ext cx="1234440" cy="7132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178808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4178808"/>
            <a:ext cx="10177272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4251960"/>
            <a:ext cx="9994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Evaluate the framework with 3, 5, and 8 drones to quantify how performance scales with increasing simultaneous assignment-conflict interactions.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20056"/>
            <a:ext cx="1234440" cy="71323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020056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5020056"/>
            <a:ext cx="10177272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5093208"/>
            <a:ext cx="9994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Run controlled ablation experiments isolating the contribution of the conflict graph, the assignment mechanism, and the 3D extension independently and in combination.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61304"/>
            <a:ext cx="1234440" cy="71323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861304"/>
            <a:ext cx="1234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5861304"/>
            <a:ext cx="10177272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5934456"/>
            <a:ext cx="9994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Map the failure boundary: the region of swarm size, obstacle density, and target speed where the combined policy fails, and characterize the mode of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Proposed Methodology: Framework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A unified observation encoding assignment state and conflict neighborhood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5303520" cy="5257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530352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Combined Observation Vector per Drone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50292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847088"/>
            <a:ext cx="4572000" cy="1005840"/>
          </a:xfrm>
          <a:prstGeom prst="rect">
            <a:avLst/>
          </a:prstGeom>
          <a:solidFill>
            <a:srgbClr val="F4F6FB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Own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249424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3D position (x, y, z) + velocity vector + current heading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0292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017520"/>
            <a:ext cx="4572000" cy="1005840"/>
          </a:xfrm>
          <a:prstGeom prst="rect">
            <a:avLst/>
          </a:prstGeom>
          <a:solidFill>
            <a:srgbClr val="F4F6FB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054096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Assignment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419856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3D relative vector to assigned target
Output of Hungarian algorithm — updated every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87952"/>
            <a:ext cx="502920" cy="10058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87952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187952"/>
            <a:ext cx="4572000" cy="1005840"/>
          </a:xfrm>
          <a:prstGeom prst="rect">
            <a:avLst/>
          </a:prstGeom>
          <a:solidFill>
            <a:srgbClr val="F4F6FB"/>
          </a:solidFill>
          <a:ln w="1016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224528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60C"/>
                </a:solidFill>
              </a:rPr>
              <a:t>Conflict Neighborhood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590288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Positions and velocities of drones predicted
to collide with me (sparse conflict graph output)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58383"/>
            <a:ext cx="502920" cy="100584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58383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358383"/>
            <a:ext cx="4572000" cy="1005840"/>
          </a:xfrm>
          <a:prstGeom prst="rect">
            <a:avLst/>
          </a:prstGeom>
          <a:solidFill>
            <a:srgbClr val="F4F6FB"/>
          </a:solidFill>
          <a:ln w="1016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394959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</a:rPr>
              <a:t>Obstacle Proximity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760720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Distance readings in 6 cardinal directions:
North, South, East, West, Up, Down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389888"/>
            <a:ext cx="5989320" cy="5257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1389888"/>
            <a:ext cx="598932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1389888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Framework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874519"/>
            <a:ext cx="55321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874519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3D Simulation Environment (PyBullet)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37743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532887"/>
            <a:ext cx="55321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532887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Hungarian Algorithm (per step) → Assignment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035807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191256"/>
            <a:ext cx="5532120" cy="5029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3191256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Conflict Graph (per step) → Neighbors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69417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849624"/>
            <a:ext cx="55321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849624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Combined Observation Vector (4 parts)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35254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4507992"/>
            <a:ext cx="553212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4507992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MAPPO Actor Network (per drone, local obs.)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501091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5166359"/>
            <a:ext cx="553212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5166359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3D Velocity Action Executed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66927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5824728"/>
            <a:ext cx="55321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5824728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MAPPO Centralized Critic (training only)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Training Strategy: 4-Stage Curriculum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Validated by both DA-MAPPO and IGAT-MARL — difficulty increases progressively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11457432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572"/>
                <a:gridCol w="1909572"/>
                <a:gridCol w="1909572"/>
                <a:gridCol w="1909572"/>
                <a:gridCol w="1909572"/>
                <a:gridCol w="1909572"/>
              </a:tblGrid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Drones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Obstacles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Environment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1
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Static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3D —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Replicate DA-MAPPO in 3D; establish validation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
Interaction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Moving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30-40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3D — moderate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First exposure to combined assignment-conflict interference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
Full 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40-50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3D — high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Maximum simultaneous interference; primary experiment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4
Generalization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3-8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Dynamic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Mixed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3D — unseen configs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Test transfer to swarm sizes not seen during training</a:t>
                      </a:r>
                    </a:p>
                  </a:txBody>
                  <a:tcPr>
                    <a:solidFill>
                      <a:srgbClr val="DFE9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297680"/>
            <a:ext cx="1145743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Curriculum Learning?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76072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57607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7091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Justification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Avoids catastrophic policy failure when exposed to hard cases too early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Both DA-MAPPO and IGAT-MARL independently validated this strategy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Difficulty is increased only when the policy converges at the current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709160"/>
            <a:ext cx="557784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4709160"/>
            <a:ext cx="557784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7091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Simulation &amp;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5074920"/>
            <a:ext cx="53949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Simulator: PyBullet (open-source 3D physics engine)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Policy framework: PyTorch MAPPO implementation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Hardware: Training on GPU; inference tested on CPU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All tools open-source — fully reproducible experiments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Controlled experiments across swarm sizes, obstacle densities, and baselines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27432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Primary 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27432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Mission Success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% of episodes where ALL drones reach their targets with zero collisions within the time 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89888"/>
            <a:ext cx="41148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3898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Secondary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Inter-drone collision count per episode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Obstacle collision count per episode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Target reassignments per episode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Average trajectory length per drone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1389888"/>
            <a:ext cx="425196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389888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Configurations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35240" y="1783080"/>
          <a:ext cx="42519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Swarm Sizes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Obstacle Densities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3, 5, 8 drones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30, 40, 50 obstacles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635240" y="267004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= 9 conditions × 4 baselines = 36 experiment runs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63240"/>
            <a:ext cx="1145743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06324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Four Controlled Baselines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93008"/>
            <a:ext cx="2816352" cy="32186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493008"/>
            <a:ext cx="28163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49300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B1: Standard MAPPO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1363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MAPPO with no assignment mechanism and no conflict graph.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5166360"/>
            <a:ext cx="2679192" cy="45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30368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Measures: how much does each mechanism contribute individually?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3493008"/>
            <a:ext cx="2816352" cy="32186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0128" y="3493008"/>
            <a:ext cx="2816352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49300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B2: DA-MAPPO ported to 3D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391363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Assignment only, no conflict graph, extended to 3D.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5166360"/>
            <a:ext cx="2679192" cy="45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5230368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Measures: what does the conflict graph add over assignment alone?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4496" y="3493008"/>
            <a:ext cx="2816352" cy="3218688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3493008"/>
            <a:ext cx="2816352" cy="3657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349300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B3: IGAT-MARL + fixed assignment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391363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Conflict graph only, assignment is fixed at episode start.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7648" y="5166360"/>
            <a:ext cx="2679192" cy="45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5230368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Measures: what does dynamic reassignment add over fixed assignment?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98864" y="3493008"/>
            <a:ext cx="2816352" cy="3218688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98864" y="3493008"/>
            <a:ext cx="2816352" cy="3657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2016" y="349300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B4: Original 2D DA-MAPPO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391363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Exact replication of Sheng et al. in 2D.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72016" y="5166360"/>
            <a:ext cx="2679192" cy="45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0304" y="5230368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Measures: does this research reproduce the original results?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Expected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What this research will add to the field of multi-UAV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658368" cy="11155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6583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1389888"/>
            <a:ext cx="1074420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35608"/>
            <a:ext cx="10543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First Combined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10543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The first architecture that integrates dynamic target assignment (Hungarian algorithm) and conflict-aware collision avoidance (sparse interaction graph) into a single MARL policy for multi-UAV coordination.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10543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Impact: Fills the gap documented by both DA-MAPPO and IGAT-MARL in their own future work sections.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88336"/>
            <a:ext cx="658368" cy="11155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88336"/>
            <a:ext cx="6583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" y="2688336"/>
            <a:ext cx="1074420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734056"/>
            <a:ext cx="10543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First Empirical Evidence in 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81528"/>
            <a:ext cx="10543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The first experimental results measuring whether assignment and collision-avoidance mechanisms cooperate or compete when both are encoded in the same observation vector inside a 3D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10543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Impact: Answers a question that no prior work has addressed, despite 3D being the real deployment environment.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86783"/>
            <a:ext cx="658368" cy="111556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86783"/>
            <a:ext cx="6583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3986783"/>
            <a:ext cx="1074420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032503"/>
            <a:ext cx="10543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360C"/>
                </a:solidFill>
              </a:rPr>
              <a:t>Unified Observation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79975"/>
            <a:ext cx="10543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 reusable observation vector design that encodes assignment state, conflict neighborhood, own state, and obstacle proximity — applicable to future multi-UAV coordination research.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91455"/>
            <a:ext cx="10543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Impact: Provides a principled starting point for researchers extending this work to larger swarms or real hardware.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85231"/>
            <a:ext cx="658368" cy="11155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285231"/>
            <a:ext cx="6583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" y="5285231"/>
            <a:ext cx="1074420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330951"/>
            <a:ext cx="10543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148C"/>
                </a:solidFill>
              </a:rPr>
              <a:t>Failure Boundary Characterization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3"/>
            <a:ext cx="10543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 systematic map of where and how the combined policy fails — across swarm sizes, obstacle densities, and target speeds — with characterization of the failure mode.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089903"/>
            <a:ext cx="10543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Impact: This boundary is as scientifically valuable as success: it tells future researchers exactly where to focus next.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57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Papers reviewed in this research (papers present in study folder)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[1]  J. Tang, Y. Liang &amp; K. Li, "Dynamic scene path planning of UAVs based on deep reinforcement learning," Drones, vol. 8, no. 2, p. 60, 2024.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78024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[2]  X. Kong, Y. Zhou, Z. Li &amp; S. Wang, "Multi-UAV simultaneous target assignment and path planning based on DRL," Front. Neurorobot., vol. 17, p. 1302898, 2024.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01568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[3]  R. Jarray, I. Zaghbani &amp; S. Bouallègue, "Dynamic reward-based DRL algorithm for UAV path planning in large-scale environments," Procedia Comput. Sci., vol. 270, pp. 692-702, 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70832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16552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[4]  Y. Zhang et al., "Large-scale UAV swarm path planning based on mean-field reinforcement learning," Chin. J. Aeronaut., vol. 38, no. 9, p. 103484, 2025.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340096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385816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[6]  Y. Xu et al., "Scalable UAV multi-hop networking via multi-agent reinforcement learning with large language models," arXiv:2505.08448, 2026.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463040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8796" y="1508760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[7]  Y. Wang et al., "RALLY: Role-adaptive LLM-driven yoked navigation for agentic UAV swarms," IEEE Open J. Veh. Technol., vol. 6, 2025.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2432304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2478024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[8]  M. S. Khan et al., "Beyond single-framework architectures: A systematic evaluation and hybrid design for scalable multi-agent coordination," IEEE Access, vol. 14, 2026.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401568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3447288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[9]  M. R. Rezaee et al., "Efficient multi-agent DRL algorithm for multi-UAV collision avoidance," Appl. Soft Comput., vol. 197, p. 115145, 2026.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4370832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8796" y="4416552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[10] Y. Sheng, X. Xie, H. Liu &amp; J. Li, "Dynamic target assignment and cooperative decision-making for UAV swarms based on MARL," IEEE Internet Things J., 2026.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5340096"/>
            <a:ext cx="5591556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5385816"/>
            <a:ext cx="54086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[11] S. Govinda, B. Brik &amp; S. Harous, "A survey on deep reinforcement learning applications in autonomous systems," IEEE Trans. Intell. Transp. Syst., vol. 26, no. 7, 2025.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566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20440"/>
            <a:ext cx="12188952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A500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9445752" cy="47548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445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First study of assignment-avoidance interference in 3D multi-UAV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Ayesha Khalil   |   SP25-RCS-009</a:t>
            </a:r>
          </a:p>
          <a:p>
            <a:pPr algn="ctr"/>
            <a:r>
              <a:rPr sz="1400" b="0">
                <a:solidFill>
                  <a:srgbClr val="DFE9F7"/>
                </a:solidFill>
              </a:rPr>
              <a:t>MS Computer Science — COMSATS University Islamabad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