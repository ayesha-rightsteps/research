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79" r:id="rId3"/>
    <p:sldId id="284" r:id="rId4"/>
    <p:sldId id="280" r:id="rId5"/>
    <p:sldId id="285" r:id="rId6"/>
    <p:sldId id="283" r:id="rId7"/>
    <p:sldId id="266" r:id="rId8"/>
    <p:sldId id="281" r:id="rId9"/>
    <p:sldId id="270" r:id="rId10"/>
    <p:sldId id="272" r:id="rId11"/>
    <p:sldId id="275" r:id="rId12"/>
    <p:sldId id="277" r:id="rId13"/>
    <p:sldId id="273" r:id="rId14"/>
  </p:sldIdLst>
  <p:sldSz cx="18288000" cy="10287000"/>
  <p:notesSz cx="6858000" cy="9144000"/>
  <p:embeddedFontLst>
    <p:embeddedFont>
      <p:font typeface="Quicksand" charset="0"/>
      <p:regular r:id="rId16"/>
    </p:embeddedFont>
    <p:embeddedFont>
      <p:font typeface="Calibri" pitchFamily="34" charset="0"/>
      <p:regular r:id="rId17"/>
      <p:bold r:id="rId18"/>
      <p:italic r:id="rId19"/>
      <p:boldItalic r:id="rId20"/>
    </p:embeddedFont>
    <p:embeddedFont>
      <p:font typeface="Quicksand Bold" charset="0"/>
      <p:regular r:id="rId21"/>
    </p:embeddedFont>
    <p:embeddedFont>
      <p:font typeface="Cormorant Garamond Bold Italics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22" autoAdjust="0"/>
  </p:normalViewPr>
  <p:slideViewPr>
    <p:cSldViewPr>
      <p:cViewPr>
        <p:scale>
          <a:sx n="70" d="100"/>
          <a:sy n="70" d="100"/>
        </p:scale>
        <p:origin x="-810" y="-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33D9B6-710E-4D6C-9EA5-0CDA505414E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8928C7-EF36-4729-B661-7DB4B1EB9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085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8928C7-EF36-4729-B661-7DB4B1EB978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594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8928C7-EF36-4729-B661-7DB4B1EB978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43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8928C7-EF36-4729-B661-7DB4B1EB978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437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Font typeface="+mj-lt"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8928C7-EF36-4729-B661-7DB4B1EB978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8443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8928C7-EF36-4729-B661-7DB4B1EB978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39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BD7D-636E-47B5-8CBE-94FFF162D53D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C2B61-05C3-4733-9619-1005792F99B2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74CA2-85AC-4063-93EF-826CA8DC37A8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2C7B-63B1-437C-9480-6EABCF5F51DE}" type="datetime1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082A7-9473-48FD-9045-9CCD429505DF}" type="datetime1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2795F-E886-452E-B0CA-1158428146A9}" type="datetime1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505C4-5B01-44C3-A13D-5F8236978C9E}" type="datetime1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6484D-F054-49AD-89D0-FA8FF2E1E447}" type="datetime1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C83A7-8A7A-45D7-8331-6613D52F0915}" type="datetime1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C033C-6744-4355-AF7C-82F1EC6C5D8D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6D509-1A67-4C05-A517-31BBF08B9998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258B3D-20B4-46BC-B4CF-A628E02DD4CA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3764" y="1732224"/>
            <a:ext cx="16229942" cy="406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spcBef>
                <a:spcPct val="0"/>
              </a:spcBef>
            </a:pPr>
            <a:r>
              <a:rPr lang="en-US" sz="8800" b="1" i="1" dirty="0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Counterfactual TD3-Based Resource Allocation for ISAC-Aided Vehicular Edge Computing</a:t>
            </a:r>
          </a:p>
        </p:txBody>
      </p:sp>
      <p:sp>
        <p:nvSpPr>
          <p:cNvPr id="3" name="AutoShape 3"/>
          <p:cNvSpPr/>
          <p:nvPr/>
        </p:nvSpPr>
        <p:spPr>
          <a:xfrm>
            <a:off x="9158735" y="990600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043764" y="9296400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9618706" y="9037492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943600" y="7102277"/>
            <a:ext cx="11963400" cy="1744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6844"/>
              </a:lnSpc>
              <a:spcBef>
                <a:spcPct val="0"/>
              </a:spcBef>
            </a:pPr>
            <a:r>
              <a:rPr lang="en-US" sz="4889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By </a:t>
            </a:r>
            <a:r>
              <a:rPr lang="en-US" sz="4889" b="1" dirty="0" err="1" smtClean="0">
                <a:solidFill>
                  <a:srgbClr val="0F4662"/>
                </a:solidFill>
                <a:latin typeface="Quicksand Bold"/>
                <a:ea typeface="Quicksand"/>
                <a:cs typeface="Quicksand"/>
                <a:sym typeface="Quicksand Bold"/>
              </a:rPr>
              <a:t>Areeba</a:t>
            </a:r>
            <a:r>
              <a:rPr lang="en-US" sz="4889" b="1" dirty="0" smtClean="0">
                <a:solidFill>
                  <a:srgbClr val="0F4662"/>
                </a:solidFill>
                <a:latin typeface="Quicksand Bold"/>
                <a:ea typeface="Quicksand"/>
                <a:cs typeface="Quicksand"/>
                <a:sym typeface="Quicksand Bold"/>
              </a:rPr>
              <a:t> </a:t>
            </a:r>
            <a:r>
              <a:rPr lang="en-US" sz="4889" b="1" dirty="0" err="1" smtClean="0">
                <a:solidFill>
                  <a:srgbClr val="0F4662"/>
                </a:solidFill>
                <a:latin typeface="Quicksand Bold"/>
                <a:ea typeface="Quicksand"/>
                <a:cs typeface="Quicksand"/>
                <a:sym typeface="Quicksand Bold"/>
              </a:rPr>
              <a:t>Sarfraz</a:t>
            </a:r>
            <a:endParaRPr lang="en-US" sz="4889" b="1" dirty="0">
              <a:solidFill>
                <a:srgbClr val="0F4662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  <a:p>
            <a:pPr lvl="0">
              <a:lnSpc>
                <a:spcPts val="6844"/>
              </a:lnSpc>
              <a:spcBef>
                <a:spcPct val="0"/>
              </a:spcBef>
            </a:pPr>
            <a:r>
              <a:rPr lang="en-US" sz="4889" dirty="0">
                <a:solidFill>
                  <a:srgbClr val="0F4662"/>
                </a:solidFill>
                <a:latin typeface="Quicksand"/>
                <a:sym typeface="Quicksand Bold"/>
              </a:rPr>
              <a:t>Supervisor</a:t>
            </a:r>
            <a:r>
              <a:rPr lang="en-US" sz="4889" b="1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: DR. </a:t>
            </a:r>
            <a:r>
              <a:rPr lang="en-US" sz="4889" b="1" dirty="0" err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Sardar</a:t>
            </a:r>
            <a:r>
              <a:rPr lang="en-US" sz="4889" b="1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sz="4889" b="1" dirty="0" err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Khaliq</a:t>
            </a:r>
            <a:r>
              <a:rPr lang="en-US" sz="4889" b="1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U </a:t>
            </a:r>
            <a:r>
              <a:rPr lang="en-US" sz="4889" b="1" dirty="0" err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Zaman</a:t>
            </a:r>
            <a:endParaRPr lang="en-US" sz="4889" b="1" dirty="0">
              <a:solidFill>
                <a:srgbClr val="0F4662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5646742" y="807892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BF714DEC-D47E-3BF4-007F-01893E1954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" y="243962"/>
            <a:ext cx="1609642" cy="147053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7D1730E1-CE88-71B2-542F-1F37790DD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xmlns="" id="{FC09F4EC-9EF9-E420-F374-A971C9D13B4B}"/>
              </a:ext>
            </a:extLst>
          </p:cNvPr>
          <p:cNvSpPr txBox="1"/>
          <p:nvPr/>
        </p:nvSpPr>
        <p:spPr>
          <a:xfrm>
            <a:off x="1929707" y="8953500"/>
            <a:ext cx="13182600" cy="7325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20000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0F4662"/>
                </a:solidFill>
                <a:latin typeface="Quicksand"/>
              </a:rPr>
              <a:t>Goal </a:t>
            </a:r>
            <a:r>
              <a:rPr lang="en-US" sz="2800" b="1" dirty="0" smtClean="0">
                <a:solidFill>
                  <a:srgbClr val="0F4662"/>
                </a:solidFill>
                <a:latin typeface="Quicksand"/>
              </a:rPr>
              <a:t>: </a:t>
            </a:r>
            <a:r>
              <a:rPr lang="en-US" sz="2400" dirty="0" smtClean="0">
                <a:solidFill>
                  <a:srgbClr val="0F4662"/>
                </a:solidFill>
                <a:latin typeface="Quicksand"/>
              </a:rPr>
              <a:t>Enable </a:t>
            </a:r>
            <a:r>
              <a:rPr lang="en-US" sz="2400" dirty="0">
                <a:solidFill>
                  <a:srgbClr val="0F4662"/>
                </a:solidFill>
                <a:latin typeface="Quicksand"/>
              </a:rPr>
              <a:t>seamless information exchange between vehicles and their surroundings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xmlns="" id="{9DF4E4B3-3AFD-62D6-31D5-61A1CB662E4E}"/>
              </a:ext>
            </a:extLst>
          </p:cNvPr>
          <p:cNvSpPr/>
          <p:nvPr/>
        </p:nvSpPr>
        <p:spPr>
          <a:xfrm>
            <a:off x="0" y="474759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xmlns="" id="{59DEC57B-4A6E-5BA5-C68F-A5073B8AE26E}"/>
              </a:ext>
            </a:extLst>
          </p:cNvPr>
          <p:cNvSpPr txBox="1"/>
          <p:nvPr/>
        </p:nvSpPr>
        <p:spPr>
          <a:xfrm>
            <a:off x="1028700" y="599709"/>
            <a:ext cx="13906500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8959"/>
              </a:lnSpc>
              <a:spcBef>
                <a:spcPct val="0"/>
              </a:spcBef>
            </a:pPr>
            <a:r>
              <a:rPr lang="en-US" sz="6399" b="1" i="1" dirty="0" smtClean="0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Introduction </a:t>
            </a:r>
            <a:r>
              <a:rPr lang="en-US" sz="6399" b="1" i="1" dirty="0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to </a:t>
            </a:r>
            <a:r>
              <a:rPr lang="en-US" sz="6399" b="1" i="1" dirty="0" smtClean="0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6G and V2X </a:t>
            </a:r>
            <a:r>
              <a:rPr lang="en-US" sz="6399" b="1" i="1" dirty="0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Communication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xmlns="" id="{F9A84C92-CD10-99D3-2A7F-AF6283EE9667}"/>
              </a:ext>
            </a:extLst>
          </p:cNvPr>
          <p:cNvSpPr/>
          <p:nvPr/>
        </p:nvSpPr>
        <p:spPr>
          <a:xfrm>
            <a:off x="16608003" y="9382785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8E70C94-F6B6-64A0-1F6F-53E49CDC8C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4479" y="1943100"/>
            <a:ext cx="13393057" cy="7076499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FA5A84A2-A91B-C343-733D-BC1264FE9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48001" y="9791700"/>
            <a:ext cx="838200" cy="365125"/>
          </a:xfrm>
        </p:spPr>
        <p:txBody>
          <a:bodyPr/>
          <a:lstStyle/>
          <a:p>
            <a:r>
              <a:rPr lang="en-US" sz="2400" b="1" dirty="0">
                <a:latin typeface="Quicksand" panose="020B060402020202020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6389803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7D1730E1-CE88-71B2-542F-1F37790DD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xmlns="" id="{FC09F4EC-9EF9-E420-F374-A971C9D13B4B}"/>
              </a:ext>
            </a:extLst>
          </p:cNvPr>
          <p:cNvSpPr txBox="1"/>
          <p:nvPr/>
        </p:nvSpPr>
        <p:spPr>
          <a:xfrm>
            <a:off x="1952170" y="8775227"/>
            <a:ext cx="14354629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20000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0F4662"/>
                </a:solidFill>
                <a:latin typeface="Quicksand"/>
              </a:rPr>
              <a:t>Goal </a:t>
            </a:r>
            <a:r>
              <a:rPr lang="en-US" sz="2800" b="1" dirty="0" smtClean="0">
                <a:solidFill>
                  <a:srgbClr val="0F4662"/>
                </a:solidFill>
                <a:latin typeface="Quicksand"/>
              </a:rPr>
              <a:t>: </a:t>
            </a:r>
            <a:r>
              <a:rPr lang="en-US" sz="2400" dirty="0" smtClean="0">
                <a:solidFill>
                  <a:srgbClr val="0F4662"/>
                </a:solidFill>
                <a:latin typeface="Quicksand"/>
              </a:rPr>
              <a:t>Integrate </a:t>
            </a:r>
            <a:r>
              <a:rPr lang="en-US" sz="2400" dirty="0">
                <a:solidFill>
                  <a:srgbClr val="0F4662"/>
                </a:solidFill>
                <a:latin typeface="Quicksand"/>
              </a:rPr>
              <a:t>sensing, communication, and edge computing for intelligent vehicular networks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xmlns="" id="{9DF4E4B3-3AFD-62D6-31D5-61A1CB662E4E}"/>
              </a:ext>
            </a:extLst>
          </p:cNvPr>
          <p:cNvSpPr/>
          <p:nvPr/>
        </p:nvSpPr>
        <p:spPr>
          <a:xfrm>
            <a:off x="0" y="474759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xmlns="" id="{F9A84C92-CD10-99D3-2A7F-AF6283EE9667}"/>
              </a:ext>
            </a:extLst>
          </p:cNvPr>
          <p:cNvSpPr/>
          <p:nvPr/>
        </p:nvSpPr>
        <p:spPr>
          <a:xfrm>
            <a:off x="16608003" y="9382785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FA5A84A2-A91B-C343-733D-BC1264FE9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48001" y="9791700"/>
            <a:ext cx="838200" cy="365125"/>
          </a:xfrm>
        </p:spPr>
        <p:txBody>
          <a:bodyPr/>
          <a:lstStyle/>
          <a:p>
            <a:r>
              <a:rPr lang="en-US" sz="2400" b="1" dirty="0" smtClean="0">
                <a:latin typeface="Quicksand" panose="020B0604020202020204" charset="0"/>
              </a:rPr>
              <a:t>2</a:t>
            </a:r>
            <a:endParaRPr lang="en-US" sz="2400" b="1" dirty="0">
              <a:latin typeface="Quicksand" panose="020B06040202020202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0" r="961" b="18818"/>
          <a:stretch/>
        </p:blipFill>
        <p:spPr>
          <a:xfrm>
            <a:off x="2683354" y="1714082"/>
            <a:ext cx="12892259" cy="7132320"/>
          </a:xfrm>
          <a:prstGeom prst="rect">
            <a:avLst/>
          </a:prstGeom>
        </p:spPr>
      </p:pic>
      <p:sp>
        <p:nvSpPr>
          <p:cNvPr id="10" name="TextBox 6">
            <a:extLst>
              <a:ext uri="{FF2B5EF4-FFF2-40B4-BE49-F238E27FC236}">
                <a16:creationId xmlns:a16="http://schemas.microsoft.com/office/drawing/2014/main" xmlns="" id="{59DEC57B-4A6E-5BA5-C68F-A5073B8AE26E}"/>
              </a:ext>
            </a:extLst>
          </p:cNvPr>
          <p:cNvSpPr txBox="1"/>
          <p:nvPr/>
        </p:nvSpPr>
        <p:spPr>
          <a:xfrm>
            <a:off x="1028700" y="599709"/>
            <a:ext cx="13906500" cy="1099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8959"/>
              </a:lnSpc>
              <a:spcBef>
                <a:spcPct val="0"/>
              </a:spcBef>
            </a:pPr>
            <a:r>
              <a:rPr lang="en-US" sz="6399" b="1" i="1" dirty="0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ISAC-Aided VEC </a:t>
            </a:r>
          </a:p>
        </p:txBody>
      </p:sp>
    </p:spTree>
    <p:extLst>
      <p:ext uri="{BB962C8B-B14F-4D97-AF65-F5344CB8AC3E}">
        <p14:creationId xmlns:p14="http://schemas.microsoft.com/office/powerpoint/2010/main" val="20671777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E88229A9-45D5-0BC7-2566-66F1533D2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xmlns="" id="{D8C8521C-E1E4-112B-9E1A-210E1644EFE5}"/>
              </a:ext>
            </a:extLst>
          </p:cNvPr>
          <p:cNvSpPr/>
          <p:nvPr/>
        </p:nvSpPr>
        <p:spPr>
          <a:xfrm>
            <a:off x="0" y="474759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xmlns="" id="{5BD1876D-FCDC-60DC-8082-074C5629A5AB}"/>
              </a:ext>
            </a:extLst>
          </p:cNvPr>
          <p:cNvSpPr txBox="1"/>
          <p:nvPr/>
        </p:nvSpPr>
        <p:spPr>
          <a:xfrm>
            <a:off x="1028700" y="463081"/>
            <a:ext cx="8048163" cy="1099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 dirty="0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Introduction Cont.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xmlns="" id="{ED5C0CE3-9C54-0D3F-F4E1-E2945E38047C}"/>
              </a:ext>
            </a:extLst>
          </p:cNvPr>
          <p:cNvSpPr/>
          <p:nvPr/>
        </p:nvSpPr>
        <p:spPr>
          <a:xfrm>
            <a:off x="16608003" y="9382785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35D693F8-028D-7862-0C99-C3A39F24FFA1}"/>
              </a:ext>
            </a:extLst>
          </p:cNvPr>
          <p:cNvSpPr txBox="1"/>
          <p:nvPr/>
        </p:nvSpPr>
        <p:spPr>
          <a:xfrm>
            <a:off x="1219200" y="1742599"/>
            <a:ext cx="15125700" cy="812530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 smtClean="0">
                <a:solidFill>
                  <a:srgbClr val="0F4662"/>
                </a:solidFill>
                <a:latin typeface="Quicksand"/>
              </a:rPr>
              <a:t>The </a:t>
            </a:r>
            <a:r>
              <a:rPr lang="en-US" sz="3200" b="1" dirty="0">
                <a:solidFill>
                  <a:srgbClr val="0F4662"/>
                </a:solidFill>
                <a:latin typeface="Quicksand"/>
              </a:rPr>
              <a:t>Resource Allocation Challenge</a:t>
            </a:r>
            <a:endParaRPr lang="en-US" sz="3200" b="1" dirty="0" smtClean="0">
              <a:solidFill>
                <a:srgbClr val="0F4662"/>
              </a:solidFill>
              <a:latin typeface="Quicksand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rgbClr val="0F4662"/>
                </a:solidFill>
                <a:latin typeface="Quicksand"/>
              </a:rPr>
              <a:t>Decisions</a:t>
            </a:r>
            <a:r>
              <a:rPr lang="en-US" sz="2400" b="1" dirty="0">
                <a:solidFill>
                  <a:srgbClr val="0F4662"/>
                </a:solidFill>
                <a:latin typeface="Quicksand"/>
              </a:rPr>
              <a:t>: </a:t>
            </a:r>
            <a:r>
              <a:rPr lang="en-US" sz="2400" dirty="0">
                <a:solidFill>
                  <a:srgbClr val="0F4662"/>
                </a:solidFill>
                <a:latin typeface="Quicksand"/>
              </a:rPr>
              <a:t>Power, channel, user association, task </a:t>
            </a:r>
            <a:r>
              <a:rPr lang="en-US" sz="2400" dirty="0" smtClean="0">
                <a:solidFill>
                  <a:srgbClr val="0F4662"/>
                </a:solidFill>
                <a:latin typeface="Quicksand"/>
              </a:rPr>
              <a:t>offloading</a:t>
            </a:r>
            <a:endParaRPr lang="en-US" sz="2400" dirty="0">
              <a:solidFill>
                <a:srgbClr val="0F4662"/>
              </a:solidFill>
              <a:latin typeface="Quicksand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F4662"/>
                </a:solidFill>
                <a:latin typeface="Quicksand"/>
              </a:rPr>
              <a:t>Challenges: </a:t>
            </a:r>
            <a:r>
              <a:rPr lang="en-US" sz="2400" dirty="0">
                <a:solidFill>
                  <a:srgbClr val="0F4662"/>
                </a:solidFill>
                <a:latin typeface="Quicksand"/>
              </a:rPr>
              <a:t>High mobility, fluctuating channels, dynamic </a:t>
            </a:r>
            <a:r>
              <a:rPr lang="en-US" sz="2400" dirty="0" smtClean="0">
                <a:solidFill>
                  <a:srgbClr val="0F4662"/>
                </a:solidFill>
                <a:latin typeface="Quicksand"/>
              </a:rPr>
              <a:t>interference</a:t>
            </a:r>
          </a:p>
          <a:p>
            <a:pPr>
              <a:lnSpc>
                <a:spcPct val="150000"/>
              </a:lnSpc>
            </a:pPr>
            <a:endParaRPr lang="en-US" sz="2400" dirty="0" smtClean="0">
              <a:solidFill>
                <a:srgbClr val="0F4662"/>
              </a:solidFill>
              <a:latin typeface="Quicksand"/>
            </a:endParaRPr>
          </a:p>
          <a:p>
            <a:pPr>
              <a:lnSpc>
                <a:spcPct val="150000"/>
              </a:lnSpc>
            </a:pPr>
            <a:r>
              <a:rPr lang="en-US" sz="3200" b="1" dirty="0" smtClean="0">
                <a:solidFill>
                  <a:srgbClr val="0F4662"/>
                </a:solidFill>
                <a:latin typeface="Quicksand"/>
              </a:rPr>
              <a:t>Limitation </a:t>
            </a:r>
            <a:r>
              <a:rPr lang="en-US" sz="3200" b="1" dirty="0">
                <a:solidFill>
                  <a:srgbClr val="0F4662"/>
                </a:solidFill>
                <a:latin typeface="Quicksand"/>
              </a:rPr>
              <a:t>of Existing DRL </a:t>
            </a:r>
            <a:endParaRPr lang="en-US" sz="3200" b="1" dirty="0" smtClean="0">
              <a:solidFill>
                <a:srgbClr val="0F4662"/>
              </a:solidFill>
              <a:latin typeface="Quicksand"/>
            </a:endParaRP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0F4662"/>
                </a:solidFill>
                <a:latin typeface="Quicksand"/>
              </a:rPr>
              <a:t>❌ Learns from correlations, not causation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0F4662"/>
                </a:solidFill>
                <a:latin typeface="Quicksand"/>
              </a:rPr>
              <a:t>❌ </a:t>
            </a:r>
            <a:r>
              <a:rPr lang="en-US" sz="2400" dirty="0">
                <a:solidFill>
                  <a:srgbClr val="0F4662"/>
                </a:solidFill>
                <a:latin typeface="Quicksand"/>
              </a:rPr>
              <a:t>Cannot distinguish true causal effects from hidden confounders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F4662"/>
                </a:solidFill>
                <a:latin typeface="Quicksand"/>
              </a:rPr>
              <a:t>❌ Results: High variance, poor efficiency, unstable </a:t>
            </a:r>
            <a:r>
              <a:rPr lang="en-US" sz="2400" dirty="0" smtClean="0">
                <a:solidFill>
                  <a:srgbClr val="0F4662"/>
                </a:solidFill>
                <a:latin typeface="Quicksand"/>
              </a:rPr>
              <a:t>performance</a:t>
            </a:r>
          </a:p>
          <a:p>
            <a:pPr>
              <a:lnSpc>
                <a:spcPct val="150000"/>
              </a:lnSpc>
            </a:pPr>
            <a:endParaRPr lang="en-US" sz="2400" dirty="0" smtClean="0">
              <a:solidFill>
                <a:srgbClr val="0F4662"/>
              </a:solidFill>
              <a:latin typeface="Quicksand"/>
            </a:endParaRP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0F4662"/>
                </a:solidFill>
                <a:latin typeface="Quicksand"/>
              </a:rPr>
              <a:t>Our Contribution: </a:t>
            </a:r>
            <a:r>
              <a:rPr lang="en-US" sz="3200" b="1" dirty="0" smtClean="0">
                <a:solidFill>
                  <a:srgbClr val="0F4662"/>
                </a:solidFill>
                <a:latin typeface="Quicksand"/>
              </a:rPr>
              <a:t>CF-TD3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F4662"/>
                </a:solidFill>
                <a:latin typeface="Quicksand"/>
              </a:rPr>
              <a:t>✅ Integrates counterfactual reasoning into </a:t>
            </a:r>
            <a:r>
              <a:rPr lang="en-US" sz="2400" dirty="0" smtClean="0">
                <a:solidFill>
                  <a:srgbClr val="0F4662"/>
                </a:solidFill>
                <a:latin typeface="Quicksand"/>
              </a:rPr>
              <a:t>TD3</a:t>
            </a:r>
            <a:endParaRPr lang="en-US" sz="2400" dirty="0">
              <a:solidFill>
                <a:srgbClr val="0F4662"/>
              </a:solidFill>
              <a:latin typeface="Quicksand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F4662"/>
                </a:solidFill>
                <a:latin typeface="Quicksand"/>
              </a:rPr>
              <a:t>✅ Answers: "What if different action was taken</a:t>
            </a:r>
            <a:r>
              <a:rPr lang="en-US" sz="2400" dirty="0" smtClean="0">
                <a:solidFill>
                  <a:srgbClr val="0F4662"/>
                </a:solidFill>
                <a:latin typeface="Quicksand"/>
              </a:rPr>
              <a:t>?"</a:t>
            </a:r>
            <a:endParaRPr lang="en-US" sz="2400" dirty="0">
              <a:solidFill>
                <a:srgbClr val="0F4662"/>
              </a:solidFill>
              <a:latin typeface="Quicksand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F4662"/>
                </a:solidFill>
                <a:latin typeface="Quicksand"/>
              </a:rPr>
              <a:t>✅ Enables causal-aware, robust, and sample-efficient allocation</a:t>
            </a:r>
          </a:p>
          <a:p>
            <a:endParaRPr lang="en-US" dirty="0"/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xmlns="" id="{C6E23128-4050-BA02-8AC1-1CBBECC21FAB}"/>
              </a:ext>
            </a:extLst>
          </p:cNvPr>
          <p:cNvSpPr txBox="1">
            <a:spLocks/>
          </p:cNvSpPr>
          <p:nvPr/>
        </p:nvSpPr>
        <p:spPr>
          <a:xfrm>
            <a:off x="17448001" y="9791700"/>
            <a:ext cx="838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latin typeface="Quicksand" panose="020B060402020202020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1164936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E88229A9-45D5-0BC7-2566-66F1533D2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xmlns="" id="{D8C8521C-E1E4-112B-9E1A-210E1644EFE5}"/>
              </a:ext>
            </a:extLst>
          </p:cNvPr>
          <p:cNvSpPr/>
          <p:nvPr/>
        </p:nvSpPr>
        <p:spPr>
          <a:xfrm>
            <a:off x="0" y="474759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xmlns="" id="{ED5C0CE3-9C54-0D3F-F4E1-E2945E38047C}"/>
              </a:ext>
            </a:extLst>
          </p:cNvPr>
          <p:cNvSpPr/>
          <p:nvPr/>
        </p:nvSpPr>
        <p:spPr>
          <a:xfrm>
            <a:off x="16608003" y="9382785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xmlns="" id="{C6E23128-4050-BA02-8AC1-1CBBECC21FAB}"/>
              </a:ext>
            </a:extLst>
          </p:cNvPr>
          <p:cNvSpPr txBox="1">
            <a:spLocks/>
          </p:cNvSpPr>
          <p:nvPr/>
        </p:nvSpPr>
        <p:spPr>
          <a:xfrm>
            <a:off x="17448001" y="9791700"/>
            <a:ext cx="838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latin typeface="Quicksand" panose="020B0604020202020204" charset="0"/>
              </a:rPr>
              <a:t>4</a:t>
            </a:r>
            <a:endParaRPr lang="en-US" sz="2400" b="1" dirty="0">
              <a:latin typeface="Quicksand" panose="020B06040202020202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73"/>
          <a:stretch/>
        </p:blipFill>
        <p:spPr>
          <a:xfrm>
            <a:off x="3352800" y="2095499"/>
            <a:ext cx="11064240" cy="6817570"/>
          </a:xfrm>
          <a:prstGeom prst="rect">
            <a:avLst/>
          </a:prstGeom>
        </p:spPr>
      </p:pic>
      <p:sp>
        <p:nvSpPr>
          <p:cNvPr id="9" name="TextBox 6">
            <a:extLst>
              <a:ext uri="{FF2B5EF4-FFF2-40B4-BE49-F238E27FC236}">
                <a16:creationId xmlns:a16="http://schemas.microsoft.com/office/drawing/2014/main" xmlns="" id="{59DEC57B-4A6E-5BA5-C68F-A5073B8AE26E}"/>
              </a:ext>
            </a:extLst>
          </p:cNvPr>
          <p:cNvSpPr txBox="1"/>
          <p:nvPr/>
        </p:nvSpPr>
        <p:spPr>
          <a:xfrm>
            <a:off x="1219200" y="800100"/>
            <a:ext cx="13906500" cy="1099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8959"/>
              </a:lnSpc>
              <a:spcBef>
                <a:spcPct val="0"/>
              </a:spcBef>
            </a:pPr>
            <a:r>
              <a:rPr lang="en-US" sz="6399" b="1" i="1" dirty="0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Counterfactual </a:t>
            </a:r>
            <a:r>
              <a:rPr lang="en-US" sz="6399" b="1" i="1" dirty="0" smtClean="0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Reasoning</a:t>
            </a:r>
            <a:endParaRPr lang="en-US" sz="6399" b="1" i="1" dirty="0">
              <a:solidFill>
                <a:srgbClr val="0F4662"/>
              </a:solidFill>
              <a:latin typeface="Cormorant Garamond Bold Italics"/>
              <a:ea typeface="Cormorant Garamond Bold Italics"/>
              <a:cs typeface="Cormorant Garamond Bold Italics"/>
              <a:sym typeface="Cormorant Garamond Bold Italics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xmlns="" id="{FC09F4EC-9EF9-E420-F374-A971C9D13B4B}"/>
              </a:ext>
            </a:extLst>
          </p:cNvPr>
          <p:cNvSpPr txBox="1"/>
          <p:nvPr/>
        </p:nvSpPr>
        <p:spPr>
          <a:xfrm>
            <a:off x="1929707" y="8953500"/>
            <a:ext cx="13182600" cy="7325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20000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0F4662"/>
                </a:solidFill>
                <a:latin typeface="Quicksand"/>
              </a:rPr>
              <a:t>Goal </a:t>
            </a:r>
            <a:r>
              <a:rPr lang="en-US" sz="2800" b="1" dirty="0" smtClean="0">
                <a:solidFill>
                  <a:srgbClr val="0F4662"/>
                </a:solidFill>
                <a:latin typeface="Quicksand"/>
              </a:rPr>
              <a:t>: </a:t>
            </a:r>
            <a:r>
              <a:rPr lang="en-US" sz="2400" dirty="0">
                <a:solidFill>
                  <a:srgbClr val="0F4662"/>
                </a:solidFill>
                <a:latin typeface="Quicksand"/>
              </a:rPr>
              <a:t>C</a:t>
            </a:r>
            <a:r>
              <a:rPr lang="en-US" sz="2400" dirty="0" smtClean="0">
                <a:solidFill>
                  <a:srgbClr val="0F4662"/>
                </a:solidFill>
                <a:latin typeface="Quicksand"/>
              </a:rPr>
              <a:t>ausal-aware</a:t>
            </a:r>
            <a:r>
              <a:rPr lang="en-US" sz="2400" dirty="0">
                <a:solidFill>
                  <a:srgbClr val="0F4662"/>
                </a:solidFill>
                <a:latin typeface="Quicksand"/>
              </a:rPr>
              <a:t>, robust, and sample-efficient allocation</a:t>
            </a:r>
            <a:endParaRPr lang="en-US" sz="2400" dirty="0">
              <a:solidFill>
                <a:srgbClr val="0F4662"/>
              </a:solidFill>
              <a:latin typeface="Quicksand"/>
            </a:endParaRPr>
          </a:p>
        </p:txBody>
      </p:sp>
    </p:spTree>
    <p:extLst>
      <p:ext uri="{BB962C8B-B14F-4D97-AF65-F5344CB8AC3E}">
        <p14:creationId xmlns:p14="http://schemas.microsoft.com/office/powerpoint/2010/main" val="162817735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1A339A77-704C-0DAC-10EC-BB81D0579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xmlns="" id="{61FA95FF-E477-3F0A-3C3F-90937DDD0C66}"/>
              </a:ext>
            </a:extLst>
          </p:cNvPr>
          <p:cNvSpPr txBox="1"/>
          <p:nvPr/>
        </p:nvSpPr>
        <p:spPr>
          <a:xfrm>
            <a:off x="3442648" y="2859524"/>
            <a:ext cx="12375065" cy="60939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0F4662"/>
                </a:solidFill>
                <a:latin typeface="Quicksand"/>
              </a:rPr>
              <a:t>ISAC-aided </a:t>
            </a:r>
            <a:r>
              <a:rPr lang="en-US" sz="2400" dirty="0">
                <a:solidFill>
                  <a:srgbClr val="0F4662"/>
                </a:solidFill>
                <a:latin typeface="Quicksand"/>
              </a:rPr>
              <a:t>VEC systems demand low-latency, energy-efficient resource allocation under high </a:t>
            </a:r>
            <a:r>
              <a:rPr lang="en-US" sz="2400" dirty="0" smtClean="0">
                <a:solidFill>
                  <a:srgbClr val="0F4662"/>
                </a:solidFill>
                <a:latin typeface="Quicksand"/>
              </a:rPr>
              <a:t>mobility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F4662"/>
              </a:solidFill>
              <a:latin typeface="Quicksand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F4662"/>
                </a:solidFill>
                <a:latin typeface="Quicksand"/>
              </a:rPr>
              <a:t>Existing DRL methods like D3QN-TD3 fail to distinguish causal effects from spurious correlations, causing high variance and poor </a:t>
            </a:r>
            <a:r>
              <a:rPr lang="en-US" sz="2400" dirty="0" smtClean="0">
                <a:solidFill>
                  <a:srgbClr val="0F4662"/>
                </a:solidFill>
                <a:latin typeface="Quicksand"/>
              </a:rPr>
              <a:t>efficiency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F4662"/>
              </a:solidFill>
              <a:latin typeface="Quicksand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F4662"/>
                </a:solidFill>
                <a:latin typeface="Quicksand"/>
              </a:rPr>
              <a:t>With rapid growth of connected vehicles by 2026, robust, causal-aware resource allocation is </a:t>
            </a:r>
            <a:r>
              <a:rPr lang="en-US" sz="2400" dirty="0" smtClean="0">
                <a:solidFill>
                  <a:srgbClr val="0F4662"/>
                </a:solidFill>
                <a:latin typeface="Quicksand"/>
              </a:rPr>
              <a:t>essential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F4662"/>
              </a:solidFill>
              <a:latin typeface="Quicksand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F4662"/>
                </a:solidFill>
                <a:latin typeface="Quicksand"/>
              </a:rPr>
              <a:t>This research proposes CF-TD3 to integrate counterfactual reasoning into ISAC-aided VEC resource allocation.</a:t>
            </a:r>
            <a:endParaRPr lang="en-US" sz="2400" dirty="0">
              <a:solidFill>
                <a:srgbClr val="0F4662"/>
              </a:solidFill>
              <a:latin typeface="Quicksand"/>
              <a:sym typeface="Quicksand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xmlns="" id="{F7F9B2CF-FBF3-851D-261F-5D621FD1E69D}"/>
              </a:ext>
            </a:extLst>
          </p:cNvPr>
          <p:cNvSpPr/>
          <p:nvPr/>
        </p:nvSpPr>
        <p:spPr>
          <a:xfrm>
            <a:off x="5897879" y="2552700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xmlns="" id="{27F7624E-6A55-6572-8042-BCFF9DEA2CB8}"/>
              </a:ext>
            </a:extLst>
          </p:cNvPr>
          <p:cNvSpPr/>
          <p:nvPr/>
        </p:nvSpPr>
        <p:spPr>
          <a:xfrm>
            <a:off x="5715000" y="9215258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xmlns="" id="{4AB8C26C-67DF-EF2F-94E9-4913D3A6862E}"/>
              </a:ext>
            </a:extLst>
          </p:cNvPr>
          <p:cNvSpPr/>
          <p:nvPr/>
        </p:nvSpPr>
        <p:spPr>
          <a:xfrm>
            <a:off x="8304001" y="2093089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xmlns="" id="{A47BE487-F6B1-702C-5D09-BBEE3244F186}"/>
              </a:ext>
            </a:extLst>
          </p:cNvPr>
          <p:cNvSpPr/>
          <p:nvPr/>
        </p:nvSpPr>
        <p:spPr>
          <a:xfrm>
            <a:off x="8121121" y="9497775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ooter Placeholder 7">
            <a:extLst>
              <a:ext uri="{FF2B5EF4-FFF2-40B4-BE49-F238E27FC236}">
                <a16:creationId xmlns:a16="http://schemas.microsoft.com/office/drawing/2014/main" xmlns="" id="{5D5D1E32-27EC-36B2-BEAB-5E1518AD50C0}"/>
              </a:ext>
            </a:extLst>
          </p:cNvPr>
          <p:cNvSpPr txBox="1">
            <a:spLocks/>
          </p:cNvSpPr>
          <p:nvPr/>
        </p:nvSpPr>
        <p:spPr>
          <a:xfrm>
            <a:off x="17448001" y="9791700"/>
            <a:ext cx="838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 smtClean="0">
                <a:latin typeface="Quicksand" panose="020B0604020202020204" charset="0"/>
              </a:rPr>
              <a:t>5</a:t>
            </a:r>
            <a:endParaRPr lang="en-US" sz="2400" b="1" dirty="0">
              <a:latin typeface="Quicksand" panose="020B0604020202020204" charset="0"/>
            </a:endParaRP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xmlns="" id="{77165C3F-3099-9FBF-16F1-E2A9A7A35AE8}"/>
              </a:ext>
            </a:extLst>
          </p:cNvPr>
          <p:cNvSpPr txBox="1"/>
          <p:nvPr/>
        </p:nvSpPr>
        <p:spPr>
          <a:xfrm>
            <a:off x="1202758" y="805659"/>
            <a:ext cx="9390243" cy="1099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 dirty="0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Motivation </a:t>
            </a:r>
          </a:p>
        </p:txBody>
      </p:sp>
    </p:spTree>
    <p:extLst>
      <p:ext uri="{BB962C8B-B14F-4D97-AF65-F5344CB8AC3E}">
        <p14:creationId xmlns:p14="http://schemas.microsoft.com/office/powerpoint/2010/main" val="23004556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608003" y="599709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165333" y="946556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4384" y="599709"/>
            <a:ext cx="14072064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Related Works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B4953ACF-90DE-E85B-3F45-A548185727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997577"/>
              </p:ext>
            </p:extLst>
          </p:nvPr>
        </p:nvGraphicFramePr>
        <p:xfrm>
          <a:off x="994814" y="2019300"/>
          <a:ext cx="16383000" cy="7360592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48194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xmlns="" val="4186920593"/>
                    </a:ext>
                  </a:extLst>
                </a:gridCol>
                <a:gridCol w="23948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959030"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sz="2800" dirty="0">
                          <a:latin typeface="Quicksand" panose="020B0604020202020204" charset="0"/>
                        </a:rPr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lang="en-US" sz="2800" dirty="0">
                          <a:latin typeface="Quicksand" panose="020B0604020202020204" charset="0"/>
                        </a:rPr>
                        <a:t>Contribution </a:t>
                      </a:r>
                      <a:endParaRPr sz="2800" dirty="0">
                        <a:latin typeface="Quicksand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sz="2800" dirty="0">
                          <a:latin typeface="Quicksand" panose="020B0604020202020204" charset="0"/>
                        </a:rPr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sz="2400" dirty="0">
                          <a:latin typeface="Quicksand" panose="020B0604020202020204" charset="0"/>
                        </a:rPr>
                        <a:t>Dataset/Samples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sz="2800" dirty="0">
                          <a:latin typeface="Quicksand" panose="020B0604020202020204" charset="0"/>
                        </a:rPr>
                        <a:t>Strength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sz="2800" dirty="0">
                          <a:latin typeface="Quicksand" panose="020B0604020202020204" charset="0"/>
                        </a:rPr>
                        <a:t>Limitation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50836">
                <a:tc>
                  <a:txBody>
                    <a:bodyPr/>
                    <a:lstStyle/>
                    <a:p>
                      <a:pPr marL="259080" lvl="1" indent="0" algn="ctr" defTabSz="914400" rtl="0" eaLnBrk="1" latinLnBrk="0" hangingPunct="1">
                        <a:lnSpc>
                          <a:spcPts val="4079"/>
                        </a:lnSpc>
                        <a:buFont typeface="Arial"/>
                        <a:buNone/>
                      </a:pPr>
                      <a:r>
                        <a:rPr lang="it-IT" sz="1800" b="0" kern="1200" dirty="0" smtClean="0">
                          <a:solidFill>
                            <a:srgbClr val="0F4662"/>
                          </a:solidFill>
                          <a:latin typeface="Quicksand"/>
                        </a:rPr>
                        <a:t>Li, C. et al. (2025)</a:t>
                      </a:r>
                      <a:r>
                        <a:rPr lang="da-DK" sz="1800" b="0" kern="1200" dirty="0" smtClean="0">
                          <a:solidFill>
                            <a:srgbClr val="0F4662"/>
                          </a:solidFill>
                          <a:latin typeface="Quicksand"/>
                        </a:rPr>
                        <a:t> [1]</a:t>
                      </a:r>
                      <a:endParaRPr sz="1800" b="0" kern="1200" dirty="0">
                        <a:solidFill>
                          <a:srgbClr val="0F4662"/>
                        </a:solidFill>
                        <a:latin typeface="Quicksan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59080" marR="0" lvl="1" indent="0" algn="ctr" defTabSz="914400" rtl="0" eaLnBrk="1" fontAlgn="auto" latinLnBrk="0" hangingPunct="1">
                        <a:lnSpc>
                          <a:spcPts val="40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0" kern="1200" dirty="0" smtClean="0">
                          <a:solidFill>
                            <a:srgbClr val="0F4662"/>
                          </a:solidFill>
                          <a:latin typeface="Quicksand"/>
                          <a:ea typeface="+mn-ea"/>
                          <a:cs typeface="+mn-cs"/>
                        </a:rPr>
                        <a:t>D3QN-TD3 for user association and resource allocation in ISAC-aided VEC</a:t>
                      </a:r>
                      <a:endParaRPr sz="1800" b="0" kern="1200" dirty="0">
                        <a:solidFill>
                          <a:srgbClr val="0F4662"/>
                        </a:solidFill>
                        <a:latin typeface="Quicksand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59080" lvl="1" indent="0" algn="ctr" defTabSz="914400" rtl="0" eaLnBrk="1" latinLnBrk="0" hangingPunct="1">
                        <a:lnSpc>
                          <a:spcPts val="4079"/>
                        </a:lnSpc>
                        <a:buFont typeface="Arial"/>
                        <a:buNone/>
                      </a:pPr>
                      <a:r>
                        <a:rPr lang="en-US" sz="1800" b="0" kern="1200" dirty="0" smtClean="0">
                          <a:solidFill>
                            <a:srgbClr val="0F4662"/>
                          </a:solidFill>
                          <a:latin typeface="Quicksand"/>
                        </a:rPr>
                        <a:t>D3QN + TD3</a:t>
                      </a:r>
                      <a:endParaRPr sz="1800" b="0" kern="1200" dirty="0">
                        <a:solidFill>
                          <a:srgbClr val="0F4662"/>
                        </a:solidFill>
                        <a:latin typeface="Quicksan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59080" lvl="1" indent="0" algn="ctr" defTabSz="914400" rtl="0" eaLnBrk="1" latinLnBrk="0" hangingPunct="1">
                        <a:lnSpc>
                          <a:spcPts val="4079"/>
                        </a:lnSpc>
                        <a:buFont typeface="Arial"/>
                        <a:buNone/>
                      </a:pPr>
                      <a:r>
                        <a:rPr lang="en-US" sz="1800" b="0" kern="1200" dirty="0" smtClean="0">
                          <a:solidFill>
                            <a:srgbClr val="0F4662"/>
                          </a:solidFill>
                          <a:latin typeface="Quicksand"/>
                        </a:rPr>
                        <a:t>ISAC-VEC MIMO </a:t>
                      </a:r>
                      <a:r>
                        <a:rPr lang="en-US" sz="1800" b="0" kern="1200" dirty="0" err="1" smtClean="0">
                          <a:solidFill>
                            <a:srgbClr val="0F4662"/>
                          </a:solidFill>
                          <a:latin typeface="Quicksand"/>
                        </a:rPr>
                        <a:t>sim</a:t>
                      </a:r>
                      <a:endParaRPr sz="1800" b="0" kern="1200" dirty="0">
                        <a:solidFill>
                          <a:srgbClr val="0F4662"/>
                        </a:solidFill>
                        <a:latin typeface="Quicksan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59080" lvl="1" indent="0" algn="l" defTabSz="914400" rtl="0" eaLnBrk="1" latinLnBrk="0" hangingPunct="1">
                        <a:lnSpc>
                          <a:spcPts val="4079"/>
                        </a:lnSpc>
                        <a:buFont typeface="Arial"/>
                        <a:buNone/>
                      </a:pPr>
                      <a:r>
                        <a:rPr lang="en-US" sz="1800" b="0" kern="1200" dirty="0" smtClean="0">
                          <a:solidFill>
                            <a:srgbClr val="0F4662"/>
                          </a:solidFill>
                          <a:latin typeface="Quicksand"/>
                        </a:rPr>
                        <a:t>Primary baseline for ISAC-VEC</a:t>
                      </a:r>
                      <a:endParaRPr sz="1800" b="0" kern="1200" dirty="0">
                        <a:solidFill>
                          <a:srgbClr val="0F4662"/>
                        </a:solidFill>
                        <a:latin typeface="Quicksan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Wingdings" pitchFamily="2" charset="2"/>
                        <a:buChar char="ü"/>
                      </a:pPr>
                      <a:r>
                        <a:rPr lang="en-US" sz="1800" b="0" kern="1200" dirty="0" smtClean="0">
                          <a:solidFill>
                            <a:srgbClr val="0F4662"/>
                          </a:solidFill>
                          <a:latin typeface="Quicksand"/>
                          <a:ea typeface="+mn-ea"/>
                          <a:cs typeface="+mn-cs"/>
                        </a:rPr>
                        <a:t>No </a:t>
                      </a:r>
                      <a:r>
                        <a:rPr lang="en-US" sz="1800" b="0" kern="1200" dirty="0">
                          <a:solidFill>
                            <a:srgbClr val="0F4662"/>
                          </a:solidFill>
                          <a:latin typeface="Quicksand"/>
                          <a:ea typeface="+mn-ea"/>
                          <a:cs typeface="+mn-cs"/>
                        </a:rPr>
                        <a:t>counterfactual </a:t>
                      </a:r>
                      <a:r>
                        <a:rPr lang="en-US" sz="1800" b="0" kern="1200" dirty="0" smtClean="0">
                          <a:solidFill>
                            <a:srgbClr val="0F4662"/>
                          </a:solidFill>
                          <a:latin typeface="Quicksand"/>
                          <a:ea typeface="+mn-ea"/>
                          <a:cs typeface="+mn-cs"/>
                        </a:rPr>
                        <a:t>reasoning</a:t>
                      </a:r>
                      <a:endParaRPr lang="en-US" sz="1800" b="0" kern="1200" dirty="0">
                        <a:solidFill>
                          <a:srgbClr val="0F4662"/>
                        </a:solidFill>
                        <a:latin typeface="Quicksand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itchFamily="2" charset="2"/>
                        <a:buChar char="ü"/>
                      </a:pPr>
                      <a:r>
                        <a:rPr lang="en-US" sz="1800" b="0" kern="1200" dirty="0" smtClean="0">
                          <a:solidFill>
                            <a:srgbClr val="0F4662"/>
                          </a:solidFill>
                          <a:latin typeface="Quicksand"/>
                          <a:ea typeface="+mn-ea"/>
                          <a:cs typeface="+mn-cs"/>
                        </a:rPr>
                        <a:t>Learns </a:t>
                      </a:r>
                      <a:r>
                        <a:rPr lang="en-US" sz="1800" b="0" kern="1200" dirty="0">
                          <a:solidFill>
                            <a:srgbClr val="0F4662"/>
                          </a:solidFill>
                          <a:latin typeface="Quicksand"/>
                          <a:ea typeface="+mn-ea"/>
                          <a:cs typeface="+mn-cs"/>
                        </a:rPr>
                        <a:t>only from factual </a:t>
                      </a:r>
                      <a:r>
                        <a:rPr lang="en-US" sz="1800" b="0" kern="1200" dirty="0" smtClean="0">
                          <a:solidFill>
                            <a:srgbClr val="0F4662"/>
                          </a:solidFill>
                          <a:latin typeface="Quicksand"/>
                          <a:ea typeface="+mn-ea"/>
                          <a:cs typeface="+mn-cs"/>
                        </a:rPr>
                        <a:t>correlations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Wingdings" pitchFamily="2" charset="2"/>
                        <a:buNone/>
                      </a:pPr>
                      <a:endParaRPr lang="en-US" sz="1800" b="0" kern="1200" dirty="0">
                        <a:solidFill>
                          <a:srgbClr val="0F4662"/>
                        </a:solidFill>
                        <a:latin typeface="Quicksand"/>
                        <a:ea typeface="+mn-ea"/>
                        <a:cs typeface="+mn-cs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50836">
                <a:tc>
                  <a:txBody>
                    <a:bodyPr/>
                    <a:lstStyle/>
                    <a:p>
                      <a:pPr marL="259080" marR="0" lvl="1" indent="0" algn="ctr" defTabSz="914400" rtl="0" eaLnBrk="1" fontAlgn="auto" latinLnBrk="0" hangingPunct="1">
                        <a:lnSpc>
                          <a:spcPts val="40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1800" kern="1200" dirty="0" smtClean="0">
                          <a:solidFill>
                            <a:srgbClr val="0F4662"/>
                          </a:solidFill>
                          <a:latin typeface="Quicksand"/>
                        </a:rPr>
                        <a:t>Li, C. et al. (2025)</a:t>
                      </a:r>
                    </a:p>
                    <a:p>
                      <a:pPr marL="259080" lvl="1" indent="0" algn="ctr" defTabSz="914400" rtl="0" eaLnBrk="1" latinLnBrk="0" hangingPunct="1">
                        <a:lnSpc>
                          <a:spcPts val="4079"/>
                        </a:lnSpc>
                        <a:buFont typeface="Arial"/>
                        <a:buNone/>
                      </a:pPr>
                      <a:r>
                        <a:rPr lang="da-DK" sz="1800" b="0" kern="1200" dirty="0" smtClean="0">
                          <a:solidFill>
                            <a:srgbClr val="0F4662"/>
                          </a:solidFill>
                          <a:latin typeface="Quicksand"/>
                        </a:rPr>
                        <a:t> </a:t>
                      </a:r>
                      <a:r>
                        <a:rPr lang="da-DK" sz="1800" b="0" kern="1200" dirty="0">
                          <a:solidFill>
                            <a:srgbClr val="0F4662"/>
                          </a:solidFill>
                          <a:latin typeface="Quicksand"/>
                        </a:rPr>
                        <a:t>[2]</a:t>
                      </a:r>
                      <a:endParaRPr sz="1800" b="0" kern="1200" dirty="0">
                        <a:solidFill>
                          <a:srgbClr val="0F4662"/>
                        </a:solidFill>
                        <a:latin typeface="Quicksan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59080" marR="0" lvl="1" indent="0" algn="ctr" defTabSz="914400" rtl="0" eaLnBrk="1" fontAlgn="auto" latinLnBrk="0" hangingPunct="1">
                        <a:lnSpc>
                          <a:spcPts val="40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rgbClr val="0F4662"/>
                          </a:solidFill>
                          <a:latin typeface="Quicksand"/>
                          <a:ea typeface="+mn-ea"/>
                          <a:cs typeface="+mn-cs"/>
                        </a:rPr>
                        <a:t> ID-TD3 with OTFS for latency</a:t>
                      </a:r>
                      <a:r>
                        <a:rPr lang="en-US" sz="1800" kern="1200" baseline="0" dirty="0" smtClean="0">
                          <a:solidFill>
                            <a:srgbClr val="0F4662"/>
                          </a:solidFill>
                          <a:latin typeface="Quicksand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smtClean="0">
                          <a:solidFill>
                            <a:srgbClr val="0F4662"/>
                          </a:solidFill>
                          <a:latin typeface="Quicksand"/>
                          <a:ea typeface="+mn-ea"/>
                          <a:cs typeface="+mn-cs"/>
                        </a:rPr>
                        <a:t>sensitive ISAC-VEC tasks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59080" lvl="1" indent="0" algn="ctr" defTabSz="914400" rtl="0" eaLnBrk="1" latinLnBrk="0" hangingPunct="1">
                        <a:lnSpc>
                          <a:spcPts val="4079"/>
                        </a:lnSpc>
                        <a:buFont typeface="Arial"/>
                        <a:buNone/>
                      </a:pPr>
                      <a:r>
                        <a:rPr lang="en-US" sz="1800" b="0" kern="1200" dirty="0" smtClean="0">
                          <a:solidFill>
                            <a:srgbClr val="0F4662"/>
                          </a:solidFill>
                          <a:latin typeface="Quicksand"/>
                        </a:rPr>
                        <a:t>ID-TD3 + OTFS for high-mobility channels</a:t>
                      </a:r>
                      <a:endParaRPr sz="1800" b="0" kern="1200" dirty="0">
                        <a:solidFill>
                          <a:srgbClr val="0F4662"/>
                        </a:solidFill>
                        <a:latin typeface="Quicksan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59080" lvl="1" indent="0" algn="ctr" defTabSz="914400" rtl="0" eaLnBrk="1" latinLnBrk="0" hangingPunct="1">
                        <a:lnSpc>
                          <a:spcPts val="4079"/>
                        </a:lnSpc>
                        <a:buFont typeface="Arial"/>
                        <a:buNone/>
                      </a:pPr>
                      <a:r>
                        <a:rPr lang="en-US" sz="1800" b="0" kern="1200" dirty="0" smtClean="0">
                          <a:solidFill>
                            <a:srgbClr val="0F4662"/>
                          </a:solidFill>
                          <a:latin typeface="Quicksand"/>
                        </a:rPr>
                        <a:t>ISAC-VEC simulation with OTFS</a:t>
                      </a:r>
                      <a:endParaRPr sz="1800" b="0" kern="1200" dirty="0">
                        <a:solidFill>
                          <a:srgbClr val="0F4662"/>
                        </a:solidFill>
                        <a:latin typeface="Quicksan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59080" lvl="1" indent="0" algn="l" defTabSz="914400" rtl="0" eaLnBrk="1" latinLnBrk="0" hangingPunct="1">
                        <a:lnSpc>
                          <a:spcPts val="4079"/>
                        </a:lnSpc>
                        <a:buFont typeface="Arial"/>
                        <a:buNone/>
                      </a:pPr>
                      <a:r>
                        <a:rPr lang="en-US" sz="1800" b="0" kern="1200" dirty="0" smtClean="0">
                          <a:solidFill>
                            <a:srgbClr val="0F4662"/>
                          </a:solidFill>
                          <a:latin typeface="Quicksand"/>
                        </a:rPr>
                        <a:t>Optimizes delay and energy</a:t>
                      </a:r>
                      <a:endParaRPr sz="1800" b="0" kern="1200" dirty="0">
                        <a:solidFill>
                          <a:srgbClr val="0F4662"/>
                        </a:solidFill>
                        <a:latin typeface="Quicksan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Wingdings" pitchFamily="2" charset="2"/>
                        <a:buChar char="ü"/>
                      </a:pPr>
                      <a:r>
                        <a:rPr lang="en-US" sz="1800" b="0" kern="1200" dirty="0" smtClean="0">
                          <a:solidFill>
                            <a:srgbClr val="0F4662"/>
                          </a:solidFill>
                          <a:latin typeface="Quicksand"/>
                          <a:ea typeface="+mn-ea"/>
                          <a:cs typeface="+mn-cs"/>
                        </a:rPr>
                        <a:t>No counterfactual reasoning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itchFamily="2" charset="2"/>
                        <a:buChar char="ü"/>
                      </a:pPr>
                      <a:r>
                        <a:rPr lang="en-US" sz="1800" b="0" kern="1200" dirty="0" smtClean="0">
                          <a:solidFill>
                            <a:srgbClr val="0F4662"/>
                          </a:solidFill>
                          <a:latin typeface="Quicksand"/>
                          <a:ea typeface="+mn-ea"/>
                          <a:cs typeface="+mn-cs"/>
                        </a:rPr>
                        <a:t>Learns only from factual correlations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Wingdings" pitchFamily="2" charset="2"/>
                        <a:buNone/>
                      </a:pPr>
                      <a:endParaRPr lang="en-US" sz="1800" b="0" kern="1200" dirty="0" smtClean="0">
                        <a:solidFill>
                          <a:srgbClr val="0F4662"/>
                        </a:solidFill>
                        <a:latin typeface="Quicksand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50836">
                <a:tc>
                  <a:txBody>
                    <a:bodyPr/>
                    <a:lstStyle/>
                    <a:p>
                      <a:pPr marL="259080" marR="0" lvl="1" indent="0" algn="ctr" defTabSz="914400" rtl="0" eaLnBrk="1" fontAlgn="auto" latinLnBrk="0" hangingPunct="1">
                        <a:lnSpc>
                          <a:spcPts val="40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1800" b="0" kern="1200" dirty="0" smtClean="0">
                          <a:solidFill>
                            <a:srgbClr val="0F4662"/>
                          </a:solidFill>
                          <a:latin typeface="Quicksand"/>
                          <a:ea typeface="+mn-ea"/>
                          <a:cs typeface="+mn-cs"/>
                        </a:rPr>
                        <a:t>An, Y. et al. (2025)</a:t>
                      </a:r>
                    </a:p>
                    <a:p>
                      <a:pPr marL="259080" marR="0" lvl="1" indent="0" algn="ctr" defTabSz="914400" rtl="0" eaLnBrk="1" fontAlgn="auto" latinLnBrk="0" hangingPunct="1">
                        <a:lnSpc>
                          <a:spcPts val="40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1800" b="0" kern="1200" dirty="0" smtClean="0">
                          <a:solidFill>
                            <a:srgbClr val="0F4662"/>
                          </a:solidFill>
                          <a:latin typeface="Quicksand"/>
                          <a:ea typeface="+mn-ea"/>
                          <a:cs typeface="+mn-cs"/>
                        </a:rPr>
                        <a:t>[</a:t>
                      </a:r>
                      <a:r>
                        <a:rPr lang="it-IT" sz="1800" b="0" kern="1200" dirty="0">
                          <a:solidFill>
                            <a:srgbClr val="0F4662"/>
                          </a:solidFill>
                          <a:latin typeface="Quicksand"/>
                          <a:ea typeface="+mn-ea"/>
                          <a:cs typeface="+mn-cs"/>
                        </a:rPr>
                        <a:t>3]</a:t>
                      </a:r>
                    </a:p>
                    <a:p>
                      <a:pPr marL="259080" lvl="1" indent="0" algn="l" defTabSz="914400" rtl="0" eaLnBrk="1" latinLnBrk="0" hangingPunct="1">
                        <a:lnSpc>
                          <a:spcPts val="4079"/>
                        </a:lnSpc>
                        <a:buFont typeface="Arial"/>
                        <a:buNone/>
                      </a:pPr>
                      <a:endParaRPr sz="1800" b="0" kern="1200" dirty="0">
                        <a:solidFill>
                          <a:srgbClr val="0F4662"/>
                        </a:solidFill>
                        <a:latin typeface="Quicksan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59080" marR="0" lvl="1" indent="0" algn="ctr" defTabSz="914400" rtl="0" eaLnBrk="1" fontAlgn="auto" latinLnBrk="0" hangingPunct="1">
                        <a:lnSpc>
                          <a:spcPts val="40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0" kern="1200" dirty="0" smtClean="0">
                          <a:solidFill>
                            <a:srgbClr val="0F4662"/>
                          </a:solidFill>
                          <a:latin typeface="Quicksand"/>
                          <a:ea typeface="+mn-ea"/>
                          <a:cs typeface="+mn-cs"/>
                        </a:rPr>
                        <a:t>MATD3 for </a:t>
                      </a:r>
                      <a:r>
                        <a:rPr lang="en-US" sz="1800" b="0" kern="1200" dirty="0" err="1" smtClean="0">
                          <a:solidFill>
                            <a:srgbClr val="0F4662"/>
                          </a:solidFill>
                          <a:latin typeface="Quicksand"/>
                          <a:ea typeface="+mn-ea"/>
                          <a:cs typeface="+mn-cs"/>
                        </a:rPr>
                        <a:t>beamforming</a:t>
                      </a:r>
                      <a:r>
                        <a:rPr lang="en-US" sz="1800" b="0" kern="1200" dirty="0" smtClean="0">
                          <a:solidFill>
                            <a:srgbClr val="0F4662"/>
                          </a:solidFill>
                          <a:latin typeface="Quicksand"/>
                          <a:ea typeface="+mn-ea"/>
                          <a:cs typeface="+mn-cs"/>
                        </a:rPr>
                        <a:t>, RIS, and resource allocation</a:t>
                      </a:r>
                      <a:endParaRPr lang="en-US" sz="1800" b="0" kern="1200" dirty="0">
                        <a:solidFill>
                          <a:srgbClr val="0F4662"/>
                        </a:solidFill>
                        <a:latin typeface="Quicksand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59080" marR="0" lvl="1" indent="0" algn="ctr" defTabSz="914400" rtl="0" eaLnBrk="1" fontAlgn="auto" latinLnBrk="0" hangingPunct="1">
                        <a:lnSpc>
                          <a:spcPts val="40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0" kern="1200" dirty="0" smtClean="0">
                          <a:solidFill>
                            <a:srgbClr val="0F4662"/>
                          </a:solidFill>
                          <a:latin typeface="Quicksand"/>
                          <a:ea typeface="+mn-ea"/>
                          <a:cs typeface="+mn-cs"/>
                        </a:rPr>
                        <a:t>Multi-Agent TD3 for cooperative VEC-ISAC</a:t>
                      </a:r>
                      <a:endParaRPr lang="en-US" sz="1800" b="0" kern="1200" dirty="0">
                        <a:solidFill>
                          <a:srgbClr val="0F4662"/>
                        </a:solidFill>
                        <a:latin typeface="Quicksand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59080" marR="0" lvl="1" indent="0" algn="ctr" defTabSz="914400" rtl="0" eaLnBrk="1" fontAlgn="auto" latinLnBrk="0" hangingPunct="1">
                        <a:lnSpc>
                          <a:spcPts val="40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0" kern="1200" dirty="0" smtClean="0">
                          <a:solidFill>
                            <a:srgbClr val="0F4662"/>
                          </a:solidFill>
                          <a:latin typeface="Quicksand"/>
                        </a:rPr>
                        <a:t>ISAC-VEC MIMO </a:t>
                      </a:r>
                      <a:r>
                        <a:rPr lang="en-US" sz="1800" b="0" kern="1200" dirty="0" err="1" smtClean="0">
                          <a:solidFill>
                            <a:srgbClr val="0F4662"/>
                          </a:solidFill>
                          <a:latin typeface="Quicksand"/>
                        </a:rPr>
                        <a:t>sim</a:t>
                      </a:r>
                      <a:endParaRPr lang="en-US" sz="1800" b="0" kern="1200" dirty="0" smtClean="0">
                        <a:solidFill>
                          <a:srgbClr val="0F4662"/>
                        </a:solidFill>
                        <a:latin typeface="Quicksan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59080" marR="0" lvl="1" indent="0" algn="l" defTabSz="914400" rtl="0" eaLnBrk="1" fontAlgn="auto" latinLnBrk="0" hangingPunct="1">
                        <a:lnSpc>
                          <a:spcPts val="40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0" kern="1200" dirty="0" smtClean="0">
                          <a:solidFill>
                            <a:srgbClr val="0F4662"/>
                          </a:solidFill>
                          <a:latin typeface="Quicksand"/>
                          <a:ea typeface="+mn-ea"/>
                          <a:cs typeface="+mn-cs"/>
                        </a:rPr>
                        <a:t>Multi-agent coordination</a:t>
                      </a:r>
                      <a:endParaRPr lang="en-US" sz="1800" b="0" kern="1200" dirty="0">
                        <a:solidFill>
                          <a:srgbClr val="0F4662"/>
                        </a:solidFill>
                        <a:latin typeface="Quicksand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Wingdings" pitchFamily="2" charset="2"/>
                        <a:buChar char="ü"/>
                      </a:pPr>
                      <a:r>
                        <a:rPr lang="en-US" sz="1800" b="0" kern="1200" dirty="0" smtClean="0">
                          <a:solidFill>
                            <a:srgbClr val="0F4662"/>
                          </a:solidFill>
                          <a:latin typeface="Quicksand"/>
                          <a:ea typeface="+mn-ea"/>
                          <a:cs typeface="+mn-cs"/>
                        </a:rPr>
                        <a:t>No counterfactual reasoning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itchFamily="2" charset="2"/>
                        <a:buChar char="ü"/>
                      </a:pPr>
                      <a:r>
                        <a:rPr lang="en-US" sz="1800" b="0" kern="1200" dirty="0" smtClean="0">
                          <a:solidFill>
                            <a:srgbClr val="0F4662"/>
                          </a:solidFill>
                          <a:latin typeface="Quicksand"/>
                          <a:ea typeface="+mn-ea"/>
                          <a:cs typeface="+mn-cs"/>
                        </a:rPr>
                        <a:t>Learns only from factual correlations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Wingdings" pitchFamily="2" charset="2"/>
                        <a:buNone/>
                      </a:pPr>
                      <a:endParaRPr lang="en-US" sz="1800" b="0" kern="1200" dirty="0" smtClean="0">
                        <a:solidFill>
                          <a:srgbClr val="0F4662"/>
                        </a:solidFill>
                        <a:latin typeface="Quicksand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1CE624BE-5487-476E-1132-61950254296E}"/>
              </a:ext>
            </a:extLst>
          </p:cNvPr>
          <p:cNvSpPr txBox="1">
            <a:spLocks/>
          </p:cNvSpPr>
          <p:nvPr/>
        </p:nvSpPr>
        <p:spPr>
          <a:xfrm>
            <a:off x="17448001" y="9791700"/>
            <a:ext cx="838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 smtClean="0">
                <a:latin typeface="Quicksand" panose="020B0604020202020204" charset="0"/>
              </a:rPr>
              <a:t>6</a:t>
            </a:r>
            <a:endParaRPr lang="en-US" sz="2400" b="1" dirty="0">
              <a:latin typeface="Quicksand" panose="020B0604020202020204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BD889E7C-339C-B01C-6AB4-44FEFCDF6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xmlns="" id="{F9D9BB39-B151-1DEB-A3F5-B03858909928}"/>
              </a:ext>
            </a:extLst>
          </p:cNvPr>
          <p:cNvSpPr/>
          <p:nvPr/>
        </p:nvSpPr>
        <p:spPr>
          <a:xfrm>
            <a:off x="15579303" y="714009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xmlns="" id="{20FF4157-86EB-C8E6-E175-E63FBA7A81BC}"/>
              </a:ext>
            </a:extLst>
          </p:cNvPr>
          <p:cNvSpPr/>
          <p:nvPr/>
        </p:nvSpPr>
        <p:spPr>
          <a:xfrm>
            <a:off x="16533601" y="258821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xmlns="" id="{787071CE-DFCE-F659-B403-F0DC44E8983D}"/>
              </a:ext>
            </a:extLst>
          </p:cNvPr>
          <p:cNvSpPr txBox="1"/>
          <p:nvPr/>
        </p:nvSpPr>
        <p:spPr>
          <a:xfrm>
            <a:off x="1024384" y="599709"/>
            <a:ext cx="14072064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Related Works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90513F5E-E23C-BF96-2EEA-BDE9D926EF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45420"/>
              </p:ext>
            </p:extLst>
          </p:nvPr>
        </p:nvGraphicFramePr>
        <p:xfrm>
          <a:off x="607801" y="1869260"/>
          <a:ext cx="16840200" cy="792244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xmlns="" val="1085498254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959030"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sz="2800" dirty="0">
                          <a:latin typeface="Quicksand" panose="020B0604020202020204" charset="0"/>
                        </a:rPr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lang="en-US" sz="2800" dirty="0">
                          <a:latin typeface="Quicksand" panose="020B0604020202020204" charset="0"/>
                        </a:rPr>
                        <a:t>Contribution</a:t>
                      </a:r>
                      <a:endParaRPr sz="2800" dirty="0">
                        <a:latin typeface="Quicksand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sz="2800" dirty="0">
                          <a:latin typeface="Quicksand" panose="020B0604020202020204" charset="0"/>
                        </a:rPr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sz="2400" dirty="0">
                          <a:latin typeface="Quicksand" panose="020B0604020202020204" charset="0"/>
                        </a:rPr>
                        <a:t>Dataset/Samples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sz="2800" dirty="0">
                          <a:latin typeface="Quicksand" panose="020B0604020202020204" charset="0"/>
                        </a:rPr>
                        <a:t>Strength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sz="2800" dirty="0">
                          <a:latin typeface="Quicksand" panose="020B0604020202020204" charset="0"/>
                        </a:rPr>
                        <a:t>Limitation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50836">
                <a:tc>
                  <a:txBody>
                    <a:bodyPr/>
                    <a:lstStyle/>
                    <a:p>
                      <a:pPr marL="259080" marR="0" lvl="1" indent="0" algn="ctr" defTabSz="914400" rtl="0" eaLnBrk="1" fontAlgn="auto" latinLnBrk="0" hangingPunct="1">
                        <a:lnSpc>
                          <a:spcPts val="40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kern="1200" dirty="0" smtClean="0">
                          <a:solidFill>
                            <a:srgbClr val="0F4662"/>
                          </a:solidFill>
                          <a:latin typeface="Quicksand"/>
                        </a:rPr>
                        <a:t>Zhang, Y. et al. (2025) </a:t>
                      </a:r>
                    </a:p>
                    <a:p>
                      <a:pPr marL="259080" marR="0" lvl="1" indent="0" algn="ctr" defTabSz="914400" rtl="0" eaLnBrk="1" fontAlgn="auto" latinLnBrk="0" hangingPunct="1">
                        <a:lnSpc>
                          <a:spcPts val="40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kern="1200" dirty="0" smtClean="0">
                          <a:solidFill>
                            <a:srgbClr val="0F4662"/>
                          </a:solidFill>
                          <a:latin typeface="Quicksand"/>
                        </a:rPr>
                        <a:t>[4]</a:t>
                      </a:r>
                    </a:p>
                    <a:p>
                      <a:pPr marL="259080" lvl="1" indent="0" algn="l" defTabSz="914400" rtl="0" eaLnBrk="1" latinLnBrk="0" hangingPunct="1">
                        <a:lnSpc>
                          <a:spcPts val="4079"/>
                        </a:lnSpc>
                        <a:buFont typeface="Arial"/>
                        <a:buNone/>
                      </a:pPr>
                      <a:endParaRPr sz="2000" kern="1200" dirty="0">
                        <a:solidFill>
                          <a:srgbClr val="0F4662"/>
                        </a:solidFill>
                        <a:latin typeface="Quicksan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59080" marR="0" lvl="1" indent="0" algn="ctr" defTabSz="914400" rtl="0" eaLnBrk="1" fontAlgn="auto" latinLnBrk="0" hangingPunct="1">
                        <a:lnSpc>
                          <a:spcPts val="40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kern="1200" dirty="0" smtClean="0">
                          <a:solidFill>
                            <a:srgbClr val="0F4662"/>
                          </a:solidFill>
                          <a:latin typeface="Quicksand"/>
                          <a:ea typeface="+mn-ea"/>
                          <a:cs typeface="+mn-cs"/>
                        </a:rPr>
                        <a:t>TD3-based orchestration for multi-edge, multi-vehicle VEC</a:t>
                      </a:r>
                      <a:endParaRPr sz="2000" kern="1200" dirty="0">
                        <a:solidFill>
                          <a:srgbClr val="0F4662"/>
                        </a:solidFill>
                        <a:latin typeface="Quicksand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59080" marR="0" lvl="1" indent="0" algn="ctr" defTabSz="914400" rtl="0" eaLnBrk="1" fontAlgn="auto" latinLnBrk="0" hangingPunct="1">
                        <a:lnSpc>
                          <a:spcPts val="40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kern="1200" dirty="0" smtClean="0">
                          <a:solidFill>
                            <a:srgbClr val="0F4662"/>
                          </a:solidFill>
                          <a:latin typeface="Quicksand"/>
                          <a:ea typeface="+mn-ea"/>
                          <a:cs typeface="+mn-cs"/>
                        </a:rPr>
                        <a:t>TD3</a:t>
                      </a:r>
                      <a:endParaRPr sz="2000" kern="1200" dirty="0">
                        <a:solidFill>
                          <a:srgbClr val="0F4662"/>
                        </a:solidFill>
                        <a:latin typeface="Quicksand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59080" lvl="1" indent="0" algn="ctr" defTabSz="914400" rtl="0" eaLnBrk="1" latinLnBrk="0" hangingPunct="1">
                        <a:lnSpc>
                          <a:spcPts val="4079"/>
                        </a:lnSpc>
                        <a:buFont typeface="Arial"/>
                        <a:buNone/>
                      </a:pPr>
                      <a:r>
                        <a:rPr lang="en-US" sz="2000" kern="1200" dirty="0" smtClean="0">
                          <a:solidFill>
                            <a:srgbClr val="0F4662"/>
                          </a:solidFill>
                          <a:latin typeface="Quicksand"/>
                        </a:rPr>
                        <a:t>Simulated multi-edge VEC environment</a:t>
                      </a:r>
                      <a:endParaRPr sz="2000" kern="1200" dirty="0">
                        <a:solidFill>
                          <a:srgbClr val="0F4662"/>
                        </a:solidFill>
                        <a:latin typeface="Quicksan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59080" marR="0" lvl="1" indent="0" algn="l" defTabSz="914400" rtl="0" eaLnBrk="1" fontAlgn="auto" latinLnBrk="0" hangingPunct="1">
                        <a:lnSpc>
                          <a:spcPts val="40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kern="1200" dirty="0" smtClean="0">
                          <a:solidFill>
                            <a:srgbClr val="0F4662"/>
                          </a:solidFill>
                          <a:latin typeface="Quicksand"/>
                        </a:rPr>
                        <a:t>15-38% cost reduction,</a:t>
                      </a:r>
                      <a:r>
                        <a:rPr lang="en-US" sz="2000" kern="1200" baseline="0" dirty="0" smtClean="0">
                          <a:solidFill>
                            <a:srgbClr val="0F4662"/>
                          </a:solidFill>
                          <a:latin typeface="Quicksand"/>
                        </a:rPr>
                        <a:t> </a:t>
                      </a:r>
                      <a:r>
                        <a:rPr lang="en-US" sz="2000" kern="1200" dirty="0" smtClean="0">
                          <a:solidFill>
                            <a:srgbClr val="0F4662"/>
                          </a:solidFill>
                          <a:latin typeface="Quicksand"/>
                        </a:rPr>
                        <a:t>scalable</a:t>
                      </a:r>
                      <a:endParaRPr lang="en-US" sz="2000" kern="1200" dirty="0">
                        <a:solidFill>
                          <a:srgbClr val="0F4662"/>
                        </a:solidFill>
                        <a:latin typeface="Quicksan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Wingdings" pitchFamily="2" charset="2"/>
                        <a:buChar char="ü"/>
                      </a:pPr>
                      <a:r>
                        <a:rPr lang="en-US" sz="1800" b="0" kern="1200" dirty="0" smtClean="0">
                          <a:solidFill>
                            <a:srgbClr val="0F4662"/>
                          </a:solidFill>
                          <a:latin typeface="Quicksand"/>
                          <a:ea typeface="+mn-ea"/>
                          <a:cs typeface="+mn-cs"/>
                        </a:rPr>
                        <a:t>No counterfactual reasoning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itchFamily="2" charset="2"/>
                        <a:buChar char="ü"/>
                      </a:pPr>
                      <a:r>
                        <a:rPr lang="en-US" sz="1800" b="0" kern="1200" dirty="0" smtClean="0">
                          <a:solidFill>
                            <a:srgbClr val="0F4662"/>
                          </a:solidFill>
                          <a:latin typeface="Quicksand"/>
                          <a:ea typeface="+mn-ea"/>
                          <a:cs typeface="+mn-cs"/>
                        </a:rPr>
                        <a:t>Learns only from factual correlations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Wingdings" pitchFamily="2" charset="2"/>
                        <a:buNone/>
                      </a:pPr>
                      <a:endParaRPr lang="en-US" sz="1800" b="0" kern="1200" dirty="0" smtClean="0">
                        <a:solidFill>
                          <a:srgbClr val="0F4662"/>
                        </a:solidFill>
                        <a:latin typeface="Quicksand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50836">
                <a:tc>
                  <a:txBody>
                    <a:bodyPr/>
                    <a:lstStyle/>
                    <a:p>
                      <a:pPr marL="259080" lvl="1" indent="0" algn="ctr" defTabSz="914400" rtl="0" eaLnBrk="1" latinLnBrk="0" hangingPunct="1">
                        <a:lnSpc>
                          <a:spcPts val="4079"/>
                        </a:lnSpc>
                        <a:buFont typeface="Arial"/>
                        <a:buNone/>
                      </a:pPr>
                      <a:r>
                        <a:rPr lang="fr-FR" sz="2000" kern="1200" dirty="0" err="1" smtClean="0">
                          <a:solidFill>
                            <a:srgbClr val="0F4662"/>
                          </a:solidFill>
                          <a:latin typeface="Quicksand"/>
                        </a:rPr>
                        <a:t>Xue</a:t>
                      </a:r>
                      <a:r>
                        <a:rPr lang="fr-FR" sz="2000" kern="1200" dirty="0" smtClean="0">
                          <a:solidFill>
                            <a:srgbClr val="0F4662"/>
                          </a:solidFill>
                          <a:latin typeface="Quicksand"/>
                        </a:rPr>
                        <a:t>, J. et al. (2025)</a:t>
                      </a:r>
                    </a:p>
                    <a:p>
                      <a:pPr marL="259080" lvl="1" indent="0" algn="ctr" defTabSz="914400" rtl="0" eaLnBrk="1" latinLnBrk="0" hangingPunct="1">
                        <a:lnSpc>
                          <a:spcPts val="4079"/>
                        </a:lnSpc>
                        <a:buFont typeface="Arial"/>
                        <a:buNone/>
                      </a:pPr>
                      <a:r>
                        <a:rPr lang="da-DK" sz="2000" kern="1200" dirty="0" smtClean="0">
                          <a:solidFill>
                            <a:srgbClr val="0F4662"/>
                          </a:solidFill>
                          <a:latin typeface="Quicksand"/>
                        </a:rPr>
                        <a:t>[5]</a:t>
                      </a:r>
                      <a:endParaRPr sz="2000" kern="1200" dirty="0">
                        <a:solidFill>
                          <a:srgbClr val="0F4662"/>
                        </a:solidFill>
                        <a:latin typeface="Quicksan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59080" marR="0" lvl="1" indent="0" algn="ctr" defTabSz="914400" rtl="0" eaLnBrk="1" fontAlgn="auto" latinLnBrk="0" hangingPunct="1">
                        <a:lnSpc>
                          <a:spcPts val="40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kern="1200" dirty="0" smtClean="0">
                          <a:solidFill>
                            <a:srgbClr val="0F4662"/>
                          </a:solidFill>
                          <a:latin typeface="Quicksand"/>
                          <a:ea typeface="+mn-ea"/>
                          <a:cs typeface="+mn-cs"/>
                        </a:rPr>
                        <a:t>TD3PO with digital twin for </a:t>
                      </a:r>
                      <a:r>
                        <a:rPr lang="en-US" sz="2000" kern="1200" dirty="0" err="1" smtClean="0">
                          <a:solidFill>
                            <a:srgbClr val="0F4662"/>
                          </a:solidFill>
                          <a:latin typeface="Quicksand"/>
                          <a:ea typeface="+mn-ea"/>
                          <a:cs typeface="+mn-cs"/>
                        </a:rPr>
                        <a:t>IoV</a:t>
                      </a:r>
                      <a:r>
                        <a:rPr lang="en-US" sz="2000" kern="1200" dirty="0" smtClean="0">
                          <a:solidFill>
                            <a:srgbClr val="0F4662"/>
                          </a:solidFill>
                          <a:latin typeface="Quicksand"/>
                          <a:ea typeface="+mn-ea"/>
                          <a:cs typeface="+mn-cs"/>
                        </a:rPr>
                        <a:t> ISAC</a:t>
                      </a:r>
                      <a:endParaRPr sz="2000" kern="1200" dirty="0">
                        <a:solidFill>
                          <a:srgbClr val="0F4662"/>
                        </a:solidFill>
                        <a:latin typeface="Quicksand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59080" marR="0" lvl="1" indent="0" algn="ctr" defTabSz="914400" rtl="0" eaLnBrk="1" fontAlgn="auto" latinLnBrk="0" hangingPunct="1">
                        <a:lnSpc>
                          <a:spcPts val="40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2000" kern="1200" dirty="0" smtClean="0">
                          <a:solidFill>
                            <a:srgbClr val="0F4662"/>
                          </a:solidFill>
                          <a:latin typeface="Quicksand"/>
                          <a:ea typeface="+mn-ea"/>
                          <a:cs typeface="+mn-cs"/>
                        </a:rPr>
                        <a:t>TD3PO </a:t>
                      </a:r>
                      <a:r>
                        <a:rPr lang="fr-FR" sz="2000" kern="1200" dirty="0">
                          <a:solidFill>
                            <a:srgbClr val="0F4662"/>
                          </a:solidFill>
                          <a:latin typeface="Quicksand"/>
                          <a:ea typeface="+mn-ea"/>
                          <a:cs typeface="+mn-cs"/>
                        </a:rPr>
                        <a:t>+ digital </a:t>
                      </a:r>
                      <a:r>
                        <a:rPr lang="fr-FR" sz="2000" kern="1200" dirty="0" err="1" smtClean="0">
                          <a:solidFill>
                            <a:srgbClr val="0F4662"/>
                          </a:solidFill>
                          <a:latin typeface="Quicksand"/>
                          <a:ea typeface="+mn-ea"/>
                          <a:cs typeface="+mn-cs"/>
                        </a:rPr>
                        <a:t>twin</a:t>
                      </a:r>
                      <a:endParaRPr lang="fr-FR" sz="2000" kern="1200" dirty="0">
                        <a:solidFill>
                          <a:srgbClr val="0F4662"/>
                        </a:solidFill>
                        <a:latin typeface="Quicksand"/>
                        <a:ea typeface="+mn-ea"/>
                        <a:cs typeface="+mn-cs"/>
                      </a:endParaRPr>
                    </a:p>
                  </a:txBody>
                  <a:tcPr marL="152400" marT="95250" marB="95250" anchor="ctr"/>
                </a:tc>
                <a:tc>
                  <a:txBody>
                    <a:bodyPr/>
                    <a:lstStyle/>
                    <a:p>
                      <a:pPr marL="259080" lvl="1" indent="0" algn="ctr" defTabSz="914400" rtl="0" eaLnBrk="1" latinLnBrk="0" hangingPunct="1">
                        <a:lnSpc>
                          <a:spcPts val="4079"/>
                        </a:lnSpc>
                        <a:buFont typeface="Arial"/>
                        <a:buNone/>
                      </a:pPr>
                      <a:r>
                        <a:rPr lang="en-US" sz="2000" kern="1200" dirty="0" smtClean="0">
                          <a:solidFill>
                            <a:srgbClr val="0F4662"/>
                          </a:solidFill>
                          <a:latin typeface="Quicksand"/>
                        </a:rPr>
                        <a:t>Digital twin-based </a:t>
                      </a:r>
                      <a:r>
                        <a:rPr lang="en-US" sz="2000" kern="1200" dirty="0" err="1" smtClean="0">
                          <a:solidFill>
                            <a:srgbClr val="0F4662"/>
                          </a:solidFill>
                          <a:latin typeface="Quicksand"/>
                        </a:rPr>
                        <a:t>IoV</a:t>
                      </a:r>
                      <a:r>
                        <a:rPr lang="en-US" sz="2000" kern="1200" dirty="0" smtClean="0">
                          <a:solidFill>
                            <a:srgbClr val="0F4662"/>
                          </a:solidFill>
                          <a:latin typeface="Quicksand"/>
                        </a:rPr>
                        <a:t> ISAC simulation</a:t>
                      </a:r>
                      <a:endParaRPr sz="2000" kern="1200" dirty="0">
                        <a:solidFill>
                          <a:srgbClr val="0F4662"/>
                        </a:solidFill>
                        <a:latin typeface="Quicksan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59080" lvl="1" indent="0" algn="l" defTabSz="914400" rtl="0" eaLnBrk="1" latinLnBrk="0" hangingPunct="1">
                        <a:lnSpc>
                          <a:spcPts val="4079"/>
                        </a:lnSpc>
                        <a:buFont typeface="Arial"/>
                        <a:buNone/>
                      </a:pPr>
                      <a:r>
                        <a:rPr lang="en-US" sz="2000" kern="1200" dirty="0" smtClean="0">
                          <a:solidFill>
                            <a:srgbClr val="0F4662"/>
                          </a:solidFill>
                          <a:latin typeface="Quicksand"/>
                        </a:rPr>
                        <a:t>Dynamic </a:t>
                      </a:r>
                    </a:p>
                    <a:p>
                      <a:pPr marL="259080" lvl="1" indent="0" algn="l" defTabSz="914400" rtl="0" eaLnBrk="1" latinLnBrk="0" hangingPunct="1">
                        <a:lnSpc>
                          <a:spcPts val="4079"/>
                        </a:lnSpc>
                        <a:buFont typeface="Arial"/>
                        <a:buNone/>
                      </a:pPr>
                      <a:r>
                        <a:rPr lang="en-US" sz="2000" kern="1200" dirty="0" smtClean="0">
                          <a:solidFill>
                            <a:srgbClr val="0F4662"/>
                          </a:solidFill>
                          <a:latin typeface="Quicksand"/>
                        </a:rPr>
                        <a:t>environment </a:t>
                      </a:r>
                    </a:p>
                    <a:p>
                      <a:pPr marL="259080" lvl="1" indent="0" algn="l" defTabSz="914400" rtl="0" eaLnBrk="1" latinLnBrk="0" hangingPunct="1">
                        <a:lnSpc>
                          <a:spcPts val="4079"/>
                        </a:lnSpc>
                        <a:buFont typeface="Arial"/>
                        <a:buNone/>
                      </a:pPr>
                      <a:r>
                        <a:rPr lang="en-US" sz="2000" kern="1200" dirty="0" smtClean="0">
                          <a:solidFill>
                            <a:srgbClr val="0F4662"/>
                          </a:solidFill>
                          <a:latin typeface="Quicksand"/>
                        </a:rPr>
                        <a:t>adaptation </a:t>
                      </a:r>
                      <a:endParaRPr sz="2000" kern="1200" dirty="0">
                        <a:solidFill>
                          <a:srgbClr val="0F4662"/>
                        </a:solidFill>
                        <a:latin typeface="Quicksan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Wingdings" pitchFamily="2" charset="2"/>
                        <a:buChar char="ü"/>
                      </a:pPr>
                      <a:r>
                        <a:rPr lang="en-US" sz="1800" b="0" kern="1200" dirty="0" smtClean="0">
                          <a:solidFill>
                            <a:srgbClr val="0F4662"/>
                          </a:solidFill>
                          <a:latin typeface="Quicksand"/>
                          <a:ea typeface="+mn-ea"/>
                          <a:cs typeface="+mn-cs"/>
                        </a:rPr>
                        <a:t>No counterfactual reasoning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itchFamily="2" charset="2"/>
                        <a:buChar char="ü"/>
                      </a:pPr>
                      <a:r>
                        <a:rPr lang="en-US" sz="1800" b="0" kern="1200" dirty="0" smtClean="0">
                          <a:solidFill>
                            <a:srgbClr val="0F4662"/>
                          </a:solidFill>
                          <a:latin typeface="Quicksand"/>
                          <a:ea typeface="+mn-ea"/>
                          <a:cs typeface="+mn-cs"/>
                        </a:rPr>
                        <a:t>Learns only from factual correlations</a:t>
                      </a:r>
                    </a:p>
                    <a:p>
                      <a:pPr marL="259080" marR="0" lvl="1" indent="0" algn="l" defTabSz="914400" rtl="0" eaLnBrk="1" fontAlgn="auto" latinLnBrk="0" hangingPunct="1">
                        <a:lnSpc>
                          <a:spcPts val="40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2000" kern="1200" dirty="0">
                        <a:solidFill>
                          <a:srgbClr val="0F4662"/>
                        </a:solidFill>
                        <a:latin typeface="Quicksand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50836">
                <a:tc>
                  <a:txBody>
                    <a:bodyPr/>
                    <a:lstStyle/>
                    <a:p>
                      <a:pPr marL="259080" marR="0" lvl="1" indent="0" algn="ctr" defTabSz="914400" rtl="0" eaLnBrk="1" fontAlgn="auto" latinLnBrk="0" hangingPunct="1">
                        <a:lnSpc>
                          <a:spcPts val="40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nb-NO" sz="2000" kern="1200" dirty="0" smtClean="0">
                          <a:solidFill>
                            <a:srgbClr val="0F4662"/>
                          </a:solidFill>
                          <a:latin typeface="Quicksand"/>
                        </a:rPr>
                        <a:t>Khan, S. &amp; Mylonas, A. (2026)  [6]</a:t>
                      </a:r>
                      <a:endParaRPr lang="nb-NO" sz="2000" kern="1200" dirty="0">
                        <a:solidFill>
                          <a:srgbClr val="0F4662"/>
                        </a:solidFill>
                        <a:latin typeface="Quicksan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59080" marR="0" lvl="1" indent="0" algn="ctr" defTabSz="914400" rtl="0" eaLnBrk="1" fontAlgn="auto" latinLnBrk="0" hangingPunct="1">
                        <a:lnSpc>
                          <a:spcPts val="40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kern="1200" dirty="0" smtClean="0">
                          <a:solidFill>
                            <a:srgbClr val="0F4662"/>
                          </a:solidFill>
                          <a:latin typeface="Quicksand"/>
                          <a:ea typeface="+mn-ea"/>
                          <a:cs typeface="+mn-cs"/>
                        </a:rPr>
                        <a:t>CE-DRL with causal inference for 6G orchestration</a:t>
                      </a:r>
                      <a:endParaRPr lang="en-US" sz="2000" kern="1200" dirty="0">
                        <a:solidFill>
                          <a:srgbClr val="0F4662"/>
                        </a:solidFill>
                        <a:latin typeface="Quicksand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59080" marR="0" lvl="1" indent="0" algn="ctr" defTabSz="914400" rtl="0" eaLnBrk="1" fontAlgn="auto" latinLnBrk="0" hangingPunct="1">
                        <a:lnSpc>
                          <a:spcPts val="40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kern="1200" dirty="0" smtClean="0">
                          <a:solidFill>
                            <a:srgbClr val="0F4662"/>
                          </a:solidFill>
                          <a:latin typeface="Quicksand"/>
                          <a:ea typeface="+mn-ea"/>
                          <a:cs typeface="+mn-cs"/>
                        </a:rPr>
                        <a:t>Causal inference + DRL + attention mechanisms</a:t>
                      </a:r>
                      <a:endParaRPr lang="en-US" sz="2000" kern="1200" dirty="0">
                        <a:solidFill>
                          <a:srgbClr val="0F4662"/>
                        </a:solidFill>
                        <a:latin typeface="Quicksand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59080" marR="0" lvl="1" indent="0" algn="ctr" defTabSz="914400" rtl="0" eaLnBrk="1" fontAlgn="auto" latinLnBrk="0" hangingPunct="1">
                        <a:lnSpc>
                          <a:spcPts val="40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kern="1200" dirty="0" smtClean="0">
                          <a:solidFill>
                            <a:srgbClr val="0F4662"/>
                          </a:solidFill>
                          <a:latin typeface="Quicksand"/>
                        </a:rPr>
                        <a:t>Simulated 6G network environment</a:t>
                      </a:r>
                      <a:endParaRPr lang="en-US" sz="2000" kern="1200" dirty="0">
                        <a:solidFill>
                          <a:srgbClr val="0F4662"/>
                        </a:solidFill>
                        <a:latin typeface="Quicksan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59080" marR="0" lvl="1" indent="0" algn="l" defTabSz="914400" rtl="0" eaLnBrk="1" fontAlgn="auto" latinLnBrk="0" hangingPunct="1">
                        <a:lnSpc>
                          <a:spcPts val="40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kern="1200" dirty="0" smtClean="0">
                          <a:solidFill>
                            <a:srgbClr val="0F4662"/>
                          </a:solidFill>
                          <a:latin typeface="Quicksand"/>
                          <a:ea typeface="+mn-ea"/>
                          <a:cs typeface="+mn-cs"/>
                        </a:rPr>
                        <a:t>35% latency, 28% energy reduction; counterfactual reasoning</a:t>
                      </a:r>
                      <a:endParaRPr lang="en-US" sz="2000" kern="1200" dirty="0">
                        <a:solidFill>
                          <a:srgbClr val="0F4662"/>
                        </a:solidFill>
                        <a:latin typeface="Quicksand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59080" marR="0" lvl="1" indent="0" algn="l" defTabSz="914400" rtl="0" eaLnBrk="1" fontAlgn="auto" latinLnBrk="0" hangingPunct="1">
                        <a:lnSpc>
                          <a:spcPts val="40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2000" kern="1200" dirty="0" smtClean="0">
                          <a:solidFill>
                            <a:srgbClr val="0F4662"/>
                          </a:solidFill>
                          <a:latin typeface="Quicksand"/>
                        </a:rPr>
                        <a:t>Not ISAC-VEC specific</a:t>
                      </a:r>
                      <a:endParaRPr lang="en-US" sz="2000" kern="1200" dirty="0">
                        <a:solidFill>
                          <a:srgbClr val="0F4662"/>
                        </a:solidFill>
                        <a:latin typeface="Quicksand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92C28797-E6B3-626B-5731-28A50230B70E}"/>
              </a:ext>
            </a:extLst>
          </p:cNvPr>
          <p:cNvSpPr txBox="1">
            <a:spLocks/>
          </p:cNvSpPr>
          <p:nvPr/>
        </p:nvSpPr>
        <p:spPr>
          <a:xfrm>
            <a:off x="17448001" y="9791700"/>
            <a:ext cx="838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 smtClean="0">
                <a:latin typeface="Quicksand" panose="020B0604020202020204" charset="0"/>
              </a:rPr>
              <a:t>7</a:t>
            </a:r>
            <a:endParaRPr lang="en-US" sz="2400" b="1" dirty="0">
              <a:latin typeface="Quicksan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41266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10000" y="3771900"/>
            <a:ext cx="10137854" cy="3877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2400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The main challenge is </a:t>
            </a:r>
            <a:r>
              <a:rPr lang="en-US" sz="2400" b="1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optimal resource allocation in ISAC-aided VEC networks under high mobility and dynamic interference. </a:t>
            </a:r>
            <a:r>
              <a:rPr lang="en-US" sz="2400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Existing DRL methods like D3QN-TD3 rely solely on factual correlations and ignore hidden confounders (sudden congestion, channel fading), preventing causal-aware </a:t>
            </a:r>
            <a:r>
              <a:rPr lang="en-US" sz="2400" dirty="0" smtClean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decision-making</a:t>
            </a:r>
            <a:r>
              <a:rPr lang="en-US" sz="2400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. This leads to high policy variance, poor sample efficiency, and unstable performance in dynamic V2X environments.</a:t>
            </a:r>
            <a:endParaRPr lang="en-US" sz="2400" dirty="0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5897880" y="3238500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5830743" y="8039100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8304001" y="2607600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599709"/>
            <a:ext cx="8048163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Problem Statement</a:t>
            </a:r>
          </a:p>
        </p:txBody>
      </p:sp>
      <p:sp>
        <p:nvSpPr>
          <p:cNvPr id="7" name="Freeform 7"/>
          <p:cNvSpPr/>
          <p:nvPr/>
        </p:nvSpPr>
        <p:spPr>
          <a:xfrm>
            <a:off x="8382000" y="8343900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xmlns="" id="{DE4FD5B4-1B31-8599-B7F5-0D812414502E}"/>
              </a:ext>
            </a:extLst>
          </p:cNvPr>
          <p:cNvSpPr txBox="1">
            <a:spLocks/>
          </p:cNvSpPr>
          <p:nvPr/>
        </p:nvSpPr>
        <p:spPr>
          <a:xfrm>
            <a:off x="17448001" y="9791700"/>
            <a:ext cx="838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 smtClean="0">
                <a:latin typeface="Quicksand" panose="020B0604020202020204" charset="0"/>
              </a:rPr>
              <a:t>8</a:t>
            </a:r>
            <a:endParaRPr lang="en-US" sz="2400" b="1" dirty="0">
              <a:latin typeface="Quicksand" panose="020B0604020202020204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01199" y="0"/>
            <a:ext cx="8686801" cy="10287000"/>
            <a:chOff x="0" y="0"/>
            <a:chExt cx="1218726" cy="2709333"/>
          </a:xfrm>
          <a:noFill/>
        </p:grpSpPr>
        <p:sp>
          <p:nvSpPr>
            <p:cNvPr id="3" name="Freeform 3"/>
            <p:cNvSpPr/>
            <p:nvPr/>
          </p:nvSpPr>
          <p:spPr>
            <a:xfrm>
              <a:off x="0" y="0"/>
              <a:ext cx="1218726" cy="2709333"/>
            </a:xfrm>
            <a:custGeom>
              <a:avLst/>
              <a:gdLst/>
              <a:ahLst/>
              <a:cxnLst/>
              <a:rect l="l" t="t" r="r" b="b"/>
              <a:pathLst>
                <a:path w="1218726" h="2709333">
                  <a:moveTo>
                    <a:pt x="0" y="0"/>
                  </a:moveTo>
                  <a:lnTo>
                    <a:pt x="1218726" y="0"/>
                  </a:lnTo>
                  <a:lnTo>
                    <a:pt x="1218726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1218726" cy="283315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599709"/>
            <a:ext cx="7073372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Proposed Methodology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8FC8E1CC-9567-8BB0-E1F0-8CF6D968A285}"/>
              </a:ext>
            </a:extLst>
          </p:cNvPr>
          <p:cNvSpPr txBox="1">
            <a:spLocks/>
          </p:cNvSpPr>
          <p:nvPr/>
        </p:nvSpPr>
        <p:spPr>
          <a:xfrm>
            <a:off x="17448001" y="9791700"/>
            <a:ext cx="838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 smtClean="0">
                <a:latin typeface="Quicksand" panose="020B0604020202020204" charset="0"/>
              </a:rPr>
              <a:t>9</a:t>
            </a:r>
            <a:endParaRPr lang="en-US" sz="2400" b="1" dirty="0">
              <a:latin typeface="Quicksand" panose="020B060402020202020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11"/>
          <a:stretch/>
        </p:blipFill>
        <p:spPr>
          <a:xfrm>
            <a:off x="2636520" y="2007767"/>
            <a:ext cx="12984480" cy="7478116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7E95DC96-7157-4902-BC42-8B8F3281F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xmlns="" id="{AEA582F2-5CD3-F2B3-8E01-7DC3AFB98714}"/>
              </a:ext>
            </a:extLst>
          </p:cNvPr>
          <p:cNvGrpSpPr/>
          <p:nvPr/>
        </p:nvGrpSpPr>
        <p:grpSpPr>
          <a:xfrm>
            <a:off x="18059400" y="4381500"/>
            <a:ext cx="228600" cy="5905500"/>
            <a:chOff x="0" y="0"/>
            <a:chExt cx="1218726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xmlns="" id="{935C29CB-A5F8-81FC-D05A-01F5CE5F8804}"/>
                </a:ext>
              </a:extLst>
            </p:cNvPr>
            <p:cNvSpPr/>
            <p:nvPr/>
          </p:nvSpPr>
          <p:spPr>
            <a:xfrm>
              <a:off x="0" y="0"/>
              <a:ext cx="1218726" cy="2709333"/>
            </a:xfrm>
            <a:custGeom>
              <a:avLst/>
              <a:gdLst/>
              <a:ahLst/>
              <a:cxnLst/>
              <a:rect l="l" t="t" r="r" b="b"/>
              <a:pathLst>
                <a:path w="1218726" h="2709333">
                  <a:moveTo>
                    <a:pt x="0" y="0"/>
                  </a:moveTo>
                  <a:lnTo>
                    <a:pt x="1218726" y="0"/>
                  </a:lnTo>
                  <a:lnTo>
                    <a:pt x="12187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xmlns="" id="{D123BFA0-F32A-90E5-A93E-84C4E0779CC6}"/>
                </a:ext>
              </a:extLst>
            </p:cNvPr>
            <p:cNvSpPr txBox="1"/>
            <p:nvPr/>
          </p:nvSpPr>
          <p:spPr>
            <a:xfrm>
              <a:off x="0" y="-123825"/>
              <a:ext cx="1218726" cy="2833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xmlns="" id="{5EEE9EFE-4E4B-E09A-5120-A6C546E64E9B}"/>
              </a:ext>
            </a:extLst>
          </p:cNvPr>
          <p:cNvSpPr txBox="1"/>
          <p:nvPr/>
        </p:nvSpPr>
        <p:spPr>
          <a:xfrm>
            <a:off x="1524000" y="495300"/>
            <a:ext cx="7073372" cy="1099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 dirty="0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Evaluation </a:t>
            </a:r>
            <a:r>
              <a:rPr lang="en-US" sz="6399" b="1" i="1" dirty="0" smtClean="0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Metrics </a:t>
            </a:r>
            <a:endParaRPr lang="en-US" sz="6399" b="1" i="1" dirty="0">
              <a:solidFill>
                <a:srgbClr val="0F4662"/>
              </a:solidFill>
              <a:latin typeface="Cormorant Garamond Bold Italics"/>
              <a:ea typeface="Cormorant Garamond Bold Italics"/>
              <a:cs typeface="Cormorant Garamond Bold Italics"/>
              <a:sym typeface="Cormorant Garamond Bold Italics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xmlns="" id="{065ABF47-6252-5A8F-AA6D-91ACC62714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746512"/>
              </p:ext>
            </p:extLst>
          </p:nvPr>
        </p:nvGraphicFramePr>
        <p:xfrm>
          <a:off x="1523999" y="2168499"/>
          <a:ext cx="14249401" cy="6175401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xmlns="" val="2325312788"/>
                    </a:ext>
                  </a:extLst>
                </a:gridCol>
                <a:gridCol w="5833111">
                  <a:extLst>
                    <a:ext uri="{9D8B030D-6E8A-4147-A177-3AD203B41FA5}">
                      <a16:colId xmlns:a16="http://schemas.microsoft.com/office/drawing/2014/main" xmlns="" val="3330908535"/>
                    </a:ext>
                  </a:extLst>
                </a:gridCol>
                <a:gridCol w="4987290">
                  <a:extLst>
                    <a:ext uri="{9D8B030D-6E8A-4147-A177-3AD203B41FA5}">
                      <a16:colId xmlns:a16="http://schemas.microsoft.com/office/drawing/2014/main" xmlns="" val="1760973265"/>
                    </a:ext>
                  </a:extLst>
                </a:gridCol>
              </a:tblGrid>
              <a:tr h="1529511">
                <a:tc>
                  <a:txBody>
                    <a:bodyPr/>
                    <a:lstStyle/>
                    <a:p>
                      <a:pPr algn="ctr"/>
                      <a:r>
                        <a:rPr lang="en-US" sz="4800" b="1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Quicksand" panose="020B0604020202020204" charset="0"/>
                          <a:ea typeface="+mn-ea"/>
                          <a:cs typeface="+mn-cs"/>
                        </a:rPr>
                        <a:t>Metric</a:t>
                      </a:r>
                      <a:endParaRPr lang="en-US" sz="48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Quicksand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Quicksand" panose="020B0604020202020204" charset="0"/>
                        </a:rPr>
                        <a:t>Description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Quicksand" panose="020B0604020202020204" charset="0"/>
                        </a:rPr>
                        <a:t>Purpose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19347324"/>
                  </a:ext>
                </a:extLst>
              </a:tr>
              <a:tr h="15486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b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Quicksand" panose="020B0604020202020204" charset="0"/>
                        </a:rPr>
                        <a:t>Task Completion Delay (</a:t>
                      </a:r>
                      <a:r>
                        <a:rPr lang="en-US" sz="2400" b="1" dirty="0" err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Quicksand" panose="020B0604020202020204" charset="0"/>
                        </a:rPr>
                        <a:t>ms</a:t>
                      </a:r>
                      <a:r>
                        <a:rPr lang="en-US" sz="2400" b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Quicksand" panose="020B0604020202020204" charset="0"/>
                        </a:rPr>
                        <a:t>)</a:t>
                      </a:r>
                      <a:endParaRPr lang="en-US" sz="2400" b="1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Quicksand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Quicksand" panose="020B0604020202020204" charset="0"/>
                        </a:rPr>
                        <a:t>Average time from task arrival to completion</a:t>
                      </a:r>
                      <a:endParaRPr lang="en-US" sz="24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Quicksand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Quicksand" panose="020B0604020202020204" charset="0"/>
                          <a:ea typeface="+mn-ea"/>
                          <a:cs typeface="+mn-cs"/>
                        </a:rPr>
                        <a:t>Lower is better</a:t>
                      </a:r>
                      <a:endParaRPr lang="en-US" sz="2400" kern="12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Quicksand" panose="020B060402020202020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2793795"/>
                  </a:ext>
                </a:extLst>
              </a:tr>
              <a:tr h="154863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Quicksand" panose="020B0604020202020204" charset="0"/>
                          <a:ea typeface="+mn-ea"/>
                          <a:cs typeface="+mn-cs"/>
                        </a:rPr>
                        <a:t>System Energy Consumption (J)</a:t>
                      </a:r>
                      <a:endParaRPr lang="en-US" sz="2400" b="1" kern="12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Quicksand" panose="020B060402020202020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Quicksand" panose="020B0604020202020204" charset="0"/>
                        </a:rPr>
                        <a:t>Total energy consumed by vehicles and RSUs</a:t>
                      </a:r>
                      <a:endParaRPr lang="en-US" sz="24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Quicksand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Quicksand" panose="020B0604020202020204" charset="0"/>
                          <a:ea typeface="+mn-ea"/>
                          <a:cs typeface="+mn-cs"/>
                        </a:rPr>
                        <a:t>Lower is better</a:t>
                      </a:r>
                      <a:endParaRPr lang="en-US" sz="2400" kern="12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Quicksand" panose="020B060402020202020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73165183"/>
                  </a:ext>
                </a:extLst>
              </a:tr>
              <a:tr h="15486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b="1" kern="1200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Quicksand" panose="020B0604020202020204" charset="0"/>
                          <a:ea typeface="+mn-ea"/>
                          <a:cs typeface="+mn-cs"/>
                        </a:rPr>
                        <a:t>Sample Efficiency (episodes)</a:t>
                      </a:r>
                      <a:endParaRPr lang="en-US" sz="2400" b="1" kern="12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Quicksand" panose="020B060402020202020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Quicksand" panose="020B0604020202020204" charset="0"/>
                        </a:rPr>
                        <a:t>Episodes to reach 90% optimal performance</a:t>
                      </a:r>
                      <a:endParaRPr lang="en-US" sz="24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Quicksand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Quicksand" panose="020B0604020202020204" charset="0"/>
                          <a:ea typeface="+mn-ea"/>
                          <a:cs typeface="+mn-cs"/>
                        </a:rPr>
                        <a:t>Lower is better</a:t>
                      </a:r>
                      <a:endParaRPr lang="en-US" sz="2400" kern="12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Quicksand" panose="020B060402020202020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31710607"/>
                  </a:ext>
                </a:extLst>
              </a:tr>
            </a:tbl>
          </a:graphicData>
        </a:graphic>
      </p:graphicFrame>
      <p:grpSp>
        <p:nvGrpSpPr>
          <p:cNvPr id="19" name="Group 2">
            <a:extLst>
              <a:ext uri="{FF2B5EF4-FFF2-40B4-BE49-F238E27FC236}">
                <a16:creationId xmlns:a16="http://schemas.microsoft.com/office/drawing/2014/main" xmlns="" id="{94F432DE-2535-712A-573F-42745F6547FE}"/>
              </a:ext>
            </a:extLst>
          </p:cNvPr>
          <p:cNvGrpSpPr/>
          <p:nvPr/>
        </p:nvGrpSpPr>
        <p:grpSpPr>
          <a:xfrm>
            <a:off x="17297400" y="8115299"/>
            <a:ext cx="228600" cy="2155371"/>
            <a:chOff x="0" y="0"/>
            <a:chExt cx="1218726" cy="2709333"/>
          </a:xfrm>
        </p:grpSpPr>
        <p:sp>
          <p:nvSpPr>
            <p:cNvPr id="20" name="Freeform 3">
              <a:extLst>
                <a:ext uri="{FF2B5EF4-FFF2-40B4-BE49-F238E27FC236}">
                  <a16:creationId xmlns:a16="http://schemas.microsoft.com/office/drawing/2014/main" xmlns="" id="{79C8B0EE-AE63-9F16-6960-5A7B73F41402}"/>
                </a:ext>
              </a:extLst>
            </p:cNvPr>
            <p:cNvSpPr/>
            <p:nvPr/>
          </p:nvSpPr>
          <p:spPr>
            <a:xfrm>
              <a:off x="0" y="0"/>
              <a:ext cx="1218726" cy="2709333"/>
            </a:xfrm>
            <a:custGeom>
              <a:avLst/>
              <a:gdLst/>
              <a:ahLst/>
              <a:cxnLst/>
              <a:rect l="l" t="t" r="r" b="b"/>
              <a:pathLst>
                <a:path w="1218726" h="2709333">
                  <a:moveTo>
                    <a:pt x="0" y="0"/>
                  </a:moveTo>
                  <a:lnTo>
                    <a:pt x="1218726" y="0"/>
                  </a:lnTo>
                  <a:lnTo>
                    <a:pt x="12187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id="21" name="TextBox 4">
              <a:extLst>
                <a:ext uri="{FF2B5EF4-FFF2-40B4-BE49-F238E27FC236}">
                  <a16:creationId xmlns:a16="http://schemas.microsoft.com/office/drawing/2014/main" xmlns="" id="{75EDC8CA-7F8F-D354-D39A-EDDB25D85C30}"/>
                </a:ext>
              </a:extLst>
            </p:cNvPr>
            <p:cNvSpPr txBox="1"/>
            <p:nvPr/>
          </p:nvSpPr>
          <p:spPr>
            <a:xfrm>
              <a:off x="0" y="-123825"/>
              <a:ext cx="1218726" cy="2833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grpSp>
        <p:nvGrpSpPr>
          <p:cNvPr id="22" name="Group 2">
            <a:extLst>
              <a:ext uri="{FF2B5EF4-FFF2-40B4-BE49-F238E27FC236}">
                <a16:creationId xmlns:a16="http://schemas.microsoft.com/office/drawing/2014/main" xmlns="" id="{3BDF3D09-E8B4-75E4-82EC-7B11E19F0DA4}"/>
              </a:ext>
            </a:extLst>
          </p:cNvPr>
          <p:cNvGrpSpPr/>
          <p:nvPr/>
        </p:nvGrpSpPr>
        <p:grpSpPr>
          <a:xfrm>
            <a:off x="17678400" y="6362700"/>
            <a:ext cx="228600" cy="3924300"/>
            <a:chOff x="0" y="0"/>
            <a:chExt cx="1218726" cy="2709333"/>
          </a:xfrm>
        </p:grpSpPr>
        <p:sp>
          <p:nvSpPr>
            <p:cNvPr id="23" name="Freeform 3">
              <a:extLst>
                <a:ext uri="{FF2B5EF4-FFF2-40B4-BE49-F238E27FC236}">
                  <a16:creationId xmlns:a16="http://schemas.microsoft.com/office/drawing/2014/main" xmlns="" id="{E91CC005-305C-1325-9D0F-6CBC570B86C4}"/>
                </a:ext>
              </a:extLst>
            </p:cNvPr>
            <p:cNvSpPr/>
            <p:nvPr/>
          </p:nvSpPr>
          <p:spPr>
            <a:xfrm>
              <a:off x="0" y="0"/>
              <a:ext cx="1218726" cy="2709333"/>
            </a:xfrm>
            <a:custGeom>
              <a:avLst/>
              <a:gdLst/>
              <a:ahLst/>
              <a:cxnLst/>
              <a:rect l="l" t="t" r="r" b="b"/>
              <a:pathLst>
                <a:path w="1218726" h="2709333">
                  <a:moveTo>
                    <a:pt x="0" y="0"/>
                  </a:moveTo>
                  <a:lnTo>
                    <a:pt x="1218726" y="0"/>
                  </a:lnTo>
                  <a:lnTo>
                    <a:pt x="12187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id="24" name="TextBox 4">
              <a:extLst>
                <a:ext uri="{FF2B5EF4-FFF2-40B4-BE49-F238E27FC236}">
                  <a16:creationId xmlns:a16="http://schemas.microsoft.com/office/drawing/2014/main" xmlns="" id="{B9BA9DE3-0C16-77E5-BC99-11E57433A734}"/>
                </a:ext>
              </a:extLst>
            </p:cNvPr>
            <p:cNvSpPr txBox="1"/>
            <p:nvPr/>
          </p:nvSpPr>
          <p:spPr>
            <a:xfrm>
              <a:off x="0" y="-123825"/>
              <a:ext cx="1218726" cy="2833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grpSp>
        <p:nvGrpSpPr>
          <p:cNvPr id="25" name="Group 2">
            <a:extLst>
              <a:ext uri="{FF2B5EF4-FFF2-40B4-BE49-F238E27FC236}">
                <a16:creationId xmlns:a16="http://schemas.microsoft.com/office/drawing/2014/main" xmlns="" id="{74012106-043B-98C7-4B2A-DEEE07A55A43}"/>
              </a:ext>
            </a:extLst>
          </p:cNvPr>
          <p:cNvGrpSpPr/>
          <p:nvPr/>
        </p:nvGrpSpPr>
        <p:grpSpPr>
          <a:xfrm>
            <a:off x="0" y="-3629"/>
            <a:ext cx="228600" cy="5680529"/>
            <a:chOff x="0" y="0"/>
            <a:chExt cx="1218726" cy="2709333"/>
          </a:xfrm>
        </p:grpSpPr>
        <p:sp>
          <p:nvSpPr>
            <p:cNvPr id="26" name="Freeform 3">
              <a:extLst>
                <a:ext uri="{FF2B5EF4-FFF2-40B4-BE49-F238E27FC236}">
                  <a16:creationId xmlns:a16="http://schemas.microsoft.com/office/drawing/2014/main" xmlns="" id="{9D17F561-6277-37EA-EC11-9D076F473F11}"/>
                </a:ext>
              </a:extLst>
            </p:cNvPr>
            <p:cNvSpPr/>
            <p:nvPr/>
          </p:nvSpPr>
          <p:spPr>
            <a:xfrm>
              <a:off x="0" y="0"/>
              <a:ext cx="1218726" cy="2709333"/>
            </a:xfrm>
            <a:custGeom>
              <a:avLst/>
              <a:gdLst/>
              <a:ahLst/>
              <a:cxnLst/>
              <a:rect l="l" t="t" r="r" b="b"/>
              <a:pathLst>
                <a:path w="1218726" h="2709333">
                  <a:moveTo>
                    <a:pt x="0" y="0"/>
                  </a:moveTo>
                  <a:lnTo>
                    <a:pt x="1218726" y="0"/>
                  </a:lnTo>
                  <a:lnTo>
                    <a:pt x="12187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id="27" name="TextBox 4">
              <a:extLst>
                <a:ext uri="{FF2B5EF4-FFF2-40B4-BE49-F238E27FC236}">
                  <a16:creationId xmlns:a16="http://schemas.microsoft.com/office/drawing/2014/main" xmlns="" id="{362BCC54-0327-7339-93DF-7B4D5C6AA0DD}"/>
                </a:ext>
              </a:extLst>
            </p:cNvPr>
            <p:cNvSpPr txBox="1"/>
            <p:nvPr/>
          </p:nvSpPr>
          <p:spPr>
            <a:xfrm>
              <a:off x="0" y="-123825"/>
              <a:ext cx="1218726" cy="2833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grpSp>
        <p:nvGrpSpPr>
          <p:cNvPr id="28" name="Group 2">
            <a:extLst>
              <a:ext uri="{FF2B5EF4-FFF2-40B4-BE49-F238E27FC236}">
                <a16:creationId xmlns:a16="http://schemas.microsoft.com/office/drawing/2014/main" xmlns="" id="{E4651E0D-5AB9-2E89-A2F8-BC24FECB87AA}"/>
              </a:ext>
            </a:extLst>
          </p:cNvPr>
          <p:cNvGrpSpPr/>
          <p:nvPr/>
        </p:nvGrpSpPr>
        <p:grpSpPr>
          <a:xfrm>
            <a:off x="381000" y="0"/>
            <a:ext cx="228600" cy="4000500"/>
            <a:chOff x="0" y="0"/>
            <a:chExt cx="1218726" cy="2709333"/>
          </a:xfrm>
        </p:grpSpPr>
        <p:sp>
          <p:nvSpPr>
            <p:cNvPr id="29" name="Freeform 3">
              <a:extLst>
                <a:ext uri="{FF2B5EF4-FFF2-40B4-BE49-F238E27FC236}">
                  <a16:creationId xmlns:a16="http://schemas.microsoft.com/office/drawing/2014/main" xmlns="" id="{C9F285E1-05C2-D916-C5A9-EBF3D9C74E12}"/>
                </a:ext>
              </a:extLst>
            </p:cNvPr>
            <p:cNvSpPr/>
            <p:nvPr/>
          </p:nvSpPr>
          <p:spPr>
            <a:xfrm>
              <a:off x="0" y="0"/>
              <a:ext cx="1218726" cy="2709333"/>
            </a:xfrm>
            <a:custGeom>
              <a:avLst/>
              <a:gdLst/>
              <a:ahLst/>
              <a:cxnLst/>
              <a:rect l="l" t="t" r="r" b="b"/>
              <a:pathLst>
                <a:path w="1218726" h="2709333">
                  <a:moveTo>
                    <a:pt x="0" y="0"/>
                  </a:moveTo>
                  <a:lnTo>
                    <a:pt x="1218726" y="0"/>
                  </a:lnTo>
                  <a:lnTo>
                    <a:pt x="12187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id="30" name="TextBox 4">
              <a:extLst>
                <a:ext uri="{FF2B5EF4-FFF2-40B4-BE49-F238E27FC236}">
                  <a16:creationId xmlns:a16="http://schemas.microsoft.com/office/drawing/2014/main" xmlns="" id="{6B1A4D45-3E6E-FF51-BD74-5BED83DE8E4E}"/>
                </a:ext>
              </a:extLst>
            </p:cNvPr>
            <p:cNvSpPr txBox="1"/>
            <p:nvPr/>
          </p:nvSpPr>
          <p:spPr>
            <a:xfrm>
              <a:off x="0" y="-123825"/>
              <a:ext cx="1218726" cy="2833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grpSp>
        <p:nvGrpSpPr>
          <p:cNvPr id="31" name="Group 2">
            <a:extLst>
              <a:ext uri="{FF2B5EF4-FFF2-40B4-BE49-F238E27FC236}">
                <a16:creationId xmlns:a16="http://schemas.microsoft.com/office/drawing/2014/main" xmlns="" id="{BF4DE6E4-FB66-8932-D362-C120C9BE1543}"/>
              </a:ext>
            </a:extLst>
          </p:cNvPr>
          <p:cNvGrpSpPr/>
          <p:nvPr/>
        </p:nvGrpSpPr>
        <p:grpSpPr>
          <a:xfrm>
            <a:off x="762000" y="0"/>
            <a:ext cx="17587357" cy="2743200"/>
            <a:chOff x="-92679163" y="-123825"/>
            <a:chExt cx="93897889" cy="2833158"/>
          </a:xfrm>
        </p:grpSpPr>
        <p:sp>
          <p:nvSpPr>
            <p:cNvPr id="32" name="Freeform 3">
              <a:extLst>
                <a:ext uri="{FF2B5EF4-FFF2-40B4-BE49-F238E27FC236}">
                  <a16:creationId xmlns:a16="http://schemas.microsoft.com/office/drawing/2014/main" xmlns="" id="{509D44AE-B1E0-753F-BF69-A86838BFA598}"/>
                </a:ext>
              </a:extLst>
            </p:cNvPr>
            <p:cNvSpPr/>
            <p:nvPr/>
          </p:nvSpPr>
          <p:spPr>
            <a:xfrm>
              <a:off x="-92679163" y="-123825"/>
              <a:ext cx="1218726" cy="2709333"/>
            </a:xfrm>
            <a:custGeom>
              <a:avLst/>
              <a:gdLst/>
              <a:ahLst/>
              <a:cxnLst/>
              <a:rect l="l" t="t" r="r" b="b"/>
              <a:pathLst>
                <a:path w="1218726" h="2709333">
                  <a:moveTo>
                    <a:pt x="0" y="0"/>
                  </a:moveTo>
                  <a:lnTo>
                    <a:pt x="1218726" y="0"/>
                  </a:lnTo>
                  <a:lnTo>
                    <a:pt x="12187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id="33" name="TextBox 4">
              <a:extLst>
                <a:ext uri="{FF2B5EF4-FFF2-40B4-BE49-F238E27FC236}">
                  <a16:creationId xmlns:a16="http://schemas.microsoft.com/office/drawing/2014/main" xmlns="" id="{BADC6B5C-18AF-A6AE-9BA3-19147EED24FC}"/>
                </a:ext>
              </a:extLst>
            </p:cNvPr>
            <p:cNvSpPr txBox="1"/>
            <p:nvPr/>
          </p:nvSpPr>
          <p:spPr>
            <a:xfrm>
              <a:off x="0" y="-123825"/>
              <a:ext cx="1218726" cy="2833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7A3307B6-A874-F1EA-39E7-362DCACC3EB3}"/>
              </a:ext>
            </a:extLst>
          </p:cNvPr>
          <p:cNvSpPr txBox="1">
            <a:spLocks/>
          </p:cNvSpPr>
          <p:nvPr/>
        </p:nvSpPr>
        <p:spPr>
          <a:xfrm>
            <a:off x="16510000" y="9791700"/>
            <a:ext cx="838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 smtClean="0">
                <a:latin typeface="Quicksand" panose="020B0604020202020204" charset="0"/>
              </a:rPr>
              <a:t>10</a:t>
            </a:r>
            <a:endParaRPr lang="en-US" sz="2400" b="1" dirty="0">
              <a:latin typeface="Quicksan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58321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D1E51618-3259-FD53-D78B-4DA501F30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xmlns="" id="{574EBDC5-7285-A53D-28E2-4630CA831450}"/>
              </a:ext>
            </a:extLst>
          </p:cNvPr>
          <p:cNvSpPr/>
          <p:nvPr/>
        </p:nvSpPr>
        <p:spPr>
          <a:xfrm>
            <a:off x="16600746" y="750295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xmlns="" id="{D9F6557D-9D4E-F9BF-244E-D8E705419D7E}"/>
              </a:ext>
            </a:extLst>
          </p:cNvPr>
          <p:cNvSpPr/>
          <p:nvPr/>
        </p:nvSpPr>
        <p:spPr>
          <a:xfrm>
            <a:off x="0" y="9520653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xmlns="" id="{34F81A1B-1855-AF49-4482-716F6E7FFD40}"/>
              </a:ext>
            </a:extLst>
          </p:cNvPr>
          <p:cNvSpPr txBox="1"/>
          <p:nvPr/>
        </p:nvSpPr>
        <p:spPr>
          <a:xfrm>
            <a:off x="1024384" y="599709"/>
            <a:ext cx="14072064" cy="1099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 dirty="0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References 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xmlns="" id="{DEC25445-9058-8028-5DE7-CF4D1DCB548E}"/>
              </a:ext>
            </a:extLst>
          </p:cNvPr>
          <p:cNvSpPr txBox="1"/>
          <p:nvPr/>
        </p:nvSpPr>
        <p:spPr>
          <a:xfrm>
            <a:off x="1024384" y="1908075"/>
            <a:ext cx="16501616" cy="6155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16280" lvl="1" indent="-457200" algn="just">
              <a:lnSpc>
                <a:spcPct val="2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0F4662"/>
                </a:solidFill>
                <a:latin typeface="Quicksand"/>
              </a:rPr>
              <a:t>C. Li, K. Long, M. Yang, L. Zhao, X. Deng, D. Li, and S. Wan, "D3QN-TD3 for ISAC-Aided Vehicular </a:t>
            </a:r>
            <a:r>
              <a:rPr lang="en-US" sz="2000" dirty="0" smtClean="0">
                <a:solidFill>
                  <a:srgbClr val="0F4662"/>
                </a:solidFill>
                <a:latin typeface="Quicksand"/>
              </a:rPr>
              <a:t>Edge </a:t>
            </a:r>
            <a:r>
              <a:rPr lang="en-US" sz="2000" dirty="0">
                <a:solidFill>
                  <a:srgbClr val="0F4662"/>
                </a:solidFill>
                <a:latin typeface="Quicksand"/>
              </a:rPr>
              <a:t>Computing," ACM Trans. Sensor </a:t>
            </a:r>
            <a:r>
              <a:rPr lang="en-US" sz="2000" dirty="0" err="1">
                <a:solidFill>
                  <a:srgbClr val="0F4662"/>
                </a:solidFill>
                <a:latin typeface="Quicksand"/>
              </a:rPr>
              <a:t>Netw</a:t>
            </a:r>
            <a:r>
              <a:rPr lang="en-US" sz="2000" dirty="0">
                <a:solidFill>
                  <a:srgbClr val="0F4662"/>
                </a:solidFill>
                <a:latin typeface="Quicksand"/>
              </a:rPr>
              <a:t>., vol. 21, no. 4, Article 38, pp. 1–31, Jul. 2025. </a:t>
            </a:r>
          </a:p>
          <a:p>
            <a:pPr marL="716280" lvl="1" indent="-457200" algn="just">
              <a:lnSpc>
                <a:spcPct val="250000"/>
              </a:lnSpc>
              <a:buFont typeface="+mj-lt"/>
              <a:buAutoNum type="arabicPeriod"/>
            </a:pPr>
            <a:r>
              <a:rPr lang="en-US" sz="2000" dirty="0" smtClean="0">
                <a:solidFill>
                  <a:srgbClr val="0F4662"/>
                </a:solidFill>
                <a:latin typeface="Quicksand"/>
              </a:rPr>
              <a:t>C</a:t>
            </a:r>
            <a:r>
              <a:rPr lang="en-US" sz="2000" dirty="0">
                <a:solidFill>
                  <a:srgbClr val="0F4662"/>
                </a:solidFill>
                <a:latin typeface="Quicksand"/>
              </a:rPr>
              <a:t>. Li, Y. Zhang, and L. Yu, "Improved TD3 for Latency-sensitive Tasks in ISAC-aided VEC," ACM </a:t>
            </a:r>
            <a:r>
              <a:rPr lang="en-US" sz="2000" dirty="0" smtClean="0">
                <a:solidFill>
                  <a:srgbClr val="0F4662"/>
                </a:solidFill>
                <a:latin typeface="Quicksand"/>
              </a:rPr>
              <a:t>Trans</a:t>
            </a:r>
            <a:r>
              <a:rPr lang="en-US" sz="2000" dirty="0">
                <a:solidFill>
                  <a:srgbClr val="0F4662"/>
                </a:solidFill>
                <a:latin typeface="Quicksand"/>
              </a:rPr>
              <a:t>. Sensor </a:t>
            </a:r>
            <a:r>
              <a:rPr lang="en-US" sz="2000" dirty="0" err="1">
                <a:solidFill>
                  <a:srgbClr val="0F4662"/>
                </a:solidFill>
                <a:latin typeface="Quicksand"/>
              </a:rPr>
              <a:t>Netw</a:t>
            </a:r>
            <a:r>
              <a:rPr lang="en-US" sz="2000" dirty="0">
                <a:solidFill>
                  <a:srgbClr val="0F4662"/>
                </a:solidFill>
                <a:latin typeface="Quicksand"/>
              </a:rPr>
              <a:t>., vol. 21, no. 6, pp. 52:1–52:27, 2025. </a:t>
            </a:r>
            <a:endParaRPr lang="en-US" sz="2000" dirty="0" smtClean="0">
              <a:solidFill>
                <a:srgbClr val="0F4662"/>
              </a:solidFill>
              <a:latin typeface="Quicksand"/>
            </a:endParaRPr>
          </a:p>
          <a:p>
            <a:pPr marL="716280" lvl="1" indent="-457200" algn="just">
              <a:lnSpc>
                <a:spcPct val="2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0F4662"/>
                </a:solidFill>
                <a:latin typeface="Quicksand"/>
              </a:rPr>
              <a:t>Y. An et al., "MATD3 for </a:t>
            </a:r>
            <a:r>
              <a:rPr lang="en-US" sz="2000" dirty="0" err="1">
                <a:solidFill>
                  <a:srgbClr val="0F4662"/>
                </a:solidFill>
                <a:latin typeface="Quicksand"/>
              </a:rPr>
              <a:t>Beamforming</a:t>
            </a:r>
            <a:r>
              <a:rPr lang="en-US" sz="2000" dirty="0">
                <a:solidFill>
                  <a:srgbClr val="0F4662"/>
                </a:solidFill>
                <a:latin typeface="Quicksand"/>
              </a:rPr>
              <a:t> and Resource Allocation in VEC-ISAC," in IEEE ICCC 2025, </a:t>
            </a:r>
            <a:r>
              <a:rPr lang="en-US" sz="2000" dirty="0" smtClean="0">
                <a:solidFill>
                  <a:srgbClr val="0F4662"/>
                </a:solidFill>
                <a:latin typeface="Quicksand"/>
              </a:rPr>
              <a:t>Aug</a:t>
            </a:r>
            <a:r>
              <a:rPr lang="en-US" sz="2000" dirty="0">
                <a:solidFill>
                  <a:srgbClr val="0F4662"/>
                </a:solidFill>
                <a:latin typeface="Quicksand"/>
              </a:rPr>
              <a:t>. 2025</a:t>
            </a:r>
            <a:r>
              <a:rPr lang="en-US" sz="2000" dirty="0" smtClean="0">
                <a:solidFill>
                  <a:srgbClr val="0F4662"/>
                </a:solidFill>
                <a:latin typeface="Quicksand"/>
              </a:rPr>
              <a:t>.</a:t>
            </a:r>
          </a:p>
          <a:p>
            <a:pPr marL="716280" lvl="1" indent="-457200" algn="just">
              <a:lnSpc>
                <a:spcPct val="2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0F4662"/>
                </a:solidFill>
                <a:latin typeface="Quicksand"/>
              </a:rPr>
              <a:t>Y. Zhang et al., "TD3-Based Orchestration for Multi-Edge VEC," IEEE Trans. Mobile </a:t>
            </a:r>
            <a:r>
              <a:rPr lang="en-US" sz="2000" dirty="0" err="1">
                <a:solidFill>
                  <a:srgbClr val="0F4662"/>
                </a:solidFill>
                <a:latin typeface="Quicksand"/>
              </a:rPr>
              <a:t>Comput</a:t>
            </a:r>
            <a:r>
              <a:rPr lang="en-US" sz="2000" dirty="0">
                <a:solidFill>
                  <a:srgbClr val="0F4662"/>
                </a:solidFill>
                <a:latin typeface="Quicksand"/>
              </a:rPr>
              <a:t>., vol. 24, </a:t>
            </a:r>
            <a:r>
              <a:rPr lang="en-US" sz="2000" dirty="0" smtClean="0">
                <a:solidFill>
                  <a:srgbClr val="0F4662"/>
                </a:solidFill>
                <a:latin typeface="Quicksand"/>
              </a:rPr>
              <a:t>no</a:t>
            </a:r>
            <a:r>
              <a:rPr lang="en-US" sz="2000" dirty="0">
                <a:solidFill>
                  <a:srgbClr val="0F4662"/>
                </a:solidFill>
                <a:latin typeface="Quicksand"/>
              </a:rPr>
              <a:t>. 5, pp. 3456–3470, May 2025</a:t>
            </a:r>
            <a:r>
              <a:rPr lang="en-US" sz="2000" dirty="0" smtClean="0">
                <a:solidFill>
                  <a:srgbClr val="0F4662"/>
                </a:solidFill>
                <a:latin typeface="Quicksand"/>
              </a:rPr>
              <a:t>.</a:t>
            </a:r>
          </a:p>
          <a:p>
            <a:pPr marL="716280" lvl="1" indent="-457200" algn="just">
              <a:lnSpc>
                <a:spcPct val="2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0F4662"/>
                </a:solidFill>
                <a:latin typeface="Quicksand"/>
              </a:rPr>
              <a:t> J. </a:t>
            </a:r>
            <a:r>
              <a:rPr lang="en-US" sz="2000" dirty="0" err="1">
                <a:solidFill>
                  <a:srgbClr val="0F4662"/>
                </a:solidFill>
                <a:latin typeface="Quicksand"/>
              </a:rPr>
              <a:t>Xue</a:t>
            </a:r>
            <a:r>
              <a:rPr lang="en-US" sz="2000" dirty="0">
                <a:solidFill>
                  <a:srgbClr val="0F4662"/>
                </a:solidFill>
                <a:latin typeface="Quicksand"/>
              </a:rPr>
              <a:t> et al., "TD3PO with Digital Twin for </a:t>
            </a:r>
            <a:r>
              <a:rPr lang="en-US" sz="2000" dirty="0" err="1">
                <a:solidFill>
                  <a:srgbClr val="0F4662"/>
                </a:solidFill>
                <a:latin typeface="Quicksand"/>
              </a:rPr>
              <a:t>IoV</a:t>
            </a:r>
            <a:r>
              <a:rPr lang="en-US" sz="2000" dirty="0">
                <a:solidFill>
                  <a:srgbClr val="0F4662"/>
                </a:solidFill>
                <a:latin typeface="Quicksand"/>
              </a:rPr>
              <a:t> ISAC," Ad Hoc Networks, vol. 179, 104009, Dec. 2025</a:t>
            </a:r>
            <a:r>
              <a:rPr lang="en-US" sz="2000" dirty="0" smtClean="0">
                <a:solidFill>
                  <a:srgbClr val="0F4662"/>
                </a:solidFill>
                <a:latin typeface="Quicksand"/>
              </a:rPr>
              <a:t>.</a:t>
            </a:r>
          </a:p>
          <a:p>
            <a:pPr marL="716280" lvl="1" indent="-457200" algn="just">
              <a:lnSpc>
                <a:spcPct val="2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0F4662"/>
                </a:solidFill>
                <a:latin typeface="Quicksand"/>
              </a:rPr>
              <a:t>S. Khan and A. </a:t>
            </a:r>
            <a:r>
              <a:rPr lang="en-US" sz="2000" dirty="0" err="1">
                <a:solidFill>
                  <a:srgbClr val="0F4662"/>
                </a:solidFill>
                <a:latin typeface="Quicksand"/>
              </a:rPr>
              <a:t>Mylonas</a:t>
            </a:r>
            <a:r>
              <a:rPr lang="en-US" sz="2000" dirty="0">
                <a:solidFill>
                  <a:srgbClr val="0F4662"/>
                </a:solidFill>
                <a:latin typeface="Quicksand"/>
              </a:rPr>
              <a:t>, "CE-DRL for Causal-Aware 6G Resource Orchestration," </a:t>
            </a:r>
            <a:r>
              <a:rPr lang="en-US" sz="2000" dirty="0" err="1">
                <a:solidFill>
                  <a:srgbClr val="0F4662"/>
                </a:solidFill>
                <a:latin typeface="Quicksand"/>
              </a:rPr>
              <a:t>Comput</a:t>
            </a:r>
            <a:r>
              <a:rPr lang="en-US" sz="2000" dirty="0">
                <a:solidFill>
                  <a:srgbClr val="0F4662"/>
                </a:solidFill>
                <a:latin typeface="Quicksand"/>
              </a:rPr>
              <a:t>. </a:t>
            </a:r>
            <a:r>
              <a:rPr lang="en-US" sz="2000" dirty="0" err="1">
                <a:solidFill>
                  <a:srgbClr val="0F4662"/>
                </a:solidFill>
                <a:latin typeface="Quicksand"/>
              </a:rPr>
              <a:t>Netw</a:t>
            </a:r>
            <a:r>
              <a:rPr lang="en-US" sz="2000" dirty="0">
                <a:solidFill>
                  <a:srgbClr val="0F4662"/>
                </a:solidFill>
                <a:latin typeface="Quicksand"/>
              </a:rPr>
              <a:t>., vol. 278, 112074, </a:t>
            </a:r>
            <a:r>
              <a:rPr lang="en-US" sz="2000" dirty="0">
                <a:solidFill>
                  <a:srgbClr val="0F4662"/>
                </a:solidFill>
                <a:latin typeface="Quicksand"/>
              </a:rPr>
              <a:t>2026. </a:t>
            </a:r>
            <a:endParaRPr lang="en-US" sz="2000" dirty="0">
              <a:solidFill>
                <a:srgbClr val="0F4662"/>
              </a:solidFill>
              <a:latin typeface="Quicksand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FCD84A27-CD3B-B6F5-78B5-2D3E7389914B}"/>
              </a:ext>
            </a:extLst>
          </p:cNvPr>
          <p:cNvSpPr txBox="1">
            <a:spLocks/>
          </p:cNvSpPr>
          <p:nvPr/>
        </p:nvSpPr>
        <p:spPr>
          <a:xfrm>
            <a:off x="17448001" y="9791700"/>
            <a:ext cx="838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 smtClean="0">
                <a:latin typeface="Quicksand" panose="020B0604020202020204" charset="0"/>
              </a:rPr>
              <a:t>11</a:t>
            </a:r>
            <a:endParaRPr lang="en-US" sz="2400" b="1" dirty="0">
              <a:latin typeface="Quicksan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5173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42710" y="3369664"/>
            <a:ext cx="11402580" cy="3185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009"/>
              </a:lnSpc>
              <a:spcBef>
                <a:spcPct val="0"/>
              </a:spcBef>
            </a:pPr>
            <a:r>
              <a:rPr lang="en-US" sz="18577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Thank you</a:t>
            </a:r>
          </a:p>
        </p:txBody>
      </p:sp>
      <p:sp>
        <p:nvSpPr>
          <p:cNvPr id="3" name="AutoShape 3"/>
          <p:cNvSpPr/>
          <p:nvPr/>
        </p:nvSpPr>
        <p:spPr>
          <a:xfrm>
            <a:off x="5897880" y="2215083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8304001" y="1116666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5897880" y="8159883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8304001" y="9008400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10310</TotalTime>
  <Words>844</Words>
  <Application>Microsoft Office PowerPoint</Application>
  <PresentationFormat>Custom</PresentationFormat>
  <Paragraphs>132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Quicksand</vt:lpstr>
      <vt:lpstr>Calibri</vt:lpstr>
      <vt:lpstr>Quicksand Bold</vt:lpstr>
      <vt:lpstr>Cormorant Garamond Bold Italics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MRL for Pilot Overhead Optimization</dc:title>
  <dc:creator>Hira Sadaf Naz</dc:creator>
  <cp:lastModifiedBy>No name</cp:lastModifiedBy>
  <cp:revision>193</cp:revision>
  <dcterms:created xsi:type="dcterms:W3CDTF">2006-08-16T00:00:00Z</dcterms:created>
  <dcterms:modified xsi:type="dcterms:W3CDTF">2026-06-07T20:06:03Z</dcterms:modified>
  <dc:identifier>DAGkPeYoS2M</dc:identifier>
</cp:coreProperties>
</file>